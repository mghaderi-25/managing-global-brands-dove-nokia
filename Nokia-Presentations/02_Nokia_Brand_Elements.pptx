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70" r:id="rId2"/>
    <p:sldId id="274" r:id="rId3"/>
    <p:sldId id="271" r:id="rId4"/>
    <p:sldId id="275" r:id="rId5"/>
    <p:sldId id="273" r:id="rId6"/>
    <p:sldId id="27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226630F-7B7E-4862-9D78-BF3181CF779E}" type="doc">
      <dgm:prSet loTypeId="urn:microsoft.com/office/officeart/2005/8/layout/vList2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3688A25-1879-47D4-977F-1149AD27F6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Nokia brand name originates from Finland.</a:t>
          </a:r>
          <a:endParaRPr lang="en-US" dirty="0"/>
        </a:p>
      </dgm:t>
    </dgm:pt>
    <dgm:pt modelId="{B36FEB39-4269-430B-92BB-0280B2518071}" type="parTrans" cxnId="{1684A7E9-42F6-4785-AB85-1D94C13FA8FA}">
      <dgm:prSet/>
      <dgm:spPr/>
      <dgm:t>
        <a:bodyPr/>
        <a:lstStyle/>
        <a:p>
          <a:endParaRPr lang="en-US"/>
        </a:p>
      </dgm:t>
    </dgm:pt>
    <dgm:pt modelId="{0EDA089E-00A5-4778-968B-F5C19B1DFDED}" type="sibTrans" cxnId="{1684A7E9-42F6-4785-AB85-1D94C13FA8F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1311A22-C1A9-4B14-A4E3-F7C5EBA8D3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Used consistently during the GSM mobile phone era.</a:t>
          </a:r>
          <a:endParaRPr lang="en-US" dirty="0"/>
        </a:p>
      </dgm:t>
    </dgm:pt>
    <dgm:pt modelId="{6C72923A-08CC-4466-8C64-DB7AA83A6F69}" type="parTrans" cxnId="{43C320CA-D848-4FFF-ADE6-3C0B6A69187C}">
      <dgm:prSet/>
      <dgm:spPr/>
      <dgm:t>
        <a:bodyPr/>
        <a:lstStyle/>
        <a:p>
          <a:endParaRPr lang="en-US"/>
        </a:p>
      </dgm:t>
    </dgm:pt>
    <dgm:pt modelId="{9ABFA754-87FA-46E3-9216-C9CFB4398B6E}" type="sibTrans" cxnId="{43C320CA-D848-4FFF-ADE6-3C0B6A69187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A4BBEEB-A55F-4DB3-9186-ABF9AE21CE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Brand name functions as the primary identifier of the product.</a:t>
          </a:r>
          <a:endParaRPr lang="en-US"/>
        </a:p>
      </dgm:t>
    </dgm:pt>
    <dgm:pt modelId="{35CE5B0B-2D4B-47D8-B9CD-4E3E555EFE83}" type="parTrans" cxnId="{649A1E08-87AA-43FC-AB47-58E3B3218192}">
      <dgm:prSet/>
      <dgm:spPr/>
      <dgm:t>
        <a:bodyPr/>
        <a:lstStyle/>
        <a:p>
          <a:endParaRPr lang="en-US"/>
        </a:p>
      </dgm:t>
    </dgm:pt>
    <dgm:pt modelId="{07C1B1A1-BFC2-4D70-AE8A-590E2DFCE402}" type="sibTrans" cxnId="{649A1E08-87AA-43FC-AB47-58E3B321819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3E23781-F017-4287-907B-7E4B78D1D0A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Supports global recognition of Nokia devices.</a:t>
          </a:r>
          <a:endParaRPr lang="en-US"/>
        </a:p>
      </dgm:t>
    </dgm:pt>
    <dgm:pt modelId="{2DA6E2A7-203C-4432-B6FF-E0D45B99A4C6}" type="parTrans" cxnId="{3946D3C7-BC1E-49C6-A038-423B39FFC192}">
      <dgm:prSet/>
      <dgm:spPr/>
      <dgm:t>
        <a:bodyPr/>
        <a:lstStyle/>
        <a:p>
          <a:endParaRPr lang="en-US"/>
        </a:p>
      </dgm:t>
    </dgm:pt>
    <dgm:pt modelId="{15DAC248-6105-4EE4-8912-78AF4B6D10FA}" type="sibTrans" cxnId="{3946D3C7-BC1E-49C6-A038-423B39FFC192}">
      <dgm:prSet/>
      <dgm:spPr/>
      <dgm:t>
        <a:bodyPr/>
        <a:lstStyle/>
        <a:p>
          <a:endParaRPr lang="en-US"/>
        </a:p>
      </dgm:t>
    </dgm:pt>
    <dgm:pt modelId="{D89037D8-D584-47FF-905B-1A607415AAA7}" type="pres">
      <dgm:prSet presAssocID="{7226630F-7B7E-4862-9D78-BF3181CF779E}" presName="linear" presStyleCnt="0">
        <dgm:presLayoutVars>
          <dgm:animLvl val="lvl"/>
          <dgm:resizeHandles val="exact"/>
        </dgm:presLayoutVars>
      </dgm:prSet>
      <dgm:spPr/>
    </dgm:pt>
    <dgm:pt modelId="{61A50CE6-0F24-4879-BF91-34A1E4D89C98}" type="pres">
      <dgm:prSet presAssocID="{E3688A25-1879-47D4-977F-1149AD27F65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F451CCE-B2A7-445E-83DF-61290F9BF166}" type="pres">
      <dgm:prSet presAssocID="{0EDA089E-00A5-4778-968B-F5C19B1DFDED}" presName="spacer" presStyleCnt="0"/>
      <dgm:spPr/>
    </dgm:pt>
    <dgm:pt modelId="{B12D9102-57FF-45C0-A6B4-DBF7B786AFEC}" type="pres">
      <dgm:prSet presAssocID="{61311A22-C1A9-4B14-A4E3-F7C5EBA8D33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F1D7F3D-2307-49B7-82E8-F03C3C188BA1}" type="pres">
      <dgm:prSet presAssocID="{9ABFA754-87FA-46E3-9216-C9CFB4398B6E}" presName="spacer" presStyleCnt="0"/>
      <dgm:spPr/>
    </dgm:pt>
    <dgm:pt modelId="{9DA4766B-71EF-4791-9BC1-1F88ADA31E23}" type="pres">
      <dgm:prSet presAssocID="{0A4BBEEB-A55F-4DB3-9186-ABF9AE21CE5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8E6B506-D201-450C-B5F0-FDBB6311E333}" type="pres">
      <dgm:prSet presAssocID="{07C1B1A1-BFC2-4D70-AE8A-590E2DFCE402}" presName="spacer" presStyleCnt="0"/>
      <dgm:spPr/>
    </dgm:pt>
    <dgm:pt modelId="{D2A55750-2F48-4D56-AFE1-995C5A88CB76}" type="pres">
      <dgm:prSet presAssocID="{D3E23781-F017-4287-907B-7E4B78D1D0A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49A1E08-87AA-43FC-AB47-58E3B3218192}" srcId="{7226630F-7B7E-4862-9D78-BF3181CF779E}" destId="{0A4BBEEB-A55F-4DB3-9186-ABF9AE21CE56}" srcOrd="2" destOrd="0" parTransId="{35CE5B0B-2D4B-47D8-B9CD-4E3E555EFE83}" sibTransId="{07C1B1A1-BFC2-4D70-AE8A-590E2DFCE402}"/>
    <dgm:cxn modelId="{B9B7E316-579F-4464-AF2D-4E21813FFEE9}" type="presOf" srcId="{61311A22-C1A9-4B14-A4E3-F7C5EBA8D331}" destId="{B12D9102-57FF-45C0-A6B4-DBF7B786AFEC}" srcOrd="0" destOrd="0" presId="urn:microsoft.com/office/officeart/2005/8/layout/vList2"/>
    <dgm:cxn modelId="{8C723322-3DDA-43D7-A72C-7B28DE331E8B}" type="presOf" srcId="{E3688A25-1879-47D4-977F-1149AD27F651}" destId="{61A50CE6-0F24-4879-BF91-34A1E4D89C98}" srcOrd="0" destOrd="0" presId="urn:microsoft.com/office/officeart/2005/8/layout/vList2"/>
    <dgm:cxn modelId="{4524A98E-F950-4FCA-8646-8D8C78B6CFD0}" type="presOf" srcId="{0A4BBEEB-A55F-4DB3-9186-ABF9AE21CE56}" destId="{9DA4766B-71EF-4791-9BC1-1F88ADA31E23}" srcOrd="0" destOrd="0" presId="urn:microsoft.com/office/officeart/2005/8/layout/vList2"/>
    <dgm:cxn modelId="{7D882796-210B-4770-AC80-FD4CA4D9D356}" type="presOf" srcId="{D3E23781-F017-4287-907B-7E4B78D1D0AA}" destId="{D2A55750-2F48-4D56-AFE1-995C5A88CB76}" srcOrd="0" destOrd="0" presId="urn:microsoft.com/office/officeart/2005/8/layout/vList2"/>
    <dgm:cxn modelId="{946E50A3-30FF-4588-9181-7A3D7C206102}" type="presOf" srcId="{7226630F-7B7E-4862-9D78-BF3181CF779E}" destId="{D89037D8-D584-47FF-905B-1A607415AAA7}" srcOrd="0" destOrd="0" presId="urn:microsoft.com/office/officeart/2005/8/layout/vList2"/>
    <dgm:cxn modelId="{3946D3C7-BC1E-49C6-A038-423B39FFC192}" srcId="{7226630F-7B7E-4862-9D78-BF3181CF779E}" destId="{D3E23781-F017-4287-907B-7E4B78D1D0AA}" srcOrd="3" destOrd="0" parTransId="{2DA6E2A7-203C-4432-B6FF-E0D45B99A4C6}" sibTransId="{15DAC248-6105-4EE4-8912-78AF4B6D10FA}"/>
    <dgm:cxn modelId="{43C320CA-D848-4FFF-ADE6-3C0B6A69187C}" srcId="{7226630F-7B7E-4862-9D78-BF3181CF779E}" destId="{61311A22-C1A9-4B14-A4E3-F7C5EBA8D331}" srcOrd="1" destOrd="0" parTransId="{6C72923A-08CC-4466-8C64-DB7AA83A6F69}" sibTransId="{9ABFA754-87FA-46E3-9216-C9CFB4398B6E}"/>
    <dgm:cxn modelId="{1684A7E9-42F6-4785-AB85-1D94C13FA8FA}" srcId="{7226630F-7B7E-4862-9D78-BF3181CF779E}" destId="{E3688A25-1879-47D4-977F-1149AD27F651}" srcOrd="0" destOrd="0" parTransId="{B36FEB39-4269-430B-92BB-0280B2518071}" sibTransId="{0EDA089E-00A5-4778-968B-F5C19B1DFDED}"/>
    <dgm:cxn modelId="{CCEC3EA8-CD2E-4F91-9798-556E940A1E8A}" type="presParOf" srcId="{D89037D8-D584-47FF-905B-1A607415AAA7}" destId="{61A50CE6-0F24-4879-BF91-34A1E4D89C98}" srcOrd="0" destOrd="0" presId="urn:microsoft.com/office/officeart/2005/8/layout/vList2"/>
    <dgm:cxn modelId="{66B8607C-6EFE-4482-82E2-C2E1853B0A70}" type="presParOf" srcId="{D89037D8-D584-47FF-905B-1A607415AAA7}" destId="{BF451CCE-B2A7-445E-83DF-61290F9BF166}" srcOrd="1" destOrd="0" presId="urn:microsoft.com/office/officeart/2005/8/layout/vList2"/>
    <dgm:cxn modelId="{4F326125-0E0F-483B-AB8C-A64E79794662}" type="presParOf" srcId="{D89037D8-D584-47FF-905B-1A607415AAA7}" destId="{B12D9102-57FF-45C0-A6B4-DBF7B786AFEC}" srcOrd="2" destOrd="0" presId="urn:microsoft.com/office/officeart/2005/8/layout/vList2"/>
    <dgm:cxn modelId="{3636B01D-F33E-4186-A569-84A07D3960A1}" type="presParOf" srcId="{D89037D8-D584-47FF-905B-1A607415AAA7}" destId="{9F1D7F3D-2307-49B7-82E8-F03C3C188BA1}" srcOrd="3" destOrd="0" presId="urn:microsoft.com/office/officeart/2005/8/layout/vList2"/>
    <dgm:cxn modelId="{16A563CB-B176-4BB6-B95A-D59EC7F3F618}" type="presParOf" srcId="{D89037D8-D584-47FF-905B-1A607415AAA7}" destId="{9DA4766B-71EF-4791-9BC1-1F88ADA31E23}" srcOrd="4" destOrd="0" presId="urn:microsoft.com/office/officeart/2005/8/layout/vList2"/>
    <dgm:cxn modelId="{F8BFB1AB-70C5-48BF-8CCE-23333950238B}" type="presParOf" srcId="{D89037D8-D584-47FF-905B-1A607415AAA7}" destId="{C8E6B506-D201-450C-B5F0-FDBB6311E333}" srcOrd="5" destOrd="0" presId="urn:microsoft.com/office/officeart/2005/8/layout/vList2"/>
    <dgm:cxn modelId="{D39859C0-AD4B-4CD2-AF0E-311E3042B703}" type="presParOf" srcId="{D89037D8-D584-47FF-905B-1A607415AAA7}" destId="{D2A55750-2F48-4D56-AFE1-995C5A88CB7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0981D73-2B7E-4B52-93D2-B046036F768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082C929-2731-4567-A0AC-46B66744EA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Memorability: </a:t>
          </a:r>
        </a:p>
        <a:p>
          <a:pPr>
            <a:lnSpc>
              <a:spcPct val="100000"/>
            </a:lnSpc>
          </a:pPr>
          <a:r>
            <a:rPr lang="en-US" b="0" i="0" baseline="0" dirty="0"/>
            <a:t>simple name and recognizable ringtone</a:t>
          </a:r>
          <a:endParaRPr lang="en-US" dirty="0"/>
        </a:p>
      </dgm:t>
    </dgm:pt>
    <dgm:pt modelId="{CA909CC8-2056-488B-8459-3B2163DD4EE0}" type="parTrans" cxnId="{9BB7147A-7870-48B8-9CE4-268C4056BA37}">
      <dgm:prSet/>
      <dgm:spPr/>
      <dgm:t>
        <a:bodyPr/>
        <a:lstStyle/>
        <a:p>
          <a:endParaRPr lang="en-US"/>
        </a:p>
      </dgm:t>
    </dgm:pt>
    <dgm:pt modelId="{F2696216-A94E-434C-BFF6-1172EB2B8849}" type="sibTrans" cxnId="{9BB7147A-7870-48B8-9CE4-268C4056BA37}">
      <dgm:prSet/>
      <dgm:spPr/>
      <dgm:t>
        <a:bodyPr/>
        <a:lstStyle/>
        <a:p>
          <a:endParaRPr lang="en-US"/>
        </a:p>
      </dgm:t>
    </dgm:pt>
    <dgm:pt modelId="{B7FEAC99-A629-4253-97A5-6390F5743D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Meaningfulness:       </a:t>
          </a:r>
          <a:r>
            <a:rPr lang="en-US" b="1" i="0" baseline="0" dirty="0">
              <a:latin typeface="Nokia Hindi S60" panose="020B0506030404030204" pitchFamily="34" charset="0"/>
              <a:cs typeface="Nokia Hindi S60" panose="020B0506030404030204" pitchFamily="34" charset="0"/>
            </a:rPr>
            <a:t>Connecting People</a:t>
          </a:r>
        </a:p>
        <a:p>
          <a:pPr>
            <a:lnSpc>
              <a:spcPct val="100000"/>
            </a:lnSpc>
          </a:pPr>
          <a:r>
            <a:rPr lang="en-US" b="0" i="0" baseline="0" dirty="0"/>
            <a:t>slogan communicates human connection</a:t>
          </a:r>
          <a:endParaRPr lang="en-US" dirty="0"/>
        </a:p>
      </dgm:t>
    </dgm:pt>
    <dgm:pt modelId="{12FC139C-73F4-467E-B109-803408DDCFB3}" type="parTrans" cxnId="{4BB46D74-613D-486D-8048-0BCDE48361CC}">
      <dgm:prSet/>
      <dgm:spPr/>
      <dgm:t>
        <a:bodyPr/>
        <a:lstStyle/>
        <a:p>
          <a:endParaRPr lang="en-US"/>
        </a:p>
      </dgm:t>
    </dgm:pt>
    <dgm:pt modelId="{97163C72-B03D-4BD8-8F92-C18B477283DE}" type="sibTrans" cxnId="{4BB46D74-613D-486D-8048-0BCDE48361CC}">
      <dgm:prSet/>
      <dgm:spPr/>
      <dgm:t>
        <a:bodyPr/>
        <a:lstStyle/>
        <a:p>
          <a:endParaRPr lang="en-US"/>
        </a:p>
      </dgm:t>
    </dgm:pt>
    <dgm:pt modelId="{A92687FD-EAAF-400F-A96B-BE6EC55718E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Likability:</a:t>
          </a:r>
        </a:p>
        <a:p>
          <a:pPr>
            <a:lnSpc>
              <a:spcPct val="100000"/>
            </a:lnSpc>
          </a:pPr>
          <a:r>
            <a:rPr lang="en-US" b="0" i="0" baseline="0" dirty="0"/>
            <a:t>positive and simple brand message</a:t>
          </a:r>
          <a:endParaRPr lang="en-US" dirty="0"/>
        </a:p>
      </dgm:t>
    </dgm:pt>
    <dgm:pt modelId="{F4FA29EF-D9CC-41FD-9FAB-137C48F50EB6}" type="parTrans" cxnId="{B2DDBA1D-85E6-47E6-A4EA-77E233C29618}">
      <dgm:prSet/>
      <dgm:spPr/>
      <dgm:t>
        <a:bodyPr/>
        <a:lstStyle/>
        <a:p>
          <a:endParaRPr lang="en-US"/>
        </a:p>
      </dgm:t>
    </dgm:pt>
    <dgm:pt modelId="{5729F817-D3C8-43C6-8C9B-9C39B838EA03}" type="sibTrans" cxnId="{B2DDBA1D-85E6-47E6-A4EA-77E233C29618}">
      <dgm:prSet/>
      <dgm:spPr/>
      <dgm:t>
        <a:bodyPr/>
        <a:lstStyle/>
        <a:p>
          <a:endParaRPr lang="en-US"/>
        </a:p>
      </dgm:t>
    </dgm:pt>
    <dgm:pt modelId="{A613E609-88BB-46C6-AB11-6CFC13606F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Transferability:</a:t>
          </a:r>
        </a:p>
        <a:p>
          <a:pPr>
            <a:lnSpc>
              <a:spcPct val="100000"/>
            </a:lnSpc>
          </a:pPr>
          <a:r>
            <a:rPr lang="en-US" b="0" i="0" baseline="0" dirty="0"/>
            <a:t>worked across global markets</a:t>
          </a:r>
          <a:endParaRPr lang="en-US" dirty="0"/>
        </a:p>
      </dgm:t>
    </dgm:pt>
    <dgm:pt modelId="{D61A4DBD-EF62-4750-A0C2-A9C7C1E1E670}" type="parTrans" cxnId="{F11E9FFC-962A-4555-9B3D-6BF4415B0B4F}">
      <dgm:prSet/>
      <dgm:spPr/>
      <dgm:t>
        <a:bodyPr/>
        <a:lstStyle/>
        <a:p>
          <a:endParaRPr lang="en-US"/>
        </a:p>
      </dgm:t>
    </dgm:pt>
    <dgm:pt modelId="{7BC88F96-B869-4AEA-8DDB-C68A9AFA8B4F}" type="sibTrans" cxnId="{F11E9FFC-962A-4555-9B3D-6BF4415B0B4F}">
      <dgm:prSet/>
      <dgm:spPr/>
      <dgm:t>
        <a:bodyPr/>
        <a:lstStyle/>
        <a:p>
          <a:endParaRPr lang="en-US"/>
        </a:p>
      </dgm:t>
    </dgm:pt>
    <dgm:pt modelId="{C0FEE19C-F620-4C06-87B9-A5F1DDC23A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Adaptability:</a:t>
          </a:r>
        </a:p>
        <a:p>
          <a:pPr>
            <a:lnSpc>
              <a:spcPct val="100000"/>
            </a:lnSpc>
          </a:pPr>
          <a:r>
            <a:rPr lang="en-US" b="0" i="0" baseline="0" dirty="0"/>
            <a:t>brand elements remained relevant over time</a:t>
          </a:r>
          <a:endParaRPr lang="en-US" dirty="0"/>
        </a:p>
      </dgm:t>
    </dgm:pt>
    <dgm:pt modelId="{3B9426F1-A720-4793-857C-C404A0C32613}" type="parTrans" cxnId="{C1F8B155-D2D6-415D-B2A5-5D34DD893984}">
      <dgm:prSet/>
      <dgm:spPr/>
      <dgm:t>
        <a:bodyPr/>
        <a:lstStyle/>
        <a:p>
          <a:endParaRPr lang="en-US"/>
        </a:p>
      </dgm:t>
    </dgm:pt>
    <dgm:pt modelId="{AF2BD130-E460-426B-A494-7FA365496A8D}" type="sibTrans" cxnId="{C1F8B155-D2D6-415D-B2A5-5D34DD893984}">
      <dgm:prSet/>
      <dgm:spPr/>
      <dgm:t>
        <a:bodyPr/>
        <a:lstStyle/>
        <a:p>
          <a:endParaRPr lang="en-US"/>
        </a:p>
      </dgm:t>
    </dgm:pt>
    <dgm:pt modelId="{E5828D18-62E5-4F08-8F92-51EEB0F21E5A}" type="pres">
      <dgm:prSet presAssocID="{00981D73-2B7E-4B52-93D2-B046036F768E}" presName="root" presStyleCnt="0">
        <dgm:presLayoutVars>
          <dgm:dir/>
          <dgm:resizeHandles val="exact"/>
        </dgm:presLayoutVars>
      </dgm:prSet>
      <dgm:spPr/>
    </dgm:pt>
    <dgm:pt modelId="{73CC63D9-DD6D-41CE-8526-FC7851D14386}" type="pres">
      <dgm:prSet presAssocID="{B082C929-2731-4567-A0AC-46B66744EAA5}" presName="compNode" presStyleCnt="0"/>
      <dgm:spPr/>
    </dgm:pt>
    <dgm:pt modelId="{25282508-8D2A-43AD-B588-BC35EC1B8987}" type="pres">
      <dgm:prSet presAssocID="{B082C929-2731-4567-A0AC-46B66744EAA5}" presName="bgRect" presStyleLbl="bgShp" presStyleIdx="0" presStyleCnt="5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</dgm:pt>
    <dgm:pt modelId="{C4221F9F-90EE-454E-9E28-19138B28B6BD}" type="pres">
      <dgm:prSet presAssocID="{B082C929-2731-4567-A0AC-46B66744EAA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avestone"/>
        </a:ext>
      </dgm:extLst>
    </dgm:pt>
    <dgm:pt modelId="{C18723E3-AC33-4B5D-9125-F2463FD729C6}" type="pres">
      <dgm:prSet presAssocID="{B082C929-2731-4567-A0AC-46B66744EAA5}" presName="spaceRect" presStyleCnt="0"/>
      <dgm:spPr/>
    </dgm:pt>
    <dgm:pt modelId="{66D47471-513F-4720-BCBE-A5E078A567C7}" type="pres">
      <dgm:prSet presAssocID="{B082C929-2731-4567-A0AC-46B66744EAA5}" presName="parTx" presStyleLbl="revTx" presStyleIdx="0" presStyleCnt="5">
        <dgm:presLayoutVars>
          <dgm:chMax val="0"/>
          <dgm:chPref val="0"/>
        </dgm:presLayoutVars>
      </dgm:prSet>
      <dgm:spPr/>
    </dgm:pt>
    <dgm:pt modelId="{4C568EDA-AEBB-4FC3-B494-51D9731C6F96}" type="pres">
      <dgm:prSet presAssocID="{F2696216-A94E-434C-BFF6-1172EB2B8849}" presName="sibTrans" presStyleCnt="0"/>
      <dgm:spPr/>
    </dgm:pt>
    <dgm:pt modelId="{855D35BA-1682-4B36-9CE4-6E51FF269A83}" type="pres">
      <dgm:prSet presAssocID="{B7FEAC99-A629-4253-97A5-6390F5743D90}" presName="compNode" presStyleCnt="0"/>
      <dgm:spPr/>
    </dgm:pt>
    <dgm:pt modelId="{BE94B6FA-4A85-48E9-B39C-9325E2BDF972}" type="pres">
      <dgm:prSet presAssocID="{B7FEAC99-A629-4253-97A5-6390F5743D90}" presName="bgRect" presStyleLbl="bgShp" presStyleIdx="1" presStyleCnt="5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</dgm:pt>
    <dgm:pt modelId="{43C5C668-DEFF-4428-A7FA-D9D98209B074}" type="pres">
      <dgm:prSet presAssocID="{B7FEAC99-A629-4253-97A5-6390F5743D9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E162AEE4-16EA-47A5-9103-B9F43906E1AB}" type="pres">
      <dgm:prSet presAssocID="{B7FEAC99-A629-4253-97A5-6390F5743D90}" presName="spaceRect" presStyleCnt="0"/>
      <dgm:spPr/>
    </dgm:pt>
    <dgm:pt modelId="{AC709720-85FD-4140-94E5-72EE1814C24A}" type="pres">
      <dgm:prSet presAssocID="{B7FEAC99-A629-4253-97A5-6390F5743D90}" presName="parTx" presStyleLbl="revTx" presStyleIdx="1" presStyleCnt="5">
        <dgm:presLayoutVars>
          <dgm:chMax val="0"/>
          <dgm:chPref val="0"/>
        </dgm:presLayoutVars>
      </dgm:prSet>
      <dgm:spPr/>
    </dgm:pt>
    <dgm:pt modelId="{E2535295-C849-4655-A485-F79077E05A22}" type="pres">
      <dgm:prSet presAssocID="{97163C72-B03D-4BD8-8F92-C18B477283DE}" presName="sibTrans" presStyleCnt="0"/>
      <dgm:spPr/>
    </dgm:pt>
    <dgm:pt modelId="{372F8D55-DDE4-43F9-BEAA-9E405D57D439}" type="pres">
      <dgm:prSet presAssocID="{A92687FD-EAAF-400F-A96B-BE6EC55718E2}" presName="compNode" presStyleCnt="0"/>
      <dgm:spPr/>
    </dgm:pt>
    <dgm:pt modelId="{CF9F4036-4BCD-478D-829A-6109570E0464}" type="pres">
      <dgm:prSet presAssocID="{A92687FD-EAAF-400F-A96B-BE6EC55718E2}" presName="bgRect" presStyleLbl="bgShp" presStyleIdx="2" presStyleCnt="5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/>
    </dgm:pt>
    <dgm:pt modelId="{68002765-B042-43D7-8BE0-00541705441B}" type="pres">
      <dgm:prSet presAssocID="{A92687FD-EAAF-400F-A96B-BE6EC55718E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ch"/>
        </a:ext>
      </dgm:extLst>
    </dgm:pt>
    <dgm:pt modelId="{C53ABFE6-F0EC-48B2-9186-D33C79B1A6BC}" type="pres">
      <dgm:prSet presAssocID="{A92687FD-EAAF-400F-A96B-BE6EC55718E2}" presName="spaceRect" presStyleCnt="0"/>
      <dgm:spPr/>
    </dgm:pt>
    <dgm:pt modelId="{B13AEA7E-06FF-4149-9C4B-8A6A7ADF5AC6}" type="pres">
      <dgm:prSet presAssocID="{A92687FD-EAAF-400F-A96B-BE6EC55718E2}" presName="parTx" presStyleLbl="revTx" presStyleIdx="2" presStyleCnt="5">
        <dgm:presLayoutVars>
          <dgm:chMax val="0"/>
          <dgm:chPref val="0"/>
        </dgm:presLayoutVars>
      </dgm:prSet>
      <dgm:spPr/>
    </dgm:pt>
    <dgm:pt modelId="{84B597E8-971F-41F9-9CCF-362DA347F147}" type="pres">
      <dgm:prSet presAssocID="{5729F817-D3C8-43C6-8C9B-9C39B838EA03}" presName="sibTrans" presStyleCnt="0"/>
      <dgm:spPr/>
    </dgm:pt>
    <dgm:pt modelId="{DA05E273-A92E-42BC-AE9C-9C7E74CE5914}" type="pres">
      <dgm:prSet presAssocID="{A613E609-88BB-46C6-AB11-6CFC13606F7A}" presName="compNode" presStyleCnt="0"/>
      <dgm:spPr/>
    </dgm:pt>
    <dgm:pt modelId="{CAB0FC0F-EFC4-4B8A-A85A-79A595C25C19}" type="pres">
      <dgm:prSet presAssocID="{A613E609-88BB-46C6-AB11-6CFC13606F7A}" presName="bgRect" presStyleLbl="bgShp" presStyleIdx="3" presStyleCnt="5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/>
    </dgm:pt>
    <dgm:pt modelId="{C4B85B80-509B-4EB0-93A5-D8929E298603}" type="pres">
      <dgm:prSet presAssocID="{A613E609-88BB-46C6-AB11-6CFC13606F7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Europe-Africa"/>
        </a:ext>
      </dgm:extLst>
    </dgm:pt>
    <dgm:pt modelId="{B8316CE0-D532-4086-9822-81EF360526E8}" type="pres">
      <dgm:prSet presAssocID="{A613E609-88BB-46C6-AB11-6CFC13606F7A}" presName="spaceRect" presStyleCnt="0"/>
      <dgm:spPr/>
    </dgm:pt>
    <dgm:pt modelId="{75DADE0A-D8DB-4D29-BE3F-8B14961F03C9}" type="pres">
      <dgm:prSet presAssocID="{A613E609-88BB-46C6-AB11-6CFC13606F7A}" presName="parTx" presStyleLbl="revTx" presStyleIdx="3" presStyleCnt="5">
        <dgm:presLayoutVars>
          <dgm:chMax val="0"/>
          <dgm:chPref val="0"/>
        </dgm:presLayoutVars>
      </dgm:prSet>
      <dgm:spPr/>
    </dgm:pt>
    <dgm:pt modelId="{76721769-2124-483C-AE50-F244B22A9930}" type="pres">
      <dgm:prSet presAssocID="{7BC88F96-B869-4AEA-8DDB-C68A9AFA8B4F}" presName="sibTrans" presStyleCnt="0"/>
      <dgm:spPr/>
    </dgm:pt>
    <dgm:pt modelId="{E6DC5CF7-CA32-4C0B-9188-4FCEF93F49F9}" type="pres">
      <dgm:prSet presAssocID="{C0FEE19C-F620-4C06-87B9-A5F1DDC23AFE}" presName="compNode" presStyleCnt="0"/>
      <dgm:spPr/>
    </dgm:pt>
    <dgm:pt modelId="{74BE178E-EB78-48CC-8D1A-C59EF3656E4E}" type="pres">
      <dgm:prSet presAssocID="{C0FEE19C-F620-4C06-87B9-A5F1DDC23AFE}" presName="bgRect" presStyleLbl="bgShp" presStyleIdx="4" presStyleCnt="5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</dgm:pt>
    <dgm:pt modelId="{49F4E95C-13FC-401E-AACE-866125165C57}" type="pres">
      <dgm:prSet presAssocID="{C0FEE19C-F620-4C06-87B9-A5F1DDC23AF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A5C8D07-9AAA-4A74-92B0-403543D0A757}" type="pres">
      <dgm:prSet presAssocID="{C0FEE19C-F620-4C06-87B9-A5F1DDC23AFE}" presName="spaceRect" presStyleCnt="0"/>
      <dgm:spPr/>
    </dgm:pt>
    <dgm:pt modelId="{4EE161AB-883C-41CE-ABDE-213C61AD92EA}" type="pres">
      <dgm:prSet presAssocID="{C0FEE19C-F620-4C06-87B9-A5F1DDC23AFE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C411F408-CF59-48A4-A222-E9B3F05E024B}" type="presOf" srcId="{A92687FD-EAAF-400F-A96B-BE6EC55718E2}" destId="{B13AEA7E-06FF-4149-9C4B-8A6A7ADF5AC6}" srcOrd="0" destOrd="0" presId="urn:microsoft.com/office/officeart/2018/2/layout/IconVerticalSolidList"/>
    <dgm:cxn modelId="{670ADF17-C44A-4D9D-93A3-1543E5D749A0}" type="presOf" srcId="{C0FEE19C-F620-4C06-87B9-A5F1DDC23AFE}" destId="{4EE161AB-883C-41CE-ABDE-213C61AD92EA}" srcOrd="0" destOrd="0" presId="urn:microsoft.com/office/officeart/2018/2/layout/IconVerticalSolidList"/>
    <dgm:cxn modelId="{3FC22F1B-E81A-4B26-B34C-EAD4BE8C29A0}" type="presOf" srcId="{A613E609-88BB-46C6-AB11-6CFC13606F7A}" destId="{75DADE0A-D8DB-4D29-BE3F-8B14961F03C9}" srcOrd="0" destOrd="0" presId="urn:microsoft.com/office/officeart/2018/2/layout/IconVerticalSolidList"/>
    <dgm:cxn modelId="{B2DDBA1D-85E6-47E6-A4EA-77E233C29618}" srcId="{00981D73-2B7E-4B52-93D2-B046036F768E}" destId="{A92687FD-EAAF-400F-A96B-BE6EC55718E2}" srcOrd="2" destOrd="0" parTransId="{F4FA29EF-D9CC-41FD-9FAB-137C48F50EB6}" sibTransId="{5729F817-D3C8-43C6-8C9B-9C39B838EA03}"/>
    <dgm:cxn modelId="{78CA4D61-D988-4382-BBDC-2485644A2537}" type="presOf" srcId="{B7FEAC99-A629-4253-97A5-6390F5743D90}" destId="{AC709720-85FD-4140-94E5-72EE1814C24A}" srcOrd="0" destOrd="0" presId="urn:microsoft.com/office/officeart/2018/2/layout/IconVerticalSolidList"/>
    <dgm:cxn modelId="{4BB46D74-613D-486D-8048-0BCDE48361CC}" srcId="{00981D73-2B7E-4B52-93D2-B046036F768E}" destId="{B7FEAC99-A629-4253-97A5-6390F5743D90}" srcOrd="1" destOrd="0" parTransId="{12FC139C-73F4-467E-B109-803408DDCFB3}" sibTransId="{97163C72-B03D-4BD8-8F92-C18B477283DE}"/>
    <dgm:cxn modelId="{C1F8B155-D2D6-415D-B2A5-5D34DD893984}" srcId="{00981D73-2B7E-4B52-93D2-B046036F768E}" destId="{C0FEE19C-F620-4C06-87B9-A5F1DDC23AFE}" srcOrd="4" destOrd="0" parTransId="{3B9426F1-A720-4793-857C-C404A0C32613}" sibTransId="{AF2BD130-E460-426B-A494-7FA365496A8D}"/>
    <dgm:cxn modelId="{9BB7147A-7870-48B8-9CE4-268C4056BA37}" srcId="{00981D73-2B7E-4B52-93D2-B046036F768E}" destId="{B082C929-2731-4567-A0AC-46B66744EAA5}" srcOrd="0" destOrd="0" parTransId="{CA909CC8-2056-488B-8459-3B2163DD4EE0}" sibTransId="{F2696216-A94E-434C-BFF6-1172EB2B8849}"/>
    <dgm:cxn modelId="{DAFF6981-0E43-4B6A-873D-459B4A7E873D}" type="presOf" srcId="{B082C929-2731-4567-A0AC-46B66744EAA5}" destId="{66D47471-513F-4720-BCBE-A5E078A567C7}" srcOrd="0" destOrd="0" presId="urn:microsoft.com/office/officeart/2018/2/layout/IconVerticalSolidList"/>
    <dgm:cxn modelId="{200338CB-DE80-4199-BC82-2249E86AD425}" type="presOf" srcId="{00981D73-2B7E-4B52-93D2-B046036F768E}" destId="{E5828D18-62E5-4F08-8F92-51EEB0F21E5A}" srcOrd="0" destOrd="0" presId="urn:microsoft.com/office/officeart/2018/2/layout/IconVerticalSolidList"/>
    <dgm:cxn modelId="{F11E9FFC-962A-4555-9B3D-6BF4415B0B4F}" srcId="{00981D73-2B7E-4B52-93D2-B046036F768E}" destId="{A613E609-88BB-46C6-AB11-6CFC13606F7A}" srcOrd="3" destOrd="0" parTransId="{D61A4DBD-EF62-4750-A0C2-A9C7C1E1E670}" sibTransId="{7BC88F96-B869-4AEA-8DDB-C68A9AFA8B4F}"/>
    <dgm:cxn modelId="{53D105C7-9908-4EB9-95A5-0566C72A544D}" type="presParOf" srcId="{E5828D18-62E5-4F08-8F92-51EEB0F21E5A}" destId="{73CC63D9-DD6D-41CE-8526-FC7851D14386}" srcOrd="0" destOrd="0" presId="urn:microsoft.com/office/officeart/2018/2/layout/IconVerticalSolidList"/>
    <dgm:cxn modelId="{CED0BA1F-AE9A-47C1-AF67-BE520B57AE8D}" type="presParOf" srcId="{73CC63D9-DD6D-41CE-8526-FC7851D14386}" destId="{25282508-8D2A-43AD-B588-BC35EC1B8987}" srcOrd="0" destOrd="0" presId="urn:microsoft.com/office/officeart/2018/2/layout/IconVerticalSolidList"/>
    <dgm:cxn modelId="{362AFFA8-AD96-4EAB-BE93-7CF067C77E54}" type="presParOf" srcId="{73CC63D9-DD6D-41CE-8526-FC7851D14386}" destId="{C4221F9F-90EE-454E-9E28-19138B28B6BD}" srcOrd="1" destOrd="0" presId="urn:microsoft.com/office/officeart/2018/2/layout/IconVerticalSolidList"/>
    <dgm:cxn modelId="{333BB32A-FE22-45EB-A05F-B06BB5F213F9}" type="presParOf" srcId="{73CC63D9-DD6D-41CE-8526-FC7851D14386}" destId="{C18723E3-AC33-4B5D-9125-F2463FD729C6}" srcOrd="2" destOrd="0" presId="urn:microsoft.com/office/officeart/2018/2/layout/IconVerticalSolidList"/>
    <dgm:cxn modelId="{61615CE9-444C-4314-B884-13BC6C5C4CB4}" type="presParOf" srcId="{73CC63D9-DD6D-41CE-8526-FC7851D14386}" destId="{66D47471-513F-4720-BCBE-A5E078A567C7}" srcOrd="3" destOrd="0" presId="urn:microsoft.com/office/officeart/2018/2/layout/IconVerticalSolidList"/>
    <dgm:cxn modelId="{E49A75E8-C201-46A5-9AA4-A3779593D4A6}" type="presParOf" srcId="{E5828D18-62E5-4F08-8F92-51EEB0F21E5A}" destId="{4C568EDA-AEBB-4FC3-B494-51D9731C6F96}" srcOrd="1" destOrd="0" presId="urn:microsoft.com/office/officeart/2018/2/layout/IconVerticalSolidList"/>
    <dgm:cxn modelId="{4744E085-C470-47E9-A2E1-E9B40512561B}" type="presParOf" srcId="{E5828D18-62E5-4F08-8F92-51EEB0F21E5A}" destId="{855D35BA-1682-4B36-9CE4-6E51FF269A83}" srcOrd="2" destOrd="0" presId="urn:microsoft.com/office/officeart/2018/2/layout/IconVerticalSolidList"/>
    <dgm:cxn modelId="{4424FE9E-6A20-4BC5-B4DD-83135922ADDD}" type="presParOf" srcId="{855D35BA-1682-4B36-9CE4-6E51FF269A83}" destId="{BE94B6FA-4A85-48E9-B39C-9325E2BDF972}" srcOrd="0" destOrd="0" presId="urn:microsoft.com/office/officeart/2018/2/layout/IconVerticalSolidList"/>
    <dgm:cxn modelId="{05E1118A-0078-4851-A469-BA69B60FD27F}" type="presParOf" srcId="{855D35BA-1682-4B36-9CE4-6E51FF269A83}" destId="{43C5C668-DEFF-4428-A7FA-D9D98209B074}" srcOrd="1" destOrd="0" presId="urn:microsoft.com/office/officeart/2018/2/layout/IconVerticalSolidList"/>
    <dgm:cxn modelId="{BAB51A0B-8C74-4E21-84F1-C950FD789744}" type="presParOf" srcId="{855D35BA-1682-4B36-9CE4-6E51FF269A83}" destId="{E162AEE4-16EA-47A5-9103-B9F43906E1AB}" srcOrd="2" destOrd="0" presId="urn:microsoft.com/office/officeart/2018/2/layout/IconVerticalSolidList"/>
    <dgm:cxn modelId="{5EA66D5B-6991-4E68-848E-6524E84168ED}" type="presParOf" srcId="{855D35BA-1682-4B36-9CE4-6E51FF269A83}" destId="{AC709720-85FD-4140-94E5-72EE1814C24A}" srcOrd="3" destOrd="0" presId="urn:microsoft.com/office/officeart/2018/2/layout/IconVerticalSolidList"/>
    <dgm:cxn modelId="{A159AA0C-46A9-4EBA-9B69-DC177F62EAC5}" type="presParOf" srcId="{E5828D18-62E5-4F08-8F92-51EEB0F21E5A}" destId="{E2535295-C849-4655-A485-F79077E05A22}" srcOrd="3" destOrd="0" presId="urn:microsoft.com/office/officeart/2018/2/layout/IconVerticalSolidList"/>
    <dgm:cxn modelId="{C662B222-5BE0-4FE7-A62A-2DC73193DD39}" type="presParOf" srcId="{E5828D18-62E5-4F08-8F92-51EEB0F21E5A}" destId="{372F8D55-DDE4-43F9-BEAA-9E405D57D439}" srcOrd="4" destOrd="0" presId="urn:microsoft.com/office/officeart/2018/2/layout/IconVerticalSolidList"/>
    <dgm:cxn modelId="{642B5C37-DE25-4320-8B9F-EF199043DADB}" type="presParOf" srcId="{372F8D55-DDE4-43F9-BEAA-9E405D57D439}" destId="{CF9F4036-4BCD-478D-829A-6109570E0464}" srcOrd="0" destOrd="0" presId="urn:microsoft.com/office/officeart/2018/2/layout/IconVerticalSolidList"/>
    <dgm:cxn modelId="{DC4C1914-BC8C-4F54-BC01-2800AD3143A3}" type="presParOf" srcId="{372F8D55-DDE4-43F9-BEAA-9E405D57D439}" destId="{68002765-B042-43D7-8BE0-00541705441B}" srcOrd="1" destOrd="0" presId="urn:microsoft.com/office/officeart/2018/2/layout/IconVerticalSolidList"/>
    <dgm:cxn modelId="{C0B3DF44-82FC-4C63-84F0-D94FF8B7B3B1}" type="presParOf" srcId="{372F8D55-DDE4-43F9-BEAA-9E405D57D439}" destId="{C53ABFE6-F0EC-48B2-9186-D33C79B1A6BC}" srcOrd="2" destOrd="0" presId="urn:microsoft.com/office/officeart/2018/2/layout/IconVerticalSolidList"/>
    <dgm:cxn modelId="{72316C14-90C0-41C3-A445-4B214882830D}" type="presParOf" srcId="{372F8D55-DDE4-43F9-BEAA-9E405D57D439}" destId="{B13AEA7E-06FF-4149-9C4B-8A6A7ADF5AC6}" srcOrd="3" destOrd="0" presId="urn:microsoft.com/office/officeart/2018/2/layout/IconVerticalSolidList"/>
    <dgm:cxn modelId="{36659D72-4057-4B1C-9B4A-707CAA6EB7D2}" type="presParOf" srcId="{E5828D18-62E5-4F08-8F92-51EEB0F21E5A}" destId="{84B597E8-971F-41F9-9CCF-362DA347F147}" srcOrd="5" destOrd="0" presId="urn:microsoft.com/office/officeart/2018/2/layout/IconVerticalSolidList"/>
    <dgm:cxn modelId="{80A076BC-3C47-4862-8D0A-074CF5F05F26}" type="presParOf" srcId="{E5828D18-62E5-4F08-8F92-51EEB0F21E5A}" destId="{DA05E273-A92E-42BC-AE9C-9C7E74CE5914}" srcOrd="6" destOrd="0" presId="urn:microsoft.com/office/officeart/2018/2/layout/IconVerticalSolidList"/>
    <dgm:cxn modelId="{34404FE3-4447-4CB0-AD4C-AA575B7F44A8}" type="presParOf" srcId="{DA05E273-A92E-42BC-AE9C-9C7E74CE5914}" destId="{CAB0FC0F-EFC4-4B8A-A85A-79A595C25C19}" srcOrd="0" destOrd="0" presId="urn:microsoft.com/office/officeart/2018/2/layout/IconVerticalSolidList"/>
    <dgm:cxn modelId="{B6B1A64B-C359-47D3-8A71-361791E26F2A}" type="presParOf" srcId="{DA05E273-A92E-42BC-AE9C-9C7E74CE5914}" destId="{C4B85B80-509B-4EB0-93A5-D8929E298603}" srcOrd="1" destOrd="0" presId="urn:microsoft.com/office/officeart/2018/2/layout/IconVerticalSolidList"/>
    <dgm:cxn modelId="{EC2ABB5D-B76D-44F4-9CDF-57714C19410C}" type="presParOf" srcId="{DA05E273-A92E-42BC-AE9C-9C7E74CE5914}" destId="{B8316CE0-D532-4086-9822-81EF360526E8}" srcOrd="2" destOrd="0" presId="urn:microsoft.com/office/officeart/2018/2/layout/IconVerticalSolidList"/>
    <dgm:cxn modelId="{1542DEEA-DD8A-44D3-961D-5E8CE2D10C5F}" type="presParOf" srcId="{DA05E273-A92E-42BC-AE9C-9C7E74CE5914}" destId="{75DADE0A-D8DB-4D29-BE3F-8B14961F03C9}" srcOrd="3" destOrd="0" presId="urn:microsoft.com/office/officeart/2018/2/layout/IconVerticalSolidList"/>
    <dgm:cxn modelId="{82355504-2860-440F-8F74-2F7717AB5E3D}" type="presParOf" srcId="{E5828D18-62E5-4F08-8F92-51EEB0F21E5A}" destId="{76721769-2124-483C-AE50-F244B22A9930}" srcOrd="7" destOrd="0" presId="urn:microsoft.com/office/officeart/2018/2/layout/IconVerticalSolidList"/>
    <dgm:cxn modelId="{0D96A54E-9523-4F74-9342-C3D896535481}" type="presParOf" srcId="{E5828D18-62E5-4F08-8F92-51EEB0F21E5A}" destId="{E6DC5CF7-CA32-4C0B-9188-4FCEF93F49F9}" srcOrd="8" destOrd="0" presId="urn:microsoft.com/office/officeart/2018/2/layout/IconVerticalSolidList"/>
    <dgm:cxn modelId="{FE0DA0F3-73D3-4EFD-9C7D-58CA1F0916FE}" type="presParOf" srcId="{E6DC5CF7-CA32-4C0B-9188-4FCEF93F49F9}" destId="{74BE178E-EB78-48CC-8D1A-C59EF3656E4E}" srcOrd="0" destOrd="0" presId="urn:microsoft.com/office/officeart/2018/2/layout/IconVerticalSolidList"/>
    <dgm:cxn modelId="{89FCFFC9-3468-4B0F-90E7-6439FC3EDC71}" type="presParOf" srcId="{E6DC5CF7-CA32-4C0B-9188-4FCEF93F49F9}" destId="{49F4E95C-13FC-401E-AACE-866125165C57}" srcOrd="1" destOrd="0" presId="urn:microsoft.com/office/officeart/2018/2/layout/IconVerticalSolidList"/>
    <dgm:cxn modelId="{21F724B3-5FAD-4FB0-B3C2-593C82289364}" type="presParOf" srcId="{E6DC5CF7-CA32-4C0B-9188-4FCEF93F49F9}" destId="{8A5C8D07-9AAA-4A74-92B0-403543D0A757}" srcOrd="2" destOrd="0" presId="urn:microsoft.com/office/officeart/2018/2/layout/IconVerticalSolidList"/>
    <dgm:cxn modelId="{632E5DE8-736D-4E76-849F-D854671639B2}" type="presParOf" srcId="{E6DC5CF7-CA32-4C0B-9188-4FCEF93F49F9}" destId="{4EE161AB-883C-41CE-ABDE-213C61AD92E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A50CE6-0F24-4879-BF91-34A1E4D89C98}">
      <dsp:nvSpPr>
        <dsp:cNvPr id="0" name=""/>
        <dsp:cNvSpPr/>
      </dsp:nvSpPr>
      <dsp:spPr>
        <a:xfrm>
          <a:off x="0" y="557468"/>
          <a:ext cx="9701462" cy="7464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 dirty="0"/>
            <a:t>Nokia brand name originates from Finland.</a:t>
          </a:r>
          <a:endParaRPr lang="en-US" sz="2900" kern="1200" dirty="0"/>
        </a:p>
      </dsp:txBody>
      <dsp:txXfrm>
        <a:off x="36439" y="593907"/>
        <a:ext cx="9628584" cy="673582"/>
      </dsp:txXfrm>
    </dsp:sp>
    <dsp:sp modelId="{B12D9102-57FF-45C0-A6B4-DBF7B786AFEC}">
      <dsp:nvSpPr>
        <dsp:cNvPr id="0" name=""/>
        <dsp:cNvSpPr/>
      </dsp:nvSpPr>
      <dsp:spPr>
        <a:xfrm>
          <a:off x="0" y="1387449"/>
          <a:ext cx="9701462" cy="746460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 dirty="0"/>
            <a:t>Used consistently during the GSM mobile phone era.</a:t>
          </a:r>
          <a:endParaRPr lang="en-US" sz="2900" kern="1200" dirty="0"/>
        </a:p>
      </dsp:txBody>
      <dsp:txXfrm>
        <a:off x="36439" y="1423888"/>
        <a:ext cx="9628584" cy="673582"/>
      </dsp:txXfrm>
    </dsp:sp>
    <dsp:sp modelId="{9DA4766B-71EF-4791-9BC1-1F88ADA31E23}">
      <dsp:nvSpPr>
        <dsp:cNvPr id="0" name=""/>
        <dsp:cNvSpPr/>
      </dsp:nvSpPr>
      <dsp:spPr>
        <a:xfrm>
          <a:off x="0" y="2217429"/>
          <a:ext cx="9701462" cy="746460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/>
            <a:t>Brand name functions as the primary identifier of the product.</a:t>
          </a:r>
          <a:endParaRPr lang="en-US" sz="2900" kern="1200"/>
        </a:p>
      </dsp:txBody>
      <dsp:txXfrm>
        <a:off x="36439" y="2253868"/>
        <a:ext cx="9628584" cy="673582"/>
      </dsp:txXfrm>
    </dsp:sp>
    <dsp:sp modelId="{D2A55750-2F48-4D56-AFE1-995C5A88CB76}">
      <dsp:nvSpPr>
        <dsp:cNvPr id="0" name=""/>
        <dsp:cNvSpPr/>
      </dsp:nvSpPr>
      <dsp:spPr>
        <a:xfrm>
          <a:off x="0" y="3047409"/>
          <a:ext cx="9701462" cy="74646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/>
            <a:t>Supports global recognition of Nokia devices.</a:t>
          </a:r>
          <a:endParaRPr lang="en-US" sz="2900" kern="1200"/>
        </a:p>
      </dsp:txBody>
      <dsp:txXfrm>
        <a:off x="36439" y="3083848"/>
        <a:ext cx="9628584" cy="6735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282508-8D2A-43AD-B588-BC35EC1B8987}">
      <dsp:nvSpPr>
        <dsp:cNvPr id="0" name=""/>
        <dsp:cNvSpPr/>
      </dsp:nvSpPr>
      <dsp:spPr>
        <a:xfrm>
          <a:off x="0" y="4366"/>
          <a:ext cx="6245265" cy="930102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</dsp:sp>
    <dsp:sp modelId="{C4221F9F-90EE-454E-9E28-19138B28B6BD}">
      <dsp:nvSpPr>
        <dsp:cNvPr id="0" name=""/>
        <dsp:cNvSpPr/>
      </dsp:nvSpPr>
      <dsp:spPr>
        <a:xfrm>
          <a:off x="281355" y="213639"/>
          <a:ext cx="511556" cy="5115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D47471-513F-4720-BCBE-A5E078A567C7}">
      <dsp:nvSpPr>
        <dsp:cNvPr id="0" name=""/>
        <dsp:cNvSpPr/>
      </dsp:nvSpPr>
      <dsp:spPr>
        <a:xfrm>
          <a:off x="1074268" y="4366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 dirty="0"/>
            <a:t>Memorability: </a:t>
          </a:r>
        </a:p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 dirty="0"/>
            <a:t>simple name and recognizable ringtone</a:t>
          </a:r>
          <a:endParaRPr lang="en-US" sz="1900" kern="1200" dirty="0"/>
        </a:p>
      </dsp:txBody>
      <dsp:txXfrm>
        <a:off x="1074268" y="4366"/>
        <a:ext cx="5170996" cy="930102"/>
      </dsp:txXfrm>
    </dsp:sp>
    <dsp:sp modelId="{BE94B6FA-4A85-48E9-B39C-9325E2BDF972}">
      <dsp:nvSpPr>
        <dsp:cNvPr id="0" name=""/>
        <dsp:cNvSpPr/>
      </dsp:nvSpPr>
      <dsp:spPr>
        <a:xfrm>
          <a:off x="0" y="1166994"/>
          <a:ext cx="6245265" cy="930102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</dsp:sp>
    <dsp:sp modelId="{43C5C668-DEFF-4428-A7FA-D9D98209B074}">
      <dsp:nvSpPr>
        <dsp:cNvPr id="0" name=""/>
        <dsp:cNvSpPr/>
      </dsp:nvSpPr>
      <dsp:spPr>
        <a:xfrm>
          <a:off x="281355" y="1376267"/>
          <a:ext cx="511556" cy="5115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709720-85FD-4140-94E5-72EE1814C24A}">
      <dsp:nvSpPr>
        <dsp:cNvPr id="0" name=""/>
        <dsp:cNvSpPr/>
      </dsp:nvSpPr>
      <dsp:spPr>
        <a:xfrm>
          <a:off x="1074268" y="1166994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 dirty="0"/>
            <a:t>Meaningfulness:       </a:t>
          </a:r>
          <a:r>
            <a:rPr lang="en-US" sz="1900" b="1" i="0" kern="1200" baseline="0" dirty="0">
              <a:latin typeface="Nokia Hindi S60" panose="020B0506030404030204" pitchFamily="34" charset="0"/>
              <a:cs typeface="Nokia Hindi S60" panose="020B0506030404030204" pitchFamily="34" charset="0"/>
            </a:rPr>
            <a:t>Connecting People</a:t>
          </a:r>
        </a:p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 dirty="0"/>
            <a:t>slogan communicates human connection</a:t>
          </a:r>
          <a:endParaRPr lang="en-US" sz="1900" kern="1200" dirty="0"/>
        </a:p>
      </dsp:txBody>
      <dsp:txXfrm>
        <a:off x="1074268" y="1166994"/>
        <a:ext cx="5170996" cy="930102"/>
      </dsp:txXfrm>
    </dsp:sp>
    <dsp:sp modelId="{CF9F4036-4BCD-478D-829A-6109570E0464}">
      <dsp:nvSpPr>
        <dsp:cNvPr id="0" name=""/>
        <dsp:cNvSpPr/>
      </dsp:nvSpPr>
      <dsp:spPr>
        <a:xfrm>
          <a:off x="0" y="2329622"/>
          <a:ext cx="6245265" cy="930102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</dsp:sp>
    <dsp:sp modelId="{68002765-B042-43D7-8BE0-00541705441B}">
      <dsp:nvSpPr>
        <dsp:cNvPr id="0" name=""/>
        <dsp:cNvSpPr/>
      </dsp:nvSpPr>
      <dsp:spPr>
        <a:xfrm>
          <a:off x="281355" y="2538895"/>
          <a:ext cx="511556" cy="5115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3AEA7E-06FF-4149-9C4B-8A6A7ADF5AC6}">
      <dsp:nvSpPr>
        <dsp:cNvPr id="0" name=""/>
        <dsp:cNvSpPr/>
      </dsp:nvSpPr>
      <dsp:spPr>
        <a:xfrm>
          <a:off x="1074268" y="2329622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 dirty="0"/>
            <a:t>Likability:</a:t>
          </a:r>
        </a:p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 dirty="0"/>
            <a:t>positive and simple brand message</a:t>
          </a:r>
          <a:endParaRPr lang="en-US" sz="1900" kern="1200" dirty="0"/>
        </a:p>
      </dsp:txBody>
      <dsp:txXfrm>
        <a:off x="1074268" y="2329622"/>
        <a:ext cx="5170996" cy="930102"/>
      </dsp:txXfrm>
    </dsp:sp>
    <dsp:sp modelId="{CAB0FC0F-EFC4-4B8A-A85A-79A595C25C19}">
      <dsp:nvSpPr>
        <dsp:cNvPr id="0" name=""/>
        <dsp:cNvSpPr/>
      </dsp:nvSpPr>
      <dsp:spPr>
        <a:xfrm>
          <a:off x="0" y="3492250"/>
          <a:ext cx="6245265" cy="930102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</dsp:sp>
    <dsp:sp modelId="{C4B85B80-509B-4EB0-93A5-D8929E298603}">
      <dsp:nvSpPr>
        <dsp:cNvPr id="0" name=""/>
        <dsp:cNvSpPr/>
      </dsp:nvSpPr>
      <dsp:spPr>
        <a:xfrm>
          <a:off x="281355" y="3701523"/>
          <a:ext cx="511556" cy="5115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DADE0A-D8DB-4D29-BE3F-8B14961F03C9}">
      <dsp:nvSpPr>
        <dsp:cNvPr id="0" name=""/>
        <dsp:cNvSpPr/>
      </dsp:nvSpPr>
      <dsp:spPr>
        <a:xfrm>
          <a:off x="1074268" y="3492250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 dirty="0"/>
            <a:t>Transferability:</a:t>
          </a:r>
        </a:p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 dirty="0"/>
            <a:t>worked across global markets</a:t>
          </a:r>
          <a:endParaRPr lang="en-US" sz="1900" kern="1200" dirty="0"/>
        </a:p>
      </dsp:txBody>
      <dsp:txXfrm>
        <a:off x="1074268" y="3492250"/>
        <a:ext cx="5170996" cy="930102"/>
      </dsp:txXfrm>
    </dsp:sp>
    <dsp:sp modelId="{74BE178E-EB78-48CC-8D1A-C59EF3656E4E}">
      <dsp:nvSpPr>
        <dsp:cNvPr id="0" name=""/>
        <dsp:cNvSpPr/>
      </dsp:nvSpPr>
      <dsp:spPr>
        <a:xfrm>
          <a:off x="0" y="4654878"/>
          <a:ext cx="6245265" cy="930102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</dsp:sp>
    <dsp:sp modelId="{49F4E95C-13FC-401E-AACE-866125165C57}">
      <dsp:nvSpPr>
        <dsp:cNvPr id="0" name=""/>
        <dsp:cNvSpPr/>
      </dsp:nvSpPr>
      <dsp:spPr>
        <a:xfrm>
          <a:off x="281355" y="4864151"/>
          <a:ext cx="511556" cy="5115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E161AB-883C-41CE-ABDE-213C61AD92EA}">
      <dsp:nvSpPr>
        <dsp:cNvPr id="0" name=""/>
        <dsp:cNvSpPr/>
      </dsp:nvSpPr>
      <dsp:spPr>
        <a:xfrm>
          <a:off x="1074268" y="4654878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 dirty="0"/>
            <a:t>Adaptability:</a:t>
          </a:r>
        </a:p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 dirty="0"/>
            <a:t>brand elements remained relevant over time</a:t>
          </a:r>
          <a:endParaRPr lang="en-US" sz="1900" kern="1200" dirty="0"/>
        </a:p>
      </dsp:txBody>
      <dsp:txXfrm>
        <a:off x="1074268" y="4654878"/>
        <a:ext cx="5170996" cy="9301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52FADC-6292-4804-8B15-EAB2A0B265F9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D24513-9FBE-41D6-816B-45A99C126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581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72554-D612-0B5A-3091-F0934CFBD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643E7B-3DBC-3682-7BCF-C91BBC1273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C8DA4-E226-52E8-76CC-DA51EB6FA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D99AE-4821-4AD3-9D1F-2C1826BB5D0D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5EFE1-751F-AB53-F0C4-1216E8B64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8A0DE-B6A0-34F1-2B9E-4B63138E3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AEB3E-F820-40CD-B19D-E29F74F11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491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4390C-A83A-EEDF-BD61-B13824D0F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11CB9-2A9D-512B-0A68-55ADBE74D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7FEF8-7916-3674-9B36-4B7D27F16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D99AE-4821-4AD3-9D1F-2C1826BB5D0D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BB5F5-617E-5084-E9A7-8E7396A3C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6F2B0-AC48-81D8-BEAF-A3BFAEF54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AEB3E-F820-40CD-B19D-E29F74F11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878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4BCFC-C19D-60DA-0557-8785F7882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A5950A-B3F0-AF71-3DEF-5B746E8E1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E2BD7-2E5C-3BD4-BF4F-28BBBB10F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D99AE-4821-4AD3-9D1F-2C1826BB5D0D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A0741-33F0-5A4B-0352-913ED770B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454D9-35E8-BE89-DD2E-A616954BD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AEB3E-F820-40CD-B19D-E29F74F11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592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C1703-5EB5-E5F2-88D4-1A4ABA18F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DCF20-A805-EAF9-B015-C99F162E23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AAE3D6-AD76-CF9B-9189-5B4763E81E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9FD3BA-B3EE-C847-5F46-F9048D78E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D99AE-4821-4AD3-9D1F-2C1826BB5D0D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57F918-F63F-C4A2-E445-9175511B4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34337-CE4D-9C25-944C-B640009F0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AEB3E-F820-40CD-B19D-E29F74F11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107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5DEC2-7941-C54B-F841-B12EAC44E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0899DF-5F54-B024-A3AF-33A71BCF3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4B39B8-A1B4-5502-AFB4-B267342882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7B29AB-A53B-6223-EC58-69C437F35D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B2BA86-E196-AB65-54AD-0D9A343E14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75AC7A-D03C-EEB2-4113-EC405EF1C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D99AE-4821-4AD3-9D1F-2C1826BB5D0D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DEC450-3AC1-03B3-09ED-5F2BB888F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4A0B6D-01E4-3AD4-32EE-E44B878A2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AEB3E-F820-40CD-B19D-E29F74F11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844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C16D6-DBE4-72BD-B5E9-10E0EE6D5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7704AC-C159-F235-E76C-4B2A6F1D9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D99AE-4821-4AD3-9D1F-2C1826BB5D0D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155601-C866-15CE-94AF-A8FE8AA1D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42510-439E-E960-10CB-51D7219F7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AEB3E-F820-40CD-B19D-E29F74F11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636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65D7BD-5818-4AFD-DB82-67E757314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D99AE-4821-4AD3-9D1F-2C1826BB5D0D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D9FA62-CF4B-499D-3325-E73553DA9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E53A7-6293-CE34-BF16-E331D51FB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AEB3E-F820-40CD-B19D-E29F74F11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288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DE5A7-99AB-6984-3607-0AB6E6971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302A3-1DE9-6A53-687D-091887E2F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FAB978-D969-EB29-2E73-67652115D9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2F9A00-FD61-0EEA-762B-A23E3A8F9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D99AE-4821-4AD3-9D1F-2C1826BB5D0D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675036-E551-9C88-0553-8B530F393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382208-9D0D-3B50-E934-AB0AC0CA7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AEB3E-F820-40CD-B19D-E29F74F11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816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FF075-7FA6-39F9-5E85-E3B21ACD3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F6E3C2-6854-4DEA-3F78-254CA6B8A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9FBB4F-8465-54DB-5BE4-2D709BC039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E09749-B920-75FF-17EA-0B5842A99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D99AE-4821-4AD3-9D1F-2C1826BB5D0D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4FD18-EF73-77D9-9344-45E45481E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E49BE6-0B22-3B7D-0CB5-EEFFBFFB6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AEB3E-F820-40CD-B19D-E29F74F11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129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C0E78-0B77-87FA-F5C6-99726AD17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06B2A-EDE2-647A-0501-B7D7052E3C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452A4-4E61-9EE9-D1B2-F83589FAC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D99AE-4821-4AD3-9D1F-2C1826BB5D0D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685B3-2CAB-21FD-AB61-B2371083F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5D387-DC80-AC41-3F12-5AADAD3CB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AEB3E-F820-40CD-B19D-E29F74F11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154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709530-096D-0266-AF55-7F778106AC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C32C4E-9ADD-E3E0-275B-F485A33578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1F8BD-8FCB-0A89-4B5A-36336B2B5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D99AE-4821-4AD3-9D1F-2C1826BB5D0D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CC43C-AB24-88B2-46F0-08864A710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05142-9B72-2401-B6CB-088698148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AEB3E-F820-40CD-B19D-E29F74F11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094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7F819B-09A8-6472-784F-CD84D4F9B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13FDB-74F0-67D7-B9F3-3028D0DC6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9E906-F077-13E1-EFE8-C6C659BA33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DD99AE-4821-4AD3-9D1F-2C1826BB5D0D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24307-04EA-1126-ADBF-DA9602834E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FBACD-684F-9A81-FA26-A1DC1BD741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8AEB3E-F820-40CD-B19D-E29F74F11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648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jpeg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14.png"/><Relationship Id="rId7" Type="http://schemas.openxmlformats.org/officeDocument/2006/relationships/diagramQuickStyle" Target="../diagrams/quickStyle2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microsoft.com/office/2007/relationships/hdphoto" Target="../media/hdphoto3.wdp"/><Relationship Id="rId9" Type="http://schemas.microsoft.com/office/2007/relationships/diagramDrawing" Target="../diagrams/drawing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323DFA-04BF-34C3-2D05-76BAC1AED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46" y="1118878"/>
            <a:ext cx="4203046" cy="740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kern="1200" dirty="0">
                <a:solidFill>
                  <a:schemeClr val="tx2"/>
                </a:solidFill>
                <a:latin typeface="Nokia Pure Headline Extra Bold" panose="020B0904040602060303" pitchFamily="34" charset="0"/>
              </a:rPr>
              <a:t>Brand elements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1023" y="52996"/>
            <a:ext cx="6093363" cy="6805005"/>
            <a:chOff x="6101023" y="52996"/>
            <a:chExt cx="6093363" cy="6805005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raphic 6">
            <a:extLst>
              <a:ext uri="{FF2B5EF4-FFF2-40B4-BE49-F238E27FC236}">
                <a16:creationId xmlns:a16="http://schemas.microsoft.com/office/drawing/2014/main" id="{EA1CA258-5A57-5309-5518-5FD3FF5CD1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11551" y="1317856"/>
            <a:ext cx="4769713" cy="5074716"/>
          </a:xfrm>
          <a:prstGeom prst="rect">
            <a:avLst/>
          </a:prstGeom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2B36767-D65F-AEEA-3A14-8B8113D6A2AF}"/>
              </a:ext>
            </a:extLst>
          </p:cNvPr>
          <p:cNvSpPr txBox="1">
            <a:spLocks/>
          </p:cNvSpPr>
          <p:nvPr/>
        </p:nvSpPr>
        <p:spPr>
          <a:xfrm>
            <a:off x="638860" y="620339"/>
            <a:ext cx="1345849" cy="60869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2"/>
                </a:solidFill>
                <a:latin typeface="Nokia Pure Headline Extra Bold" panose="020B0904040602060303" pitchFamily="34" charset="0"/>
              </a:rPr>
              <a:t>CA2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432541-1D1F-9335-3FE5-F566D1D0B03C}"/>
              </a:ext>
            </a:extLst>
          </p:cNvPr>
          <p:cNvSpPr txBox="1"/>
          <p:nvPr/>
        </p:nvSpPr>
        <p:spPr>
          <a:xfrm>
            <a:off x="9262067" y="1488978"/>
            <a:ext cx="868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Memorability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F70A24-7ACC-DB14-CF8E-5201FF5615D0}"/>
              </a:ext>
            </a:extLst>
          </p:cNvPr>
          <p:cNvSpPr txBox="1"/>
          <p:nvPr/>
        </p:nvSpPr>
        <p:spPr>
          <a:xfrm>
            <a:off x="7331945" y="2383852"/>
            <a:ext cx="10185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Meaningfulness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CEA89-CCC8-9737-818F-BFF7AEF79306}"/>
              </a:ext>
            </a:extLst>
          </p:cNvPr>
          <p:cNvSpPr txBox="1"/>
          <p:nvPr/>
        </p:nvSpPr>
        <p:spPr>
          <a:xfrm>
            <a:off x="7331945" y="4667573"/>
            <a:ext cx="1018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Likability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F5F3E1-A3B6-BFAA-431E-AA795BAACA8C}"/>
              </a:ext>
            </a:extLst>
          </p:cNvPr>
          <p:cNvSpPr txBox="1"/>
          <p:nvPr/>
        </p:nvSpPr>
        <p:spPr>
          <a:xfrm>
            <a:off x="9262067" y="5540144"/>
            <a:ext cx="10185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Transferability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00402A-8914-A3A2-9EE3-62D47C44918F}"/>
              </a:ext>
            </a:extLst>
          </p:cNvPr>
          <p:cNvSpPr txBox="1"/>
          <p:nvPr/>
        </p:nvSpPr>
        <p:spPr>
          <a:xfrm rot="1927155">
            <a:off x="11227901" y="4567047"/>
            <a:ext cx="807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Adaptability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F467AA-C8A9-AC0A-0E8D-559BE464F63B}"/>
              </a:ext>
            </a:extLst>
          </p:cNvPr>
          <p:cNvSpPr txBox="1"/>
          <p:nvPr/>
        </p:nvSpPr>
        <p:spPr>
          <a:xfrm>
            <a:off x="11150208" y="2383852"/>
            <a:ext cx="963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Protectability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576E0E-8A77-BDEB-9E58-105F6C6017B4}"/>
              </a:ext>
            </a:extLst>
          </p:cNvPr>
          <p:cNvSpPr txBox="1"/>
          <p:nvPr/>
        </p:nvSpPr>
        <p:spPr>
          <a:xfrm>
            <a:off x="806631" y="2331720"/>
            <a:ext cx="387227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1️⃣ Memorability</a:t>
            </a:r>
          </a:p>
          <a:p>
            <a:r>
              <a:rPr lang="en-US" sz="3200" b="1" dirty="0"/>
              <a:t>2️⃣ Meaningfulness</a:t>
            </a:r>
          </a:p>
          <a:p>
            <a:r>
              <a:rPr lang="en-US" sz="3200" b="1" dirty="0"/>
              <a:t>3️⃣ Likability</a:t>
            </a:r>
          </a:p>
          <a:p>
            <a:r>
              <a:rPr lang="en-US" sz="3200" b="1" dirty="0"/>
              <a:t>4️⃣ Transferability</a:t>
            </a:r>
          </a:p>
          <a:p>
            <a:r>
              <a:rPr lang="en-US" sz="3200" b="1" dirty="0"/>
              <a:t>5️⃣ Adaptability</a:t>
            </a:r>
          </a:p>
          <a:p>
            <a:r>
              <a:rPr lang="en-US" sz="3200" b="1" dirty="0"/>
              <a:t>6️⃣ Protectability</a:t>
            </a:r>
          </a:p>
        </p:txBody>
      </p:sp>
    </p:spTree>
    <p:extLst>
      <p:ext uri="{BB962C8B-B14F-4D97-AF65-F5344CB8AC3E}">
        <p14:creationId xmlns:p14="http://schemas.microsoft.com/office/powerpoint/2010/main" val="351992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Picture 56">
            <a:extLst>
              <a:ext uri="{FF2B5EF4-FFF2-40B4-BE49-F238E27FC236}">
                <a16:creationId xmlns:a16="http://schemas.microsoft.com/office/drawing/2014/main" id="{F0C1E2D1-2B99-10ED-78DC-C9ABE760791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8000"/>
          </a:blip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B5EBEB4-EC2A-A186-5321-20584BA42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355" y="258702"/>
            <a:ext cx="6059638" cy="847606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tx2"/>
                </a:solidFill>
                <a:latin typeface="Nokia Pure Headline Extra Bold" panose="020B0904040602060303" pitchFamily="34" charset="0"/>
              </a:rPr>
              <a:t>Nokia Brand Elements</a:t>
            </a:r>
            <a:endParaRPr lang="en-US" dirty="0">
              <a:latin typeface="Nokia Pure Headline Extra Bold" panose="020B09040406020603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938891E-09EC-F517-4443-754A67C619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8674" y="1341106"/>
            <a:ext cx="8440001" cy="161828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Brand elements are identifiable components used to build brand awareness and recognition.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Keller identifies elements such as brand names, slogans, symbols, and other identity cues.</a:t>
            </a:r>
            <a:r>
              <a:rPr lang="en-US" sz="2000" dirty="0">
                <a:latin typeface="+mj-lt"/>
              </a:rPr>
              <a:t> [1]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CE57D37-C2D0-066B-1AE3-6F4244344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24DCA44-89CF-872A-903F-96C50780E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B0CC4F5-AC85-FFFA-7EB5-33C4FCE90A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6" name="Picture 45" descr="A blue and black logo&#10;&#10;AI-generated content may be incorrect.">
            <a:extLst>
              <a:ext uri="{FF2B5EF4-FFF2-40B4-BE49-F238E27FC236}">
                <a16:creationId xmlns:a16="http://schemas.microsoft.com/office/drawing/2014/main" id="{C9E94757-D5FF-9F9B-DF4B-D13C0C0AA4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203" y="5003680"/>
            <a:ext cx="2235313" cy="378192"/>
          </a:xfrm>
          <a:prstGeom prst="rect">
            <a:avLst/>
          </a:prstGeom>
        </p:spPr>
      </p:pic>
      <p:pic>
        <p:nvPicPr>
          <p:cNvPr id="48" name="Picture 47" descr="A close-up of hands reaching out to each other">
            <a:extLst>
              <a:ext uri="{FF2B5EF4-FFF2-40B4-BE49-F238E27FC236}">
                <a16:creationId xmlns:a16="http://schemas.microsoft.com/office/drawing/2014/main" id="{8CAE3AC5-9F19-BAE7-F7B6-33C0AC495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1953" y="4615372"/>
            <a:ext cx="2660302" cy="1532999"/>
          </a:xfrm>
          <a:prstGeom prst="rect">
            <a:avLst/>
          </a:prstGeom>
        </p:spPr>
      </p:pic>
      <p:pic>
        <p:nvPicPr>
          <p:cNvPr id="54" name="NOKIA RINGTONE [1994]">
            <a:hlinkClick r:id="" action="ppaction://media"/>
            <a:extLst>
              <a:ext uri="{FF2B5EF4-FFF2-40B4-BE49-F238E27FC236}">
                <a16:creationId xmlns:a16="http://schemas.microsoft.com/office/drawing/2014/main" id="{D9180BF5-E006-D392-0BD1-D395AEF52DE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95340" y="4767681"/>
            <a:ext cx="1228382" cy="1228382"/>
          </a:xfrm>
          <a:prstGeom prst="rect">
            <a:avLst/>
          </a:prstGeom>
          <a:noFill/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473855EB-1896-8D4A-99F0-87A5CCC980D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61355" cy="1452413"/>
          </a:xfrm>
          <a:prstGeom prst="rect">
            <a:avLst/>
          </a:prstGeom>
        </p:spPr>
      </p:pic>
      <p:pic>
        <p:nvPicPr>
          <p:cNvPr id="59" name="Picture 58" descr="A colorful triangles and triangles on a black background&#10;&#10;AI-generated content may be incorrect.">
            <a:extLst>
              <a:ext uri="{FF2B5EF4-FFF2-40B4-BE49-F238E27FC236}">
                <a16:creationId xmlns:a16="http://schemas.microsoft.com/office/drawing/2014/main" id="{6FE5FFF7-4DF7-5E0B-8ECB-085FF0CF8A5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6715" y="-10"/>
            <a:ext cx="2872560" cy="6858000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84417E92-2B41-0A10-1BC9-5FF2BCAF0B03}"/>
              </a:ext>
            </a:extLst>
          </p:cNvPr>
          <p:cNvSpPr txBox="1"/>
          <p:nvPr/>
        </p:nvSpPr>
        <p:spPr>
          <a:xfrm>
            <a:off x="885386" y="3905743"/>
            <a:ext cx="1584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Nokia Pure Headline Extra Bold" panose="020B0904040602060303" pitchFamily="34" charset="0"/>
              </a:rPr>
              <a:t>Brand Name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1504574-89C1-15FD-C27D-426B4F4609A2}"/>
              </a:ext>
            </a:extLst>
          </p:cNvPr>
          <p:cNvSpPr txBox="1"/>
          <p:nvPr/>
        </p:nvSpPr>
        <p:spPr>
          <a:xfrm>
            <a:off x="4759858" y="3905743"/>
            <a:ext cx="913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Nokia Pure Headline Extra Bold" panose="020B0904040602060303" pitchFamily="34" charset="0"/>
              </a:rPr>
              <a:t>Slogan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0097EE2-A12A-A1DE-D35F-1BBB7D3821CD}"/>
              </a:ext>
            </a:extLst>
          </p:cNvPr>
          <p:cNvSpPr txBox="1"/>
          <p:nvPr/>
        </p:nvSpPr>
        <p:spPr>
          <a:xfrm>
            <a:off x="7437107" y="4015232"/>
            <a:ext cx="1756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latin typeface="Nokia Pure Headline Extra Bold" panose="020B0904040602060303" pitchFamily="34" charset="0"/>
              </a:rPr>
              <a:t>Audio identity</a:t>
            </a:r>
            <a:endParaRPr lang="en-US" dirty="0">
              <a:latin typeface="Nokia Pure Headline Extra Bold" panose="020B0904040602060303" pitchFamily="34" charset="0"/>
            </a:endParaRPr>
          </a:p>
        </p:txBody>
      </p:sp>
      <p:sp>
        <p:nvSpPr>
          <p:cNvPr id="63" name="Rectangle 1">
            <a:extLst>
              <a:ext uri="{FF2B5EF4-FFF2-40B4-BE49-F238E27FC236}">
                <a16:creationId xmlns:a16="http://schemas.microsoft.com/office/drawing/2014/main" id="{9400B3DF-B0AE-EBCF-650D-79D4C0CB29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674" y="3428990"/>
            <a:ext cx="5225727" cy="3693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2000" dirty="0"/>
              <a:t>This analysis focuses on three Nokia elements:</a:t>
            </a:r>
          </a:p>
        </p:txBody>
      </p:sp>
      <p:pic>
        <p:nvPicPr>
          <p:cNvPr id="64" name="Picture 63" descr="A yellow and orange musical note&#10;&#10;AI-generated content may be incorrect.">
            <a:extLst>
              <a:ext uri="{FF2B5EF4-FFF2-40B4-BE49-F238E27FC236}">
                <a16:creationId xmlns:a16="http://schemas.microsoft.com/office/drawing/2014/main" id="{47AC0DC5-844A-E49B-3A22-546F0355DB3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8410" y="2287455"/>
            <a:ext cx="1618288" cy="1618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525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68" fill="hold"/>
                                        <p:tgtEl>
                                          <p:spTgt spid="5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5854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2BB52A1-3D8E-1804-CC6A-7175EAD248F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6932" b="879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F5FDE5-A28B-8FCD-E339-873D0F01E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latin typeface="Nokia Pure Headline Extra Bold" panose="020B0904040602060303" pitchFamily="34" charset="0"/>
              </a:rPr>
              <a:t>Brand Name: Nokia</a:t>
            </a:r>
            <a:endParaRPr lang="en-US" dirty="0">
              <a:latin typeface="Nokia Pure Headline Extra Bold" panose="020B0904040602060303" pitchFamily="34" charset="0"/>
            </a:endParaRPr>
          </a:p>
        </p:txBody>
      </p:sp>
      <p:graphicFrame>
        <p:nvGraphicFramePr>
          <p:cNvPr id="14" name="Rectangle 1">
            <a:extLst>
              <a:ext uri="{FF2B5EF4-FFF2-40B4-BE49-F238E27FC236}">
                <a16:creationId xmlns:a16="http://schemas.microsoft.com/office/drawing/2014/main" id="{AD6A2BC5-9D29-29AA-DB4C-74B171188F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0553746"/>
              </p:ext>
            </p:extLst>
          </p:nvPr>
        </p:nvGraphicFramePr>
        <p:xfrm>
          <a:off x="1245267" y="1253331"/>
          <a:ext cx="9701463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1600CE1-E688-B7F3-DA83-4E6AF8EA57F5}"/>
              </a:ext>
            </a:extLst>
          </p:cNvPr>
          <p:cNvSpPr txBox="1"/>
          <p:nvPr/>
        </p:nvSpPr>
        <p:spPr>
          <a:xfrm>
            <a:off x="1168065" y="5604669"/>
            <a:ext cx="98558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Nokia Hindi S60" panose="020B0506030404030204" pitchFamily="34" charset="0"/>
                <a:cs typeface="Nokia Hindi S60" panose="020B0506030404030204" pitchFamily="34" charset="0"/>
              </a:rPr>
              <a:t>According to Keller, the brand name is a key element for brand recognition and recall. [1]</a:t>
            </a:r>
          </a:p>
        </p:txBody>
      </p:sp>
    </p:spTree>
    <p:extLst>
      <p:ext uri="{BB962C8B-B14F-4D97-AF65-F5344CB8AC3E}">
        <p14:creationId xmlns:p14="http://schemas.microsoft.com/office/powerpoint/2010/main" val="712380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456604-DA6B-49FD-DBFB-6EBDE3CCF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02FAA1-2416-BDB9-E46C-630F46827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711201"/>
            <a:ext cx="6294119" cy="1097915"/>
          </a:xfrm>
        </p:spPr>
        <p:txBody>
          <a:bodyPr>
            <a:normAutofit/>
          </a:bodyPr>
          <a:lstStyle/>
          <a:p>
            <a:r>
              <a:rPr lang="en-US">
                <a:latin typeface="Nokia Pure Headline Extra Bold" panose="020B0904040602060303" pitchFamily="34" charset="0"/>
              </a:rPr>
              <a:t>Slogan &amp; Audio Identity</a:t>
            </a:r>
            <a:endParaRPr lang="en-US" dirty="0">
              <a:latin typeface="Nokia Pure Headline Extra Bold" panose="020B09040406020603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8019C-2FB7-90A1-500A-B7E04D397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560" y="1939914"/>
            <a:ext cx="5755640" cy="2102697"/>
          </a:xfrm>
        </p:spPr>
        <p:txBody>
          <a:bodyPr>
            <a:normAutofit/>
          </a:bodyPr>
          <a:lstStyle/>
          <a:p>
            <a:r>
              <a:rPr lang="en-US" sz="2400" b="1" dirty="0"/>
              <a:t>Connecting People</a:t>
            </a:r>
            <a:endParaRPr lang="en-US" sz="2400" dirty="0"/>
          </a:p>
          <a:p>
            <a:pPr lvl="1"/>
            <a:r>
              <a:rPr lang="en-US" dirty="0"/>
              <a:t>Used in Nokia communication during the 1990s.[2]</a:t>
            </a:r>
          </a:p>
          <a:p>
            <a:pPr lvl="1"/>
            <a:r>
              <a:rPr lang="en-US" dirty="0"/>
              <a:t>Communicated the brand’s focus on human communication.</a:t>
            </a:r>
          </a:p>
        </p:txBody>
      </p:sp>
      <p:pic>
        <p:nvPicPr>
          <p:cNvPr id="23" name="Picture 22" descr="Blue stripe pattern on a black background">
            <a:extLst>
              <a:ext uri="{FF2B5EF4-FFF2-40B4-BE49-F238E27FC236}">
                <a16:creationId xmlns:a16="http://schemas.microsoft.com/office/drawing/2014/main" id="{A1D64F98-F46A-BE70-9339-A8816938CA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000"/>
                    </a14:imgEffect>
                  </a14:imgLayer>
                </a14:imgProps>
              </a:ext>
            </a:extLst>
          </a:blip>
          <a:srcRect r="37181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pic>
        <p:nvPicPr>
          <p:cNvPr id="5" name="Picture 4" descr="A green line on a black background&#10;&#10;AI-generated content may be incorrect.">
            <a:extLst>
              <a:ext uri="{FF2B5EF4-FFF2-40B4-BE49-F238E27FC236}">
                <a16:creationId xmlns:a16="http://schemas.microsoft.com/office/drawing/2014/main" id="{0100AF05-BF90-296E-521F-48BDF34FBD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6124957"/>
            <a:ext cx="1438682" cy="733043"/>
          </a:xfrm>
          <a:prstGeom prst="rect">
            <a:avLst/>
          </a:prstGeom>
        </p:spPr>
      </p:pic>
      <p:pic>
        <p:nvPicPr>
          <p:cNvPr id="9" name="Picture 8" descr="A black and blue face with orange circle&#10;&#10;AI-generated content may be incorrect.">
            <a:extLst>
              <a:ext uri="{FF2B5EF4-FFF2-40B4-BE49-F238E27FC236}">
                <a16:creationId xmlns:a16="http://schemas.microsoft.com/office/drawing/2014/main" id="{3B04D29B-328A-B5C1-3D13-630505C45F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19277" y="0"/>
            <a:ext cx="1457960" cy="756181"/>
          </a:xfrm>
          <a:prstGeom prst="rect">
            <a:avLst/>
          </a:prstGeom>
        </p:spPr>
      </p:pic>
      <p:pic>
        <p:nvPicPr>
          <p:cNvPr id="6" name="Picture 5" descr="A close-up of hands reaching out to each other&#10;&#10;AI-generated content may be incorrect.">
            <a:extLst>
              <a:ext uri="{FF2B5EF4-FFF2-40B4-BE49-F238E27FC236}">
                <a16:creationId xmlns:a16="http://schemas.microsoft.com/office/drawing/2014/main" id="{5F7B75C5-FABE-1A88-74A2-DE7D79BF35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9328" y="1645938"/>
            <a:ext cx="1309440" cy="754565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04BA9BE-3E95-EDE2-4B19-69F279E65BEB}"/>
              </a:ext>
            </a:extLst>
          </p:cNvPr>
          <p:cNvSpPr txBox="1">
            <a:spLocks/>
          </p:cNvSpPr>
          <p:nvPr/>
        </p:nvSpPr>
        <p:spPr>
          <a:xfrm>
            <a:off x="540512" y="4256716"/>
            <a:ext cx="5755640" cy="1890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Nokia Tune</a:t>
            </a:r>
            <a:endParaRPr lang="en-US" sz="2400" dirty="0"/>
          </a:p>
          <a:p>
            <a:pPr lvl="1"/>
            <a:r>
              <a:rPr lang="en-US" dirty="0"/>
              <a:t>Introduced in Nokia mobile phones such as the Nokia 2110 in 1994.[3]</a:t>
            </a:r>
          </a:p>
          <a:p>
            <a:pPr lvl="1"/>
            <a:r>
              <a:rPr lang="en-US" dirty="0"/>
              <a:t>Became a recognizable sound associated with Nokia phones.</a:t>
            </a:r>
          </a:p>
        </p:txBody>
      </p:sp>
      <p:pic>
        <p:nvPicPr>
          <p:cNvPr id="10" name="Picture 9" descr="A yellow and orange musical note&#10;&#10;AI-generated content may be incorrect.">
            <a:extLst>
              <a:ext uri="{FF2B5EF4-FFF2-40B4-BE49-F238E27FC236}">
                <a16:creationId xmlns:a16="http://schemas.microsoft.com/office/drawing/2014/main" id="{847EE57C-C2B4-8598-E2EE-C5F845042A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8335" y="5212062"/>
            <a:ext cx="677817" cy="677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915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528305-E5A3-1DD5-7801-A63ECD34E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728" y="1070800"/>
            <a:ext cx="4399267" cy="5583126"/>
          </a:xfrm>
        </p:spPr>
        <p:txBody>
          <a:bodyPr>
            <a:normAutofit/>
          </a:bodyPr>
          <a:lstStyle/>
          <a:p>
            <a:pPr algn="r"/>
            <a:r>
              <a:rPr lang="en-US" sz="6800">
                <a:latin typeface="Nokia Pure Headline Extra Bold" panose="020B0904040602060303" pitchFamily="34" charset="0"/>
              </a:rPr>
              <a:t>Evaluation of Nokia Brand Elements</a:t>
            </a:r>
            <a:endParaRPr lang="en-US" sz="68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C5D0E6EC-039D-2BA5-F776-8D99865BB6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20"/>
          <a:stretch>
            <a:fillRect/>
          </a:stretch>
        </p:blipFill>
        <p:spPr>
          <a:xfrm>
            <a:off x="6838" y="2827233"/>
            <a:ext cx="1126337" cy="23273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6526BDE-4954-ED7B-9C62-7F3198AAEEDA}"/>
              </a:ext>
            </a:extLst>
          </p:cNvPr>
          <p:cNvSpPr txBox="1"/>
          <p:nvPr/>
        </p:nvSpPr>
        <p:spPr>
          <a:xfrm>
            <a:off x="4911889" y="402969"/>
            <a:ext cx="62041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Nokia Pure Headline Extra Bold" panose="020B0904040602060303" pitchFamily="34" charset="0"/>
              </a:rPr>
              <a:t>Using Keller’s brand element criteria: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AB90440-4CCF-19E0-57BE-D175E10513C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9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4000"/>
                    </a14:imgEffect>
                  </a14:imgLayer>
                </a14:imgProps>
              </a:ext>
            </a:extLst>
          </a:blip>
          <a:srcRect b="15730"/>
          <a:stretch>
            <a:fillRect/>
          </a:stretch>
        </p:blipFill>
        <p:spPr>
          <a:xfrm>
            <a:off x="20" y="8323"/>
            <a:ext cx="12191980" cy="6857990"/>
          </a:xfrm>
          <a:prstGeom prst="rect">
            <a:avLst/>
          </a:prstGeom>
        </p:spPr>
      </p:pic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F81B69AE-EC44-8C86-A585-AB963762D5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3165020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466829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17079-14E0-F79A-9EEE-715C8438F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8363"/>
            <a:ext cx="9375228" cy="4251960"/>
          </a:xfrm>
        </p:spPr>
        <p:txBody>
          <a:bodyPr>
            <a:normAutofit/>
          </a:bodyPr>
          <a:lstStyle/>
          <a:p>
            <a:r>
              <a:rPr lang="en-US" sz="2200" dirty="0"/>
              <a:t>[1] Keller, K.L. Strategic Brand Management.</a:t>
            </a:r>
            <a:br>
              <a:rPr lang="en-US" sz="2200" dirty="0"/>
            </a:br>
            <a:br>
              <a:rPr lang="en-US" sz="2200" dirty="0"/>
            </a:br>
            <a:r>
              <a:rPr lang="en-US" sz="2200" dirty="0"/>
              <a:t>[2] Nokia Annual Report 1995 – "Nokia… connecting people"</a:t>
            </a:r>
            <a:br>
              <a:rPr lang="en-US" sz="2200" dirty="0"/>
            </a:br>
            <a:r>
              <a:rPr lang="en-US" sz="2200" dirty="0"/>
              <a:t>https://web.lib.aalto.fi/fi/old/yrityspalvelin/pdf/1995/enokia.pdf</a:t>
            </a:r>
            <a:br>
              <a:rPr lang="en-US" sz="2200" dirty="0"/>
            </a:br>
            <a:br>
              <a:rPr lang="en-US" sz="2200" dirty="0"/>
            </a:br>
            <a:r>
              <a:rPr lang="en-US" sz="2200" dirty="0"/>
              <a:t>[3] University of Salford – GSM Mobiles (Nokia 2110)</a:t>
            </a:r>
            <a:r>
              <a:rPr lang="fa-IR" sz="2200" dirty="0"/>
              <a:t> </a:t>
            </a:r>
            <a:r>
              <a:rPr lang="en-US" sz="2200" dirty="0"/>
              <a:t>https://www.cntr.salford.ac.uk/comms/gsm_mobiles.php</a:t>
            </a:r>
          </a:p>
        </p:txBody>
      </p:sp>
      <p:pic>
        <p:nvPicPr>
          <p:cNvPr id="4" name="Picture 3" descr="A black and orange square&#10;&#10;AI-generated content may be incorrect.">
            <a:extLst>
              <a:ext uri="{FF2B5EF4-FFF2-40B4-BE49-F238E27FC236}">
                <a16:creationId xmlns:a16="http://schemas.microsoft.com/office/drawing/2014/main" id="{E2F00280-DE29-A3DB-14E8-26EBB3D015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949" b="13522"/>
          <a:stretch>
            <a:fillRect/>
          </a:stretch>
        </p:blipFill>
        <p:spPr>
          <a:xfrm>
            <a:off x="11077099" y="5694867"/>
            <a:ext cx="1111853" cy="1163133"/>
          </a:xfrm>
          <a:prstGeom prst="rect">
            <a:avLst/>
          </a:prstGeom>
        </p:spPr>
      </p:pic>
      <p:pic>
        <p:nvPicPr>
          <p:cNvPr id="5" name="Picture 4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381E842B-9B1B-79CB-1ECC-1D62A20834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75" y="5982914"/>
            <a:ext cx="809525" cy="8159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DE7A0F-120F-CBD0-7F44-1B8A8AE7B4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030910" y="-595309"/>
            <a:ext cx="545986" cy="17188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817AAC-2C4B-25B7-86B4-AC6F71B4F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0954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Reference </a:t>
            </a:r>
          </a:p>
        </p:txBody>
      </p:sp>
    </p:spTree>
    <p:extLst>
      <p:ext uri="{BB962C8B-B14F-4D97-AF65-F5344CB8AC3E}">
        <p14:creationId xmlns:p14="http://schemas.microsoft.com/office/powerpoint/2010/main" val="3802178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844</TotalTime>
  <Words>313</Words>
  <Application>Microsoft Office PowerPoint</Application>
  <PresentationFormat>Widescreen</PresentationFormat>
  <Paragraphs>49</Paragraphs>
  <Slides>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Calibri</vt:lpstr>
      <vt:lpstr>Nokia Hindi S60</vt:lpstr>
      <vt:lpstr>Nokia Pure Headline Extra Bold</vt:lpstr>
      <vt:lpstr>Office Theme</vt:lpstr>
      <vt:lpstr>Brand elements</vt:lpstr>
      <vt:lpstr>Nokia Brand Elements</vt:lpstr>
      <vt:lpstr>Brand Name: Nokia</vt:lpstr>
      <vt:lpstr>Slogan &amp; Audio Identity</vt:lpstr>
      <vt:lpstr>Evaluation of Nokia Brand Elements</vt:lpstr>
      <vt:lpstr>Reference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GHADERI, Mohammadali</dc:creator>
  <cp:lastModifiedBy>GHADERI, Mohammadali</cp:lastModifiedBy>
  <cp:revision>46</cp:revision>
  <dcterms:created xsi:type="dcterms:W3CDTF">2026-02-25T12:21:20Z</dcterms:created>
  <dcterms:modified xsi:type="dcterms:W3CDTF">2026-05-11T19:06:53Z</dcterms:modified>
</cp:coreProperties>
</file>