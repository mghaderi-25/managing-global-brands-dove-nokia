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57" r:id="rId3"/>
    <p:sldId id="268" r:id="rId4"/>
    <p:sldId id="258" r:id="rId5"/>
    <p:sldId id="262" r:id="rId6"/>
    <p:sldId id="261" r:id="rId7"/>
    <p:sldId id="260" r:id="rId8"/>
    <p:sldId id="259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DA263-C929-4A59-B062-A0D4D6D2D2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1E6A5F-F46C-44B4-8140-195EC0B9C3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baseline="0" dirty="0"/>
            <a:t>Nokia launched the </a:t>
          </a:r>
          <a:r>
            <a:rPr lang="en-US" sz="2400" b="1" i="0" baseline="0" dirty="0"/>
            <a:t>Nokia 1011</a:t>
          </a:r>
          <a:r>
            <a:rPr lang="en-US" sz="2400" b="0" i="0" baseline="0" dirty="0"/>
            <a:t>, described by Nokia as its </a:t>
          </a:r>
          <a:r>
            <a:rPr lang="en-US" sz="2400" b="1" i="0" baseline="0" dirty="0"/>
            <a:t>first GSM phone</a:t>
          </a:r>
          <a:r>
            <a:rPr lang="en-US" sz="2400" b="0" i="0" baseline="0" dirty="0"/>
            <a:t>, introduced in </a:t>
          </a:r>
          <a:r>
            <a:rPr lang="en-US" sz="2400" b="1" i="0" baseline="0" dirty="0"/>
            <a:t>late 1992</a:t>
          </a:r>
          <a:r>
            <a:rPr lang="en-US" sz="2400" b="0" i="0" baseline="0" dirty="0"/>
            <a:t>. [1]</a:t>
          </a:r>
          <a:endParaRPr lang="en-US" sz="2400" dirty="0"/>
        </a:p>
      </dgm:t>
    </dgm:pt>
    <dgm:pt modelId="{6AA100B5-65EE-4B0D-8974-85FFD5100497}" type="parTrans" cxnId="{B8AB634B-0D62-4321-BC50-4916CB5B24BB}">
      <dgm:prSet/>
      <dgm:spPr/>
      <dgm:t>
        <a:bodyPr/>
        <a:lstStyle/>
        <a:p>
          <a:endParaRPr lang="en-US"/>
        </a:p>
      </dgm:t>
    </dgm:pt>
    <dgm:pt modelId="{DE94DBE6-FA52-4B69-BE57-409349EE32B3}" type="sibTrans" cxnId="{B8AB634B-0D62-4321-BC50-4916CB5B24BB}">
      <dgm:prSet phldrT="01" phldr="0"/>
      <dgm:spPr/>
      <dgm:t>
        <a:bodyPr/>
        <a:lstStyle/>
        <a:p>
          <a:endParaRPr lang="en-US"/>
        </a:p>
      </dgm:t>
    </dgm:pt>
    <dgm:pt modelId="{D5E3AF20-6276-4E65-B22E-5489EC588B4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Nokia’s corporate materials show the phrase </a:t>
          </a:r>
          <a:r>
            <a:rPr lang="en-US" sz="2000" b="1" i="0" baseline="0" dirty="0"/>
            <a:t>“Nokia… connecting people.”</a:t>
          </a:r>
          <a:r>
            <a:rPr lang="en-US" sz="2000" b="0" i="0" baseline="0" dirty="0"/>
            <a:t> in its </a:t>
          </a:r>
          <a:r>
            <a:rPr lang="en-US" sz="2000" b="1" i="0" baseline="0" dirty="0"/>
            <a:t>1995 Annual Report</a:t>
          </a:r>
          <a:r>
            <a:rPr lang="en-US" sz="2000" b="0" i="0" baseline="0" dirty="0"/>
            <a:t>. [7]</a:t>
          </a:r>
          <a:endParaRPr lang="en-US" sz="2000" dirty="0"/>
        </a:p>
      </dgm:t>
    </dgm:pt>
    <dgm:pt modelId="{AE5DF13D-69D0-4E47-930D-0F77DAD8CF74}" type="parTrans" cxnId="{EFBEA8BA-C266-40BD-AD79-E8E7AC3E224F}">
      <dgm:prSet/>
      <dgm:spPr/>
      <dgm:t>
        <a:bodyPr/>
        <a:lstStyle/>
        <a:p>
          <a:endParaRPr lang="en-US"/>
        </a:p>
      </dgm:t>
    </dgm:pt>
    <dgm:pt modelId="{CF1EE06F-7260-4A32-BA4B-1B4C9CD30B3B}" type="sibTrans" cxnId="{EFBEA8BA-C266-40BD-AD79-E8E7AC3E224F}">
      <dgm:prSet phldrT="02" phldr="0"/>
      <dgm:spPr/>
      <dgm:t>
        <a:bodyPr/>
        <a:lstStyle/>
        <a:p>
          <a:endParaRPr lang="en-US"/>
        </a:p>
      </dgm:t>
    </dgm:pt>
    <dgm:pt modelId="{2C666B69-5032-47EA-B5DD-6A39CD1734D6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400" b="1" i="0" kern="1200" baseline="0" dirty="0"/>
            <a:t>“</a:t>
          </a:r>
          <a:r>
            <a:rPr lang="en-US" sz="2400" b="1" i="0" kern="900" baseline="0" dirty="0"/>
            <a:t>Connecting People”</a:t>
          </a:r>
        </a:p>
        <a:p>
          <a:pPr algn="ctr">
            <a:lnSpc>
              <a:spcPct val="100000"/>
            </a:lnSpc>
          </a:pPr>
          <a:r>
            <a:rPr lang="en-US" sz="2400" b="1" i="0" kern="900" baseline="0" dirty="0"/>
            <a:t>introduced </a:t>
          </a:r>
          <a:r>
            <a:rPr lang="en-US" sz="2400" b="1" i="0" kern="1200" baseline="0" dirty="0"/>
            <a:t>in 1992</a:t>
          </a:r>
          <a:endParaRPr lang="en-US" sz="2400" kern="1200" dirty="0"/>
        </a:p>
      </dgm:t>
    </dgm:pt>
    <dgm:pt modelId="{E13A1FFA-1572-4FD3-A51A-115A08B0D021}" type="parTrans" cxnId="{6F9D02FD-7164-4973-BD03-7AFD24D688C6}">
      <dgm:prSet/>
      <dgm:spPr/>
      <dgm:t>
        <a:bodyPr/>
        <a:lstStyle/>
        <a:p>
          <a:endParaRPr lang="en-US"/>
        </a:p>
      </dgm:t>
    </dgm:pt>
    <dgm:pt modelId="{D59E25CB-8F09-491F-865C-8A773BDDD9B4}" type="sibTrans" cxnId="{6F9D02FD-7164-4973-BD03-7AFD24D688C6}">
      <dgm:prSet phldrT="03" phldr="0"/>
      <dgm:spPr/>
      <dgm:t>
        <a:bodyPr/>
        <a:lstStyle/>
        <a:p>
          <a:endParaRPr lang="en-US"/>
        </a:p>
      </dgm:t>
    </dgm:pt>
    <dgm:pt modelId="{CE99AF43-0AEE-4C83-B8B9-4B5DD04E903A}" type="pres">
      <dgm:prSet presAssocID="{FD3DA263-C929-4A59-B062-A0D4D6D2D259}" presName="root" presStyleCnt="0">
        <dgm:presLayoutVars>
          <dgm:dir/>
          <dgm:resizeHandles val="exact"/>
        </dgm:presLayoutVars>
      </dgm:prSet>
      <dgm:spPr/>
    </dgm:pt>
    <dgm:pt modelId="{CEA9ECF9-6A63-4565-8CCB-0891EB58528D}" type="pres">
      <dgm:prSet presAssocID="{6B1E6A5F-F46C-44B4-8140-195EC0B9C30C}" presName="compNode" presStyleCnt="0"/>
      <dgm:spPr/>
    </dgm:pt>
    <dgm:pt modelId="{DF04535A-EFA0-4488-BB9A-3401240D77A3}" type="pres">
      <dgm:prSet presAssocID="{6B1E6A5F-F46C-44B4-8140-195EC0B9C30C}" presName="bgRect" presStyleLbl="bgShp" presStyleIdx="0" presStyleCnt="3" custScaleY="130825"/>
      <dgm:spPr/>
    </dgm:pt>
    <dgm:pt modelId="{F274B907-0234-455E-9A78-8A15701EFF71}" type="pres">
      <dgm:prSet presAssocID="{6B1E6A5F-F46C-44B4-8140-195EC0B9C30C}" presName="iconRect" presStyleLbl="node1" presStyleIdx="0" presStyleCnt="3" custScaleX="103462" custScaleY="233784"/>
      <dgm:spPr>
        <a:blipFill rotWithShape="1">
          <a:blip xmlns:r="http://schemas.openxmlformats.org/officeDocument/2006/relationships" r:embed="rId1"/>
          <a:srcRect/>
          <a:stretch>
            <a:fillRect l="-11000" r="-11000"/>
          </a:stretch>
        </a:blipFill>
        <a:ln>
          <a:noFill/>
        </a:ln>
      </dgm:spPr>
    </dgm:pt>
    <dgm:pt modelId="{42EE4AD9-F3C2-4973-8771-52A623D2E654}" type="pres">
      <dgm:prSet presAssocID="{6B1E6A5F-F46C-44B4-8140-195EC0B9C30C}" presName="spaceRect" presStyleCnt="0"/>
      <dgm:spPr/>
    </dgm:pt>
    <dgm:pt modelId="{51DA7157-D49E-4DEA-9D27-941AD240B3E4}" type="pres">
      <dgm:prSet presAssocID="{6B1E6A5F-F46C-44B4-8140-195EC0B9C30C}" presName="parTx" presStyleLbl="revTx" presStyleIdx="0" presStyleCnt="3" custLinFactNeighborX="2786" custLinFactNeighborY="9694">
        <dgm:presLayoutVars>
          <dgm:chMax val="0"/>
          <dgm:chPref val="0"/>
        </dgm:presLayoutVars>
      </dgm:prSet>
      <dgm:spPr/>
    </dgm:pt>
    <dgm:pt modelId="{2B2A864B-B4D7-424F-8D12-2C79BDC72FC2}" type="pres">
      <dgm:prSet presAssocID="{DE94DBE6-FA52-4B69-BE57-409349EE32B3}" presName="sibTrans" presStyleCnt="0"/>
      <dgm:spPr/>
    </dgm:pt>
    <dgm:pt modelId="{90561F16-1854-4F20-8BF8-18B289F82E41}" type="pres">
      <dgm:prSet presAssocID="{D5E3AF20-6276-4E65-B22E-5489EC588B49}" presName="compNode" presStyleCnt="0"/>
      <dgm:spPr/>
    </dgm:pt>
    <dgm:pt modelId="{0D5B3FB4-EFDE-4E8B-BD3B-C62CC1B0C545}" type="pres">
      <dgm:prSet presAssocID="{D5E3AF20-6276-4E65-B22E-5489EC588B49}" presName="bgRect" presStyleLbl="bgShp" presStyleIdx="1" presStyleCnt="3" custLinFactNeighborX="-1108" custLinFactNeighborY="10860"/>
      <dgm:spPr/>
    </dgm:pt>
    <dgm:pt modelId="{AF6F5355-6B17-4D99-9295-DB3415ABD24A}" type="pres">
      <dgm:prSet presAssocID="{D5E3AF20-6276-4E65-B22E-5489EC588B49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B770691B-AF5E-439E-AFEC-DF54E10F3859}" type="pres">
      <dgm:prSet presAssocID="{D5E3AF20-6276-4E65-B22E-5489EC588B49}" presName="spaceRect" presStyleCnt="0"/>
      <dgm:spPr/>
    </dgm:pt>
    <dgm:pt modelId="{AE0BE9CE-FB12-43A8-B517-51179A07D82C}" type="pres">
      <dgm:prSet presAssocID="{D5E3AF20-6276-4E65-B22E-5489EC588B49}" presName="parTx" presStyleLbl="revTx" presStyleIdx="1" presStyleCnt="3" custLinFactNeighborX="199" custLinFactNeighborY="14298">
        <dgm:presLayoutVars>
          <dgm:chMax val="0"/>
          <dgm:chPref val="0"/>
        </dgm:presLayoutVars>
      </dgm:prSet>
      <dgm:spPr/>
    </dgm:pt>
    <dgm:pt modelId="{FB84A8E2-55A7-4603-A892-087613D81E9F}" type="pres">
      <dgm:prSet presAssocID="{CF1EE06F-7260-4A32-BA4B-1B4C9CD30B3B}" presName="sibTrans" presStyleCnt="0"/>
      <dgm:spPr/>
    </dgm:pt>
    <dgm:pt modelId="{D6ED4B4D-8726-47A8-BB9B-3CC05FF769E8}" type="pres">
      <dgm:prSet presAssocID="{2C666B69-5032-47EA-B5DD-6A39CD1734D6}" presName="compNode" presStyleCnt="0"/>
      <dgm:spPr/>
    </dgm:pt>
    <dgm:pt modelId="{11E5C768-3912-4713-96E0-9D0F57F881C5}" type="pres">
      <dgm:prSet presAssocID="{2C666B69-5032-47EA-B5DD-6A39CD1734D6}" presName="bgRect" presStyleLbl="bgShp" presStyleIdx="2" presStyleCnt="3"/>
      <dgm:spPr/>
    </dgm:pt>
    <dgm:pt modelId="{20489840-2CF2-4DBB-91C9-E836BF922D84}" type="pres">
      <dgm:prSet presAssocID="{2C666B69-5032-47EA-B5DD-6A39CD1734D6}" presName="iconRect" presStyleLbl="node1" presStyleIdx="2" presStyleCnt="3" custScaleX="216006" custScaleY="113351" custLinFactNeighborX="96577" custLinFactNeighborY="-3109"/>
      <dgm:spPr>
        <a:blipFill dpi="0" rotWithShape="1">
          <a:blip xmlns:r="http://schemas.openxmlformats.org/officeDocument/2006/relationships" r:embed="rId4"/>
          <a:srcRect/>
          <a:stretch>
            <a:fillRect l="3935" t="13855" r="3935" b="13855"/>
          </a:stretch>
        </a:blipFill>
        <a:ln>
          <a:noFill/>
        </a:ln>
      </dgm:spPr>
    </dgm:pt>
    <dgm:pt modelId="{744B1818-9F76-40CD-8C1C-BA6B862CF0C2}" type="pres">
      <dgm:prSet presAssocID="{2C666B69-5032-47EA-B5DD-6A39CD1734D6}" presName="spaceRect" presStyleCnt="0"/>
      <dgm:spPr/>
    </dgm:pt>
    <dgm:pt modelId="{6726EA06-44D6-43B4-B089-363E6C00F24A}" type="pres">
      <dgm:prSet presAssocID="{2C666B69-5032-47EA-B5DD-6A39CD1734D6}" presName="parTx" presStyleLbl="revTx" presStyleIdx="2" presStyleCnt="3" custScaleX="68455" custScaleY="91410" custLinFactNeighborX="13220">
        <dgm:presLayoutVars>
          <dgm:chMax val="0"/>
          <dgm:chPref val="0"/>
        </dgm:presLayoutVars>
      </dgm:prSet>
      <dgm:spPr/>
    </dgm:pt>
  </dgm:ptLst>
  <dgm:cxnLst>
    <dgm:cxn modelId="{BB2FC52F-6007-4BFC-8A26-741631678018}" type="presOf" srcId="{FD3DA263-C929-4A59-B062-A0D4D6D2D259}" destId="{CE99AF43-0AEE-4C83-B8B9-4B5DD04E903A}" srcOrd="0" destOrd="0" presId="urn:microsoft.com/office/officeart/2018/2/layout/IconVerticalSolidList"/>
    <dgm:cxn modelId="{71ADE448-AEE8-4A2F-8867-E0D99C85BBC2}" type="presOf" srcId="{D5E3AF20-6276-4E65-B22E-5489EC588B49}" destId="{AE0BE9CE-FB12-43A8-B517-51179A07D82C}" srcOrd="0" destOrd="0" presId="urn:microsoft.com/office/officeart/2018/2/layout/IconVerticalSolidList"/>
    <dgm:cxn modelId="{B8AB634B-0D62-4321-BC50-4916CB5B24BB}" srcId="{FD3DA263-C929-4A59-B062-A0D4D6D2D259}" destId="{6B1E6A5F-F46C-44B4-8140-195EC0B9C30C}" srcOrd="0" destOrd="0" parTransId="{6AA100B5-65EE-4B0D-8974-85FFD5100497}" sibTransId="{DE94DBE6-FA52-4B69-BE57-409349EE32B3}"/>
    <dgm:cxn modelId="{F1859E7F-5C97-44A1-BD65-39548ED02634}" type="presOf" srcId="{2C666B69-5032-47EA-B5DD-6A39CD1734D6}" destId="{6726EA06-44D6-43B4-B089-363E6C00F24A}" srcOrd="0" destOrd="0" presId="urn:microsoft.com/office/officeart/2018/2/layout/IconVerticalSolidList"/>
    <dgm:cxn modelId="{EFBEA8BA-C266-40BD-AD79-E8E7AC3E224F}" srcId="{FD3DA263-C929-4A59-B062-A0D4D6D2D259}" destId="{D5E3AF20-6276-4E65-B22E-5489EC588B49}" srcOrd="1" destOrd="0" parTransId="{AE5DF13D-69D0-4E47-930D-0F77DAD8CF74}" sibTransId="{CF1EE06F-7260-4A32-BA4B-1B4C9CD30B3B}"/>
    <dgm:cxn modelId="{1971C2DC-4308-41C5-99D8-62A05779B31C}" type="presOf" srcId="{6B1E6A5F-F46C-44B4-8140-195EC0B9C30C}" destId="{51DA7157-D49E-4DEA-9D27-941AD240B3E4}" srcOrd="0" destOrd="0" presId="urn:microsoft.com/office/officeart/2018/2/layout/IconVerticalSolidList"/>
    <dgm:cxn modelId="{6F9D02FD-7164-4973-BD03-7AFD24D688C6}" srcId="{FD3DA263-C929-4A59-B062-A0D4D6D2D259}" destId="{2C666B69-5032-47EA-B5DD-6A39CD1734D6}" srcOrd="2" destOrd="0" parTransId="{E13A1FFA-1572-4FD3-A51A-115A08B0D021}" sibTransId="{D59E25CB-8F09-491F-865C-8A773BDDD9B4}"/>
    <dgm:cxn modelId="{6B24BDB8-3D84-4C77-AEB6-D0BEC952E12C}" type="presParOf" srcId="{CE99AF43-0AEE-4C83-B8B9-4B5DD04E903A}" destId="{CEA9ECF9-6A63-4565-8CCB-0891EB58528D}" srcOrd="0" destOrd="0" presId="urn:microsoft.com/office/officeart/2018/2/layout/IconVerticalSolidList"/>
    <dgm:cxn modelId="{4A5D34B0-5ADA-4B40-AEA8-D63DCA7B2AB1}" type="presParOf" srcId="{CEA9ECF9-6A63-4565-8CCB-0891EB58528D}" destId="{DF04535A-EFA0-4488-BB9A-3401240D77A3}" srcOrd="0" destOrd="0" presId="urn:microsoft.com/office/officeart/2018/2/layout/IconVerticalSolidList"/>
    <dgm:cxn modelId="{274BD651-E3ED-4746-84FA-0F303801B7C6}" type="presParOf" srcId="{CEA9ECF9-6A63-4565-8CCB-0891EB58528D}" destId="{F274B907-0234-455E-9A78-8A15701EFF71}" srcOrd="1" destOrd="0" presId="urn:microsoft.com/office/officeart/2018/2/layout/IconVerticalSolidList"/>
    <dgm:cxn modelId="{81E9024A-E8DE-47B0-8D50-39ADE6C760B1}" type="presParOf" srcId="{CEA9ECF9-6A63-4565-8CCB-0891EB58528D}" destId="{42EE4AD9-F3C2-4973-8771-52A623D2E654}" srcOrd="2" destOrd="0" presId="urn:microsoft.com/office/officeart/2018/2/layout/IconVerticalSolidList"/>
    <dgm:cxn modelId="{19A71DA3-BDC7-404D-9904-75407C332E51}" type="presParOf" srcId="{CEA9ECF9-6A63-4565-8CCB-0891EB58528D}" destId="{51DA7157-D49E-4DEA-9D27-941AD240B3E4}" srcOrd="3" destOrd="0" presId="urn:microsoft.com/office/officeart/2018/2/layout/IconVerticalSolidList"/>
    <dgm:cxn modelId="{54D1A8C9-FB27-475B-8D25-C51D25790B85}" type="presParOf" srcId="{CE99AF43-0AEE-4C83-B8B9-4B5DD04E903A}" destId="{2B2A864B-B4D7-424F-8D12-2C79BDC72FC2}" srcOrd="1" destOrd="0" presId="urn:microsoft.com/office/officeart/2018/2/layout/IconVerticalSolidList"/>
    <dgm:cxn modelId="{B57D3D88-6FA7-4558-A533-981F509A57A7}" type="presParOf" srcId="{CE99AF43-0AEE-4C83-B8B9-4B5DD04E903A}" destId="{90561F16-1854-4F20-8BF8-18B289F82E41}" srcOrd="2" destOrd="0" presId="urn:microsoft.com/office/officeart/2018/2/layout/IconVerticalSolidList"/>
    <dgm:cxn modelId="{18BF40C8-BBCF-4B81-BF57-7D96595344A7}" type="presParOf" srcId="{90561F16-1854-4F20-8BF8-18B289F82E41}" destId="{0D5B3FB4-EFDE-4E8B-BD3B-C62CC1B0C545}" srcOrd="0" destOrd="0" presId="urn:microsoft.com/office/officeart/2018/2/layout/IconVerticalSolidList"/>
    <dgm:cxn modelId="{6ECCDFAE-CF48-4E8A-A400-52443BC0CCD8}" type="presParOf" srcId="{90561F16-1854-4F20-8BF8-18B289F82E41}" destId="{AF6F5355-6B17-4D99-9295-DB3415ABD24A}" srcOrd="1" destOrd="0" presId="urn:microsoft.com/office/officeart/2018/2/layout/IconVerticalSolidList"/>
    <dgm:cxn modelId="{E871EA7E-795D-484B-8D48-F9C642B6D4E6}" type="presParOf" srcId="{90561F16-1854-4F20-8BF8-18B289F82E41}" destId="{B770691B-AF5E-439E-AFEC-DF54E10F3859}" srcOrd="2" destOrd="0" presId="urn:microsoft.com/office/officeart/2018/2/layout/IconVerticalSolidList"/>
    <dgm:cxn modelId="{719FE26A-7D24-46FD-A5B5-8264FE4E882E}" type="presParOf" srcId="{90561F16-1854-4F20-8BF8-18B289F82E41}" destId="{AE0BE9CE-FB12-43A8-B517-51179A07D82C}" srcOrd="3" destOrd="0" presId="urn:microsoft.com/office/officeart/2018/2/layout/IconVerticalSolidList"/>
    <dgm:cxn modelId="{B2380BB4-6F96-4B00-A47C-FC0A932945E3}" type="presParOf" srcId="{CE99AF43-0AEE-4C83-B8B9-4B5DD04E903A}" destId="{FB84A8E2-55A7-4603-A892-087613D81E9F}" srcOrd="3" destOrd="0" presId="urn:microsoft.com/office/officeart/2018/2/layout/IconVerticalSolidList"/>
    <dgm:cxn modelId="{D61CDB81-48EC-4487-BEEE-63AD60187385}" type="presParOf" srcId="{CE99AF43-0AEE-4C83-B8B9-4B5DD04E903A}" destId="{D6ED4B4D-8726-47A8-BB9B-3CC05FF769E8}" srcOrd="4" destOrd="0" presId="urn:microsoft.com/office/officeart/2018/2/layout/IconVerticalSolidList"/>
    <dgm:cxn modelId="{7CC20C19-7DA4-499A-80A4-8673AD4EB7A7}" type="presParOf" srcId="{D6ED4B4D-8726-47A8-BB9B-3CC05FF769E8}" destId="{11E5C768-3912-4713-96E0-9D0F57F881C5}" srcOrd="0" destOrd="0" presId="urn:microsoft.com/office/officeart/2018/2/layout/IconVerticalSolidList"/>
    <dgm:cxn modelId="{46DDE789-208C-4040-BFD7-19B74C7F61F6}" type="presParOf" srcId="{D6ED4B4D-8726-47A8-BB9B-3CC05FF769E8}" destId="{20489840-2CF2-4DBB-91C9-E836BF922D84}" srcOrd="1" destOrd="0" presId="urn:microsoft.com/office/officeart/2018/2/layout/IconVerticalSolidList"/>
    <dgm:cxn modelId="{3358D4BE-0D50-4474-AB1A-C808204CC20B}" type="presParOf" srcId="{D6ED4B4D-8726-47A8-BB9B-3CC05FF769E8}" destId="{744B1818-9F76-40CD-8C1C-BA6B862CF0C2}" srcOrd="2" destOrd="0" presId="urn:microsoft.com/office/officeart/2018/2/layout/IconVerticalSolidList"/>
    <dgm:cxn modelId="{4579B24D-3C00-4EDC-9FB7-09AB02AE99E8}" type="presParOf" srcId="{D6ED4B4D-8726-47A8-BB9B-3CC05FF769E8}" destId="{6726EA06-44D6-43B4-B089-363E6C00F2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5FA3EA-A47E-4640-8206-2F44790E5C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6052537-328F-4421-96E7-8B87450E2899}">
      <dgm:prSet custT="1"/>
      <dgm:spPr/>
      <dgm:t>
        <a:bodyPr/>
        <a:lstStyle/>
        <a:p>
          <a:pPr algn="ctr"/>
          <a:r>
            <a:rPr lang="en-US" sz="2400" b="1" i="0" baseline="0" dirty="0"/>
            <a:t>Nokia 2110</a:t>
          </a:r>
          <a:r>
            <a:rPr lang="en-US" sz="2400" b="0" i="0" baseline="0" dirty="0"/>
            <a:t> released in </a:t>
          </a:r>
          <a:r>
            <a:rPr lang="en-US" sz="2400" b="1" i="0" baseline="0" dirty="0"/>
            <a:t>1994</a:t>
          </a:r>
          <a:r>
            <a:rPr lang="en-US" sz="2400" b="0" i="0" baseline="0" dirty="0"/>
            <a:t>. [2]</a:t>
          </a:r>
          <a:endParaRPr lang="en-US" sz="2400" dirty="0"/>
        </a:p>
      </dgm:t>
    </dgm:pt>
    <dgm:pt modelId="{2AFCF89D-11D9-43AA-A54C-CCC4ECEEA747}" type="parTrans" cxnId="{F5E1F2E4-0B57-4CEE-86B6-6277DA2CBD62}">
      <dgm:prSet/>
      <dgm:spPr/>
      <dgm:t>
        <a:bodyPr/>
        <a:lstStyle/>
        <a:p>
          <a:endParaRPr lang="en-US"/>
        </a:p>
      </dgm:t>
    </dgm:pt>
    <dgm:pt modelId="{A96A9F65-886D-4908-9EBE-95FC575E2515}" type="sibTrans" cxnId="{F5E1F2E4-0B57-4CEE-86B6-6277DA2CBD62}">
      <dgm:prSet/>
      <dgm:spPr/>
      <dgm:t>
        <a:bodyPr/>
        <a:lstStyle/>
        <a:p>
          <a:endParaRPr lang="en-US"/>
        </a:p>
      </dgm:t>
    </dgm:pt>
    <dgm:pt modelId="{801B4E4B-2C95-46E4-B54C-B9658B2549AD}">
      <dgm:prSet custT="1"/>
      <dgm:spPr/>
      <dgm:t>
        <a:bodyPr/>
        <a:lstStyle/>
        <a:p>
          <a:r>
            <a:rPr lang="en-US" sz="2400" b="0" i="0" baseline="0" dirty="0"/>
            <a:t>The Nokia 2110 is documented as the </a:t>
          </a:r>
          <a:r>
            <a:rPr lang="en-US" sz="2400" b="1" i="0" baseline="0" dirty="0"/>
            <a:t>first phone to feature the iconic Nokia ringtone</a:t>
          </a:r>
          <a:r>
            <a:rPr lang="en-US" sz="2400" b="0" i="0" baseline="0" dirty="0"/>
            <a:t> (“Nokia ringtone”). [2]</a:t>
          </a:r>
          <a:endParaRPr lang="en-US" sz="2400" dirty="0"/>
        </a:p>
      </dgm:t>
    </dgm:pt>
    <dgm:pt modelId="{64EB1B23-0EE5-401E-B720-3B2CDD137872}" type="parTrans" cxnId="{93170BD5-7893-4350-B6B2-8C4AF0B4E666}">
      <dgm:prSet/>
      <dgm:spPr/>
      <dgm:t>
        <a:bodyPr/>
        <a:lstStyle/>
        <a:p>
          <a:endParaRPr lang="en-US"/>
        </a:p>
      </dgm:t>
    </dgm:pt>
    <dgm:pt modelId="{C376FFA8-C2F6-49B4-9588-273BDEA7CAE2}" type="sibTrans" cxnId="{93170BD5-7893-4350-B6B2-8C4AF0B4E666}">
      <dgm:prSet/>
      <dgm:spPr/>
      <dgm:t>
        <a:bodyPr/>
        <a:lstStyle/>
        <a:p>
          <a:endParaRPr lang="en-US"/>
        </a:p>
      </dgm:t>
    </dgm:pt>
    <dgm:pt modelId="{4A77CCA2-EA00-4DFB-B1F6-CAB0352C0B65}">
      <dgm:prSet custT="1"/>
      <dgm:spPr/>
      <dgm:t>
        <a:bodyPr/>
        <a:lstStyle/>
        <a:p>
          <a:pPr algn="just"/>
          <a:r>
            <a:rPr lang="en-US" sz="2000" b="0" i="0" baseline="0" dirty="0"/>
            <a:t>This provides evidence of </a:t>
          </a:r>
          <a:r>
            <a:rPr lang="en-US" sz="2000" b="1" i="0" baseline="0" dirty="0"/>
            <a:t>distinctive, repeatable recognition cues</a:t>
          </a:r>
          <a:r>
            <a:rPr lang="en-US" sz="2000" b="0" i="0" baseline="0" dirty="0"/>
            <a:t> tied to Nokia consumer handsets (auditory brand identifier embedded in the product). [2]</a:t>
          </a:r>
          <a:endParaRPr lang="en-US" sz="2000" dirty="0"/>
        </a:p>
      </dgm:t>
    </dgm:pt>
    <dgm:pt modelId="{AA62F68F-F83C-4FA5-803F-0C50D44B3F28}" type="parTrans" cxnId="{046B1D3C-615A-467A-AF3C-61AC1446807C}">
      <dgm:prSet/>
      <dgm:spPr/>
      <dgm:t>
        <a:bodyPr/>
        <a:lstStyle/>
        <a:p>
          <a:endParaRPr lang="en-US"/>
        </a:p>
      </dgm:t>
    </dgm:pt>
    <dgm:pt modelId="{1268CB1B-50E6-48C5-A2F5-F97814DE2154}" type="sibTrans" cxnId="{046B1D3C-615A-467A-AF3C-61AC1446807C}">
      <dgm:prSet/>
      <dgm:spPr/>
      <dgm:t>
        <a:bodyPr/>
        <a:lstStyle/>
        <a:p>
          <a:endParaRPr lang="en-US"/>
        </a:p>
      </dgm:t>
    </dgm:pt>
    <dgm:pt modelId="{9124B056-5F16-48A1-805A-9669F5AC1D85}" type="pres">
      <dgm:prSet presAssocID="{1C5FA3EA-A47E-4640-8206-2F44790E5C22}" presName="root" presStyleCnt="0">
        <dgm:presLayoutVars>
          <dgm:dir/>
          <dgm:resizeHandles val="exact"/>
        </dgm:presLayoutVars>
      </dgm:prSet>
      <dgm:spPr/>
    </dgm:pt>
    <dgm:pt modelId="{7F660486-E794-4A2B-B15E-F30D6308AC0C}" type="pres">
      <dgm:prSet presAssocID="{16052537-328F-4421-96E7-8B87450E2899}" presName="compNode" presStyleCnt="0"/>
      <dgm:spPr/>
    </dgm:pt>
    <dgm:pt modelId="{8D64DF56-63DB-4EA9-BFCF-D0F8C1CE2E25}" type="pres">
      <dgm:prSet presAssocID="{16052537-328F-4421-96E7-8B87450E2899}" presName="bgRect" presStyleLbl="bgShp" presStyleIdx="0" presStyleCnt="3"/>
      <dgm:spPr/>
    </dgm:pt>
    <dgm:pt modelId="{C8474FBF-B413-4BB7-8943-EBEDA2E7D2CD}" type="pres">
      <dgm:prSet presAssocID="{16052537-328F-4421-96E7-8B87450E2899}" presName="iconRect" presStyleLbl="node1" presStyleIdx="0" presStyleCnt="3" custAng="0" custScaleX="135372" custScaleY="177025" custLinFactNeighborY="-18094"/>
      <dgm:spPr>
        <a:blipFill dpi="0" rotWithShape="1">
          <a:blip xmlns:r="http://schemas.openxmlformats.org/officeDocument/2006/relationships" r:embed="rId1"/>
          <a:srcRect/>
          <a:stretch>
            <a:fillRect t="-8823" b="-8823"/>
          </a:stretch>
        </a:blipFill>
        <a:ln>
          <a:noFill/>
        </a:ln>
      </dgm:spPr>
    </dgm:pt>
    <dgm:pt modelId="{26D0A277-975E-42FC-9F61-CDA87CAAA103}" type="pres">
      <dgm:prSet presAssocID="{16052537-328F-4421-96E7-8B87450E2899}" presName="spaceRect" presStyleCnt="0"/>
      <dgm:spPr/>
    </dgm:pt>
    <dgm:pt modelId="{6FE31B91-6179-4B9F-898B-77CAC1E34D26}" type="pres">
      <dgm:prSet presAssocID="{16052537-328F-4421-96E7-8B87450E2899}" presName="parTx" presStyleLbl="revTx" presStyleIdx="0" presStyleCnt="3">
        <dgm:presLayoutVars>
          <dgm:chMax val="0"/>
          <dgm:chPref val="0"/>
        </dgm:presLayoutVars>
      </dgm:prSet>
      <dgm:spPr/>
    </dgm:pt>
    <dgm:pt modelId="{D463A209-14CF-40EC-8E02-F298CB3F989D}" type="pres">
      <dgm:prSet presAssocID="{A96A9F65-886D-4908-9EBE-95FC575E2515}" presName="sibTrans" presStyleCnt="0"/>
      <dgm:spPr/>
    </dgm:pt>
    <dgm:pt modelId="{BB5C0993-C6D4-4478-B334-AA72115AABFD}" type="pres">
      <dgm:prSet presAssocID="{801B4E4B-2C95-46E4-B54C-B9658B2549AD}" presName="compNode" presStyleCnt="0"/>
      <dgm:spPr/>
    </dgm:pt>
    <dgm:pt modelId="{82F9E1BB-A94C-4748-AF70-6AD772E8164E}" type="pres">
      <dgm:prSet presAssocID="{801B4E4B-2C95-46E4-B54C-B9658B2549AD}" presName="bgRect" presStyleLbl="bgShp" presStyleIdx="1" presStyleCnt="3"/>
      <dgm:spPr/>
    </dgm:pt>
    <dgm:pt modelId="{73D51588-59A0-4BA5-9B49-C514B89F0751}" type="pres">
      <dgm:prSet presAssocID="{801B4E4B-2C95-46E4-B54C-B9658B2549AD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C26A72A2-F014-4DFB-9C3B-4A2CADD67C21}" type="pres">
      <dgm:prSet presAssocID="{801B4E4B-2C95-46E4-B54C-B9658B2549AD}" presName="spaceRect" presStyleCnt="0"/>
      <dgm:spPr/>
    </dgm:pt>
    <dgm:pt modelId="{3900AEA4-F74C-4788-8C98-BECFF7F08ED2}" type="pres">
      <dgm:prSet presAssocID="{801B4E4B-2C95-46E4-B54C-B9658B2549AD}" presName="parTx" presStyleLbl="revTx" presStyleIdx="1" presStyleCnt="3">
        <dgm:presLayoutVars>
          <dgm:chMax val="0"/>
          <dgm:chPref val="0"/>
        </dgm:presLayoutVars>
      </dgm:prSet>
      <dgm:spPr/>
    </dgm:pt>
    <dgm:pt modelId="{316D2CA3-241C-4854-B96C-26D7909AC8DE}" type="pres">
      <dgm:prSet presAssocID="{C376FFA8-C2F6-49B4-9588-273BDEA7CAE2}" presName="sibTrans" presStyleCnt="0"/>
      <dgm:spPr/>
    </dgm:pt>
    <dgm:pt modelId="{777DF88D-8813-4D90-A535-6915D33FDDAB}" type="pres">
      <dgm:prSet presAssocID="{4A77CCA2-EA00-4DFB-B1F6-CAB0352C0B65}" presName="compNode" presStyleCnt="0"/>
      <dgm:spPr/>
    </dgm:pt>
    <dgm:pt modelId="{93EB01A6-5548-4E55-9EA7-894217A5FFD2}" type="pres">
      <dgm:prSet presAssocID="{4A77CCA2-EA00-4DFB-B1F6-CAB0352C0B65}" presName="bgRect" presStyleLbl="bgShp" presStyleIdx="2" presStyleCnt="3"/>
      <dgm:spPr/>
    </dgm:pt>
    <dgm:pt modelId="{EE110E84-5219-4568-A5FF-B0E36ABE7DD9}" type="pres">
      <dgm:prSet presAssocID="{4A77CCA2-EA00-4DFB-B1F6-CAB0352C0B65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6DED501-0E54-488D-A153-C8D47312B59A}" type="pres">
      <dgm:prSet presAssocID="{4A77CCA2-EA00-4DFB-B1F6-CAB0352C0B65}" presName="spaceRect" presStyleCnt="0"/>
      <dgm:spPr/>
    </dgm:pt>
    <dgm:pt modelId="{39F99F1E-F6E2-4C36-8F54-0B90A8C06E37}" type="pres">
      <dgm:prSet presAssocID="{4A77CCA2-EA00-4DFB-B1F6-CAB0352C0B6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6B1D3C-615A-467A-AF3C-61AC1446807C}" srcId="{1C5FA3EA-A47E-4640-8206-2F44790E5C22}" destId="{4A77CCA2-EA00-4DFB-B1F6-CAB0352C0B65}" srcOrd="2" destOrd="0" parTransId="{AA62F68F-F83C-4FA5-803F-0C50D44B3F28}" sibTransId="{1268CB1B-50E6-48C5-A2F5-F97814DE2154}"/>
    <dgm:cxn modelId="{222E7340-9112-4093-B8A5-6C8528BC48C9}" type="presOf" srcId="{4A77CCA2-EA00-4DFB-B1F6-CAB0352C0B65}" destId="{39F99F1E-F6E2-4C36-8F54-0B90A8C06E37}" srcOrd="0" destOrd="0" presId="urn:microsoft.com/office/officeart/2018/2/layout/IconVerticalSolidList"/>
    <dgm:cxn modelId="{7A2FC660-5629-4756-BE72-53B548EAB72F}" type="presOf" srcId="{1C5FA3EA-A47E-4640-8206-2F44790E5C22}" destId="{9124B056-5F16-48A1-805A-9669F5AC1D85}" srcOrd="0" destOrd="0" presId="urn:microsoft.com/office/officeart/2018/2/layout/IconVerticalSolidList"/>
    <dgm:cxn modelId="{63738C87-CCBA-4550-97AB-A2C3E7F744B1}" type="presOf" srcId="{801B4E4B-2C95-46E4-B54C-B9658B2549AD}" destId="{3900AEA4-F74C-4788-8C98-BECFF7F08ED2}" srcOrd="0" destOrd="0" presId="urn:microsoft.com/office/officeart/2018/2/layout/IconVerticalSolidList"/>
    <dgm:cxn modelId="{74019FBA-12D0-4854-A64E-CB4521C2FC6A}" type="presOf" srcId="{16052537-328F-4421-96E7-8B87450E2899}" destId="{6FE31B91-6179-4B9F-898B-77CAC1E34D26}" srcOrd="0" destOrd="0" presId="urn:microsoft.com/office/officeart/2018/2/layout/IconVerticalSolidList"/>
    <dgm:cxn modelId="{93170BD5-7893-4350-B6B2-8C4AF0B4E666}" srcId="{1C5FA3EA-A47E-4640-8206-2F44790E5C22}" destId="{801B4E4B-2C95-46E4-B54C-B9658B2549AD}" srcOrd="1" destOrd="0" parTransId="{64EB1B23-0EE5-401E-B720-3B2CDD137872}" sibTransId="{C376FFA8-C2F6-49B4-9588-273BDEA7CAE2}"/>
    <dgm:cxn modelId="{F5E1F2E4-0B57-4CEE-86B6-6277DA2CBD62}" srcId="{1C5FA3EA-A47E-4640-8206-2F44790E5C22}" destId="{16052537-328F-4421-96E7-8B87450E2899}" srcOrd="0" destOrd="0" parTransId="{2AFCF89D-11D9-43AA-A54C-CCC4ECEEA747}" sibTransId="{A96A9F65-886D-4908-9EBE-95FC575E2515}"/>
    <dgm:cxn modelId="{B4171E30-B8CD-44A9-A508-3E5DF9DFF6E2}" type="presParOf" srcId="{9124B056-5F16-48A1-805A-9669F5AC1D85}" destId="{7F660486-E794-4A2B-B15E-F30D6308AC0C}" srcOrd="0" destOrd="0" presId="urn:microsoft.com/office/officeart/2018/2/layout/IconVerticalSolidList"/>
    <dgm:cxn modelId="{E4D48C1E-8D42-4A69-A2B5-EED68F1D7F2C}" type="presParOf" srcId="{7F660486-E794-4A2B-B15E-F30D6308AC0C}" destId="{8D64DF56-63DB-4EA9-BFCF-D0F8C1CE2E25}" srcOrd="0" destOrd="0" presId="urn:microsoft.com/office/officeart/2018/2/layout/IconVerticalSolidList"/>
    <dgm:cxn modelId="{9DDD92FA-557E-455E-BD60-4DA0FD5DDB92}" type="presParOf" srcId="{7F660486-E794-4A2B-B15E-F30D6308AC0C}" destId="{C8474FBF-B413-4BB7-8943-EBEDA2E7D2CD}" srcOrd="1" destOrd="0" presId="urn:microsoft.com/office/officeart/2018/2/layout/IconVerticalSolidList"/>
    <dgm:cxn modelId="{34CA4E55-2C9A-4BA7-96F6-A6E2BA862F8C}" type="presParOf" srcId="{7F660486-E794-4A2B-B15E-F30D6308AC0C}" destId="{26D0A277-975E-42FC-9F61-CDA87CAAA103}" srcOrd="2" destOrd="0" presId="urn:microsoft.com/office/officeart/2018/2/layout/IconVerticalSolidList"/>
    <dgm:cxn modelId="{CC7901CE-1D66-46D6-8CDD-E803CA344FD3}" type="presParOf" srcId="{7F660486-E794-4A2B-B15E-F30D6308AC0C}" destId="{6FE31B91-6179-4B9F-898B-77CAC1E34D26}" srcOrd="3" destOrd="0" presId="urn:microsoft.com/office/officeart/2018/2/layout/IconVerticalSolidList"/>
    <dgm:cxn modelId="{83924F71-032E-41FA-A728-CC55B3A44B43}" type="presParOf" srcId="{9124B056-5F16-48A1-805A-9669F5AC1D85}" destId="{D463A209-14CF-40EC-8E02-F298CB3F989D}" srcOrd="1" destOrd="0" presId="urn:microsoft.com/office/officeart/2018/2/layout/IconVerticalSolidList"/>
    <dgm:cxn modelId="{8AD9B200-E457-4269-A6FB-B440F87B0603}" type="presParOf" srcId="{9124B056-5F16-48A1-805A-9669F5AC1D85}" destId="{BB5C0993-C6D4-4478-B334-AA72115AABFD}" srcOrd="2" destOrd="0" presId="urn:microsoft.com/office/officeart/2018/2/layout/IconVerticalSolidList"/>
    <dgm:cxn modelId="{95510DCA-7C0A-4342-A9BF-44DC9C0BA2C8}" type="presParOf" srcId="{BB5C0993-C6D4-4478-B334-AA72115AABFD}" destId="{82F9E1BB-A94C-4748-AF70-6AD772E8164E}" srcOrd="0" destOrd="0" presId="urn:microsoft.com/office/officeart/2018/2/layout/IconVerticalSolidList"/>
    <dgm:cxn modelId="{43D22427-8E79-4F20-A5D1-C5D9E4168885}" type="presParOf" srcId="{BB5C0993-C6D4-4478-B334-AA72115AABFD}" destId="{73D51588-59A0-4BA5-9B49-C514B89F0751}" srcOrd="1" destOrd="0" presId="urn:microsoft.com/office/officeart/2018/2/layout/IconVerticalSolidList"/>
    <dgm:cxn modelId="{08B094AD-E224-40F6-853A-CCEC14C286F7}" type="presParOf" srcId="{BB5C0993-C6D4-4478-B334-AA72115AABFD}" destId="{C26A72A2-F014-4DFB-9C3B-4A2CADD67C21}" srcOrd="2" destOrd="0" presId="urn:microsoft.com/office/officeart/2018/2/layout/IconVerticalSolidList"/>
    <dgm:cxn modelId="{61A9FD17-10B7-4EF3-9F9D-12253B1007B3}" type="presParOf" srcId="{BB5C0993-C6D4-4478-B334-AA72115AABFD}" destId="{3900AEA4-F74C-4788-8C98-BECFF7F08ED2}" srcOrd="3" destOrd="0" presId="urn:microsoft.com/office/officeart/2018/2/layout/IconVerticalSolidList"/>
    <dgm:cxn modelId="{F0525125-AD3C-486E-BA70-D480A9B38E39}" type="presParOf" srcId="{9124B056-5F16-48A1-805A-9669F5AC1D85}" destId="{316D2CA3-241C-4854-B96C-26D7909AC8DE}" srcOrd="3" destOrd="0" presId="urn:microsoft.com/office/officeart/2018/2/layout/IconVerticalSolidList"/>
    <dgm:cxn modelId="{0BB9BAB1-4E8B-4D0C-8F2C-97F9308AF436}" type="presParOf" srcId="{9124B056-5F16-48A1-805A-9669F5AC1D85}" destId="{777DF88D-8813-4D90-A535-6915D33FDDAB}" srcOrd="4" destOrd="0" presId="urn:microsoft.com/office/officeart/2018/2/layout/IconVerticalSolidList"/>
    <dgm:cxn modelId="{F282B46C-0F78-4843-956B-948BD5EC878E}" type="presParOf" srcId="{777DF88D-8813-4D90-A535-6915D33FDDAB}" destId="{93EB01A6-5548-4E55-9EA7-894217A5FFD2}" srcOrd="0" destOrd="0" presId="urn:microsoft.com/office/officeart/2018/2/layout/IconVerticalSolidList"/>
    <dgm:cxn modelId="{436115D6-7D74-464B-B425-73313165B929}" type="presParOf" srcId="{777DF88D-8813-4D90-A535-6915D33FDDAB}" destId="{EE110E84-5219-4568-A5FF-B0E36ABE7DD9}" srcOrd="1" destOrd="0" presId="urn:microsoft.com/office/officeart/2018/2/layout/IconVerticalSolidList"/>
    <dgm:cxn modelId="{65699467-2B68-4348-8D05-A796A24CFC30}" type="presParOf" srcId="{777DF88D-8813-4D90-A535-6915D33FDDAB}" destId="{D6DED501-0E54-488D-A153-C8D47312B59A}" srcOrd="2" destOrd="0" presId="urn:microsoft.com/office/officeart/2018/2/layout/IconVerticalSolidList"/>
    <dgm:cxn modelId="{28FC2C24-6F82-46DF-87F2-695B77F2AFFC}" type="presParOf" srcId="{777DF88D-8813-4D90-A535-6915D33FDDAB}" destId="{39F99F1E-F6E2-4C36-8F54-0B90A8C06E37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C52A48-EFDF-43BB-9D63-6F533432BEE9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64D50CE-5788-4773-B089-F0B206B18278}">
      <dgm:prSet/>
      <dgm:spPr/>
      <dgm:t>
        <a:bodyPr/>
        <a:lstStyle/>
        <a:p>
          <a:r>
            <a:rPr lang="en-US" b="0" i="0" baseline="0" dirty="0"/>
            <a:t>The game </a:t>
          </a:r>
          <a:r>
            <a:rPr lang="en-US" b="1" i="0" baseline="0" dirty="0"/>
            <a:t>Snake</a:t>
          </a:r>
          <a:r>
            <a:rPr lang="en-US" b="0" i="0" baseline="0" dirty="0"/>
            <a:t> appeared on the </a:t>
          </a:r>
          <a:r>
            <a:rPr lang="en-US" b="1" i="0" baseline="0" dirty="0"/>
            <a:t>Nokia 6110</a:t>
          </a:r>
          <a:r>
            <a:rPr lang="en-US" b="0" i="0" baseline="0" dirty="0"/>
            <a:t> in </a:t>
          </a:r>
          <a:r>
            <a:rPr lang="en-US" b="1" i="0" baseline="0" dirty="0"/>
            <a:t>1997</a:t>
          </a:r>
          <a:r>
            <a:rPr lang="en-US" b="0" i="0" baseline="0" dirty="0"/>
            <a:t>. [3]</a:t>
          </a:r>
          <a:endParaRPr lang="en-US" dirty="0"/>
        </a:p>
      </dgm:t>
    </dgm:pt>
    <dgm:pt modelId="{8C51B184-DE29-4A7A-A00D-5CEC83F959B6}" type="parTrans" cxnId="{FBB90D4F-EA1C-4DDC-8572-9EB39A7472F6}">
      <dgm:prSet/>
      <dgm:spPr/>
      <dgm:t>
        <a:bodyPr/>
        <a:lstStyle/>
        <a:p>
          <a:endParaRPr lang="en-US"/>
        </a:p>
      </dgm:t>
    </dgm:pt>
    <dgm:pt modelId="{1A977684-D4FF-4E58-92F9-9B410DB32BC4}" type="sibTrans" cxnId="{FBB90D4F-EA1C-4DDC-8572-9EB39A7472F6}">
      <dgm:prSet/>
      <dgm:spPr/>
      <dgm:t>
        <a:bodyPr/>
        <a:lstStyle/>
        <a:p>
          <a:endParaRPr lang="en-US"/>
        </a:p>
      </dgm:t>
    </dgm:pt>
    <dgm:pt modelId="{595E88CA-F966-4671-85F4-12C9EE206EC7}">
      <dgm:prSet custT="1"/>
      <dgm:spPr/>
      <dgm:t>
        <a:bodyPr/>
        <a:lstStyle/>
        <a:p>
          <a:pPr algn="ctr"/>
          <a:r>
            <a:rPr lang="en-US" sz="2000" b="0" i="0" baseline="0" dirty="0"/>
            <a:t>This is documented in major business/technology press as a defining Nokia-era mobile experience. [3]</a:t>
          </a:r>
          <a:endParaRPr lang="en-US" sz="2000" dirty="0"/>
        </a:p>
      </dgm:t>
    </dgm:pt>
    <dgm:pt modelId="{BEB3820B-33CD-4300-AC27-6CB9734B9FA0}" type="parTrans" cxnId="{F8E40F58-2D13-46B2-960D-2047352ED0E9}">
      <dgm:prSet/>
      <dgm:spPr/>
      <dgm:t>
        <a:bodyPr/>
        <a:lstStyle/>
        <a:p>
          <a:endParaRPr lang="en-US"/>
        </a:p>
      </dgm:t>
    </dgm:pt>
    <dgm:pt modelId="{6411DE38-8746-445F-8EAA-410CAF7DC6DD}" type="sibTrans" cxnId="{F8E40F58-2D13-46B2-960D-2047352ED0E9}">
      <dgm:prSet/>
      <dgm:spPr/>
      <dgm:t>
        <a:bodyPr/>
        <a:lstStyle/>
        <a:p>
          <a:endParaRPr lang="en-US"/>
        </a:p>
      </dgm:t>
    </dgm:pt>
    <dgm:pt modelId="{8C4B5629-5260-4EB9-956F-044C2A58CBE7}">
      <dgm:prSet/>
      <dgm:spPr/>
      <dgm:t>
        <a:bodyPr/>
        <a:lstStyle/>
        <a:p>
          <a:r>
            <a:rPr lang="en-US" b="0" i="0" baseline="0" dirty="0"/>
            <a:t>Snake’s Nokia 6110 deployment is a </a:t>
          </a:r>
          <a:r>
            <a:rPr lang="en-US" b="1" i="0" baseline="0" dirty="0"/>
            <a:t>verified example</a:t>
          </a:r>
          <a:r>
            <a:rPr lang="en-US" b="0" i="0" baseline="0" dirty="0"/>
            <a:t> of a Nokia-linked cultural product feature in the period. [3]</a:t>
          </a:r>
          <a:endParaRPr lang="en-US" dirty="0"/>
        </a:p>
      </dgm:t>
    </dgm:pt>
    <dgm:pt modelId="{EE98F284-B93E-49EA-8CDB-27F7FC8CC4CC}" type="parTrans" cxnId="{87F12814-4B41-49F7-826B-B97F39AA5703}">
      <dgm:prSet/>
      <dgm:spPr/>
      <dgm:t>
        <a:bodyPr/>
        <a:lstStyle/>
        <a:p>
          <a:endParaRPr lang="en-US"/>
        </a:p>
      </dgm:t>
    </dgm:pt>
    <dgm:pt modelId="{CE6E0910-D4C6-42AD-8B2B-996E431790C3}" type="sibTrans" cxnId="{87F12814-4B41-49F7-826B-B97F39AA5703}">
      <dgm:prSet/>
      <dgm:spPr/>
      <dgm:t>
        <a:bodyPr/>
        <a:lstStyle/>
        <a:p>
          <a:endParaRPr lang="en-US"/>
        </a:p>
      </dgm:t>
    </dgm:pt>
    <dgm:pt modelId="{3585F438-978E-4D90-87A9-845E4C9F8013}" type="pres">
      <dgm:prSet presAssocID="{3AC52A48-EFDF-43BB-9D63-6F533432BEE9}" presName="linearFlow" presStyleCnt="0">
        <dgm:presLayoutVars>
          <dgm:dir/>
          <dgm:resizeHandles val="exact"/>
        </dgm:presLayoutVars>
      </dgm:prSet>
      <dgm:spPr/>
    </dgm:pt>
    <dgm:pt modelId="{DE0D7A33-A1FE-4DFB-A3E6-1DEC83581BB4}" type="pres">
      <dgm:prSet presAssocID="{964D50CE-5788-4773-B089-F0B206B18278}" presName="composite" presStyleCnt="0"/>
      <dgm:spPr/>
    </dgm:pt>
    <dgm:pt modelId="{7FBAA331-284E-43E4-9B50-B6CFD56A3E12}" type="pres">
      <dgm:prSet presAssocID="{964D50CE-5788-4773-B089-F0B206B18278}" presName="imgShp" presStyleLbl="fgImgPlace1" presStyleIdx="0" presStyleCnt="3" custScaleX="119445" custScaleY="115358" custLinFactNeighborX="-25076" custLinFactNeighborY="2676"/>
      <dgm:spPr>
        <a:blipFill dpi="0" rotWithShape="1">
          <a:blip xmlns:r="http://schemas.openxmlformats.org/officeDocument/2006/relationships" r:embed="rId1"/>
          <a:srcRect/>
          <a:stretch>
            <a:fillRect l="69" t="2787" r="69" b="2787"/>
          </a:stretch>
        </a:blipFill>
      </dgm:spPr>
    </dgm:pt>
    <dgm:pt modelId="{4A673617-16E4-4964-931E-AD5F3F56014A}" type="pres">
      <dgm:prSet presAssocID="{964D50CE-5788-4773-B089-F0B206B18278}" presName="txShp" presStyleLbl="node1" presStyleIdx="0" presStyleCnt="3">
        <dgm:presLayoutVars>
          <dgm:bulletEnabled val="1"/>
        </dgm:presLayoutVars>
      </dgm:prSet>
      <dgm:spPr>
        <a:prstGeom prst="flowChartAlternateProcess">
          <a:avLst/>
        </a:prstGeom>
      </dgm:spPr>
    </dgm:pt>
    <dgm:pt modelId="{4D8603F0-6C1D-42B8-B0E7-7136DA30E5BF}" type="pres">
      <dgm:prSet presAssocID="{1A977684-D4FF-4E58-92F9-9B410DB32BC4}" presName="spacing" presStyleCnt="0"/>
      <dgm:spPr/>
    </dgm:pt>
    <dgm:pt modelId="{C5014696-0938-4290-B7F6-2B58CDD48909}" type="pres">
      <dgm:prSet presAssocID="{595E88CA-F966-4671-85F4-12C9EE206EC7}" presName="composite" presStyleCnt="0"/>
      <dgm:spPr/>
    </dgm:pt>
    <dgm:pt modelId="{2871F334-04C1-4A92-850F-1CA736CDDBF9}" type="pres">
      <dgm:prSet presAssocID="{595E88CA-F966-4671-85F4-12C9EE206EC7}" presName="imgShp" presStyleLbl="fgImgPlace1" presStyleIdx="1" presStyleCnt="3" custAng="10800000" custFlipVert="1" custScaleX="64803" custScaleY="60028" custLinFactNeighborX="-41096" custLinFactNeighborY="2087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 t="-3000" b="-3000"/>
          </a:stretch>
        </a:blipFill>
      </dgm:spPr>
      <dgm:extLst>
        <a:ext uri="{E40237B7-FDA0-4F09-8148-C483321AD2D9}">
          <dgm14:cNvPr xmlns:dgm14="http://schemas.microsoft.com/office/drawing/2010/diagram" id="0" name="" descr="Ui Ux with solid fill"/>
        </a:ext>
      </dgm:extLst>
    </dgm:pt>
    <dgm:pt modelId="{4B5BA546-02AD-4AD8-801F-0471FF228E86}" type="pres">
      <dgm:prSet presAssocID="{595E88CA-F966-4671-85F4-12C9EE206EC7}" presName="txShp" presStyleLbl="node1" presStyleIdx="1" presStyleCnt="3" custScaleX="120775" custLinFactNeighborX="-2392" custLinFactNeighborY="2232">
        <dgm:presLayoutVars>
          <dgm:bulletEnabled val="1"/>
        </dgm:presLayoutVars>
      </dgm:prSet>
      <dgm:spPr>
        <a:prstGeom prst="flowChartAlternateProcess">
          <a:avLst/>
        </a:prstGeom>
      </dgm:spPr>
    </dgm:pt>
    <dgm:pt modelId="{CB12A0B9-855E-44BE-9B33-A0AC9CA20618}" type="pres">
      <dgm:prSet presAssocID="{6411DE38-8746-445F-8EAA-410CAF7DC6DD}" presName="spacing" presStyleCnt="0"/>
      <dgm:spPr/>
    </dgm:pt>
    <dgm:pt modelId="{E563E4C2-E8DC-4085-BAEA-BEE6C5444DB7}" type="pres">
      <dgm:prSet presAssocID="{8C4B5629-5260-4EB9-956F-044C2A58CBE7}" presName="composite" presStyleCnt="0"/>
      <dgm:spPr/>
    </dgm:pt>
    <dgm:pt modelId="{657816A9-1E77-48A9-B1A6-20CB1A3FCBFE}" type="pres">
      <dgm:prSet presAssocID="{8C4B5629-5260-4EB9-956F-044C2A58CBE7}" presName="imgShp" presStyleLbl="fgImgPlace1" presStyleIdx="2" presStyleCnt="3" custScaleX="134111" custScaleY="134111" custLinFactNeighborX="-28239"/>
      <dgm:spPr>
        <a:blipFill>
          <a:blip xmlns:r="http://schemas.openxmlformats.org/officeDocument/2006/relationships" r:embed="rId4"/>
          <a:srcRect/>
          <a:stretch>
            <a:fillRect l="-7000" r="-7000"/>
          </a:stretch>
        </a:blipFill>
      </dgm:spPr>
    </dgm:pt>
    <dgm:pt modelId="{8389D421-0E56-4DD4-AE8F-D80560A608BC}" type="pres">
      <dgm:prSet presAssocID="{8C4B5629-5260-4EB9-956F-044C2A58CBE7}" presName="txShp" presStyleLbl="node1" presStyleIdx="2" presStyleCnt="3">
        <dgm:presLayoutVars>
          <dgm:bulletEnabled val="1"/>
        </dgm:presLayoutVars>
      </dgm:prSet>
      <dgm:spPr>
        <a:prstGeom prst="flowChartAlternateProcess">
          <a:avLst/>
        </a:prstGeom>
      </dgm:spPr>
    </dgm:pt>
  </dgm:ptLst>
  <dgm:cxnLst>
    <dgm:cxn modelId="{87F12814-4B41-49F7-826B-B97F39AA5703}" srcId="{3AC52A48-EFDF-43BB-9D63-6F533432BEE9}" destId="{8C4B5629-5260-4EB9-956F-044C2A58CBE7}" srcOrd="2" destOrd="0" parTransId="{EE98F284-B93E-49EA-8CDB-27F7FC8CC4CC}" sibTransId="{CE6E0910-D4C6-42AD-8B2B-996E431790C3}"/>
    <dgm:cxn modelId="{B573DF5D-5991-46D0-AFC4-ED1F806F78B2}" type="presOf" srcId="{8C4B5629-5260-4EB9-956F-044C2A58CBE7}" destId="{8389D421-0E56-4DD4-AE8F-D80560A608BC}" srcOrd="0" destOrd="0" presId="urn:microsoft.com/office/officeart/2005/8/layout/vList3"/>
    <dgm:cxn modelId="{40297D4D-1D1E-42CA-90CD-7D23F0877088}" type="presOf" srcId="{595E88CA-F966-4671-85F4-12C9EE206EC7}" destId="{4B5BA546-02AD-4AD8-801F-0471FF228E86}" srcOrd="0" destOrd="0" presId="urn:microsoft.com/office/officeart/2005/8/layout/vList3"/>
    <dgm:cxn modelId="{FBB90D4F-EA1C-4DDC-8572-9EB39A7472F6}" srcId="{3AC52A48-EFDF-43BB-9D63-6F533432BEE9}" destId="{964D50CE-5788-4773-B089-F0B206B18278}" srcOrd="0" destOrd="0" parTransId="{8C51B184-DE29-4A7A-A00D-5CEC83F959B6}" sibTransId="{1A977684-D4FF-4E58-92F9-9B410DB32BC4}"/>
    <dgm:cxn modelId="{91D68A73-1D9F-4C7A-BB9A-D44CADB354AF}" type="presOf" srcId="{964D50CE-5788-4773-B089-F0B206B18278}" destId="{4A673617-16E4-4964-931E-AD5F3F56014A}" srcOrd="0" destOrd="0" presId="urn:microsoft.com/office/officeart/2005/8/layout/vList3"/>
    <dgm:cxn modelId="{F8E40F58-2D13-46B2-960D-2047352ED0E9}" srcId="{3AC52A48-EFDF-43BB-9D63-6F533432BEE9}" destId="{595E88CA-F966-4671-85F4-12C9EE206EC7}" srcOrd="1" destOrd="0" parTransId="{BEB3820B-33CD-4300-AC27-6CB9734B9FA0}" sibTransId="{6411DE38-8746-445F-8EAA-410CAF7DC6DD}"/>
    <dgm:cxn modelId="{D2AC8E94-4A65-48DF-A3CD-EB518A3A95EF}" type="presOf" srcId="{3AC52A48-EFDF-43BB-9D63-6F533432BEE9}" destId="{3585F438-978E-4D90-87A9-845E4C9F8013}" srcOrd="0" destOrd="0" presId="urn:microsoft.com/office/officeart/2005/8/layout/vList3"/>
    <dgm:cxn modelId="{D56D1D5F-3499-4540-999B-A1ED5C26C44C}" type="presParOf" srcId="{3585F438-978E-4D90-87A9-845E4C9F8013}" destId="{DE0D7A33-A1FE-4DFB-A3E6-1DEC83581BB4}" srcOrd="0" destOrd="0" presId="urn:microsoft.com/office/officeart/2005/8/layout/vList3"/>
    <dgm:cxn modelId="{1C0629B4-0A64-4BF6-8692-D3B280806A5C}" type="presParOf" srcId="{DE0D7A33-A1FE-4DFB-A3E6-1DEC83581BB4}" destId="{7FBAA331-284E-43E4-9B50-B6CFD56A3E12}" srcOrd="0" destOrd="0" presId="urn:microsoft.com/office/officeart/2005/8/layout/vList3"/>
    <dgm:cxn modelId="{9D0942C3-5272-4F19-9CB4-3CADB4BC145C}" type="presParOf" srcId="{DE0D7A33-A1FE-4DFB-A3E6-1DEC83581BB4}" destId="{4A673617-16E4-4964-931E-AD5F3F56014A}" srcOrd="1" destOrd="0" presId="urn:microsoft.com/office/officeart/2005/8/layout/vList3"/>
    <dgm:cxn modelId="{486F099E-E71D-425E-97F6-DDA40F23C445}" type="presParOf" srcId="{3585F438-978E-4D90-87A9-845E4C9F8013}" destId="{4D8603F0-6C1D-42B8-B0E7-7136DA30E5BF}" srcOrd="1" destOrd="0" presId="urn:microsoft.com/office/officeart/2005/8/layout/vList3"/>
    <dgm:cxn modelId="{085E57CE-9883-40C0-BCB5-755D1AD948E8}" type="presParOf" srcId="{3585F438-978E-4D90-87A9-845E4C9F8013}" destId="{C5014696-0938-4290-B7F6-2B58CDD48909}" srcOrd="2" destOrd="0" presId="urn:microsoft.com/office/officeart/2005/8/layout/vList3"/>
    <dgm:cxn modelId="{94084355-2F3C-40E6-939E-EC9D53283F1E}" type="presParOf" srcId="{C5014696-0938-4290-B7F6-2B58CDD48909}" destId="{2871F334-04C1-4A92-850F-1CA736CDDBF9}" srcOrd="0" destOrd="0" presId="urn:microsoft.com/office/officeart/2005/8/layout/vList3"/>
    <dgm:cxn modelId="{E37ED078-CCE6-4E39-8C94-5A853E37DC9D}" type="presParOf" srcId="{C5014696-0938-4290-B7F6-2B58CDD48909}" destId="{4B5BA546-02AD-4AD8-801F-0471FF228E86}" srcOrd="1" destOrd="0" presId="urn:microsoft.com/office/officeart/2005/8/layout/vList3"/>
    <dgm:cxn modelId="{B56B332F-BC5D-4A92-AA4D-820277C85113}" type="presParOf" srcId="{3585F438-978E-4D90-87A9-845E4C9F8013}" destId="{CB12A0B9-855E-44BE-9B33-A0AC9CA20618}" srcOrd="3" destOrd="0" presId="urn:microsoft.com/office/officeart/2005/8/layout/vList3"/>
    <dgm:cxn modelId="{633706B3-1983-4242-8AA6-22231A64C762}" type="presParOf" srcId="{3585F438-978E-4D90-87A9-845E4C9F8013}" destId="{E563E4C2-E8DC-4085-BAEA-BEE6C5444DB7}" srcOrd="4" destOrd="0" presId="urn:microsoft.com/office/officeart/2005/8/layout/vList3"/>
    <dgm:cxn modelId="{DF1B9603-8C15-4BE2-8748-8639241EDF1A}" type="presParOf" srcId="{E563E4C2-E8DC-4085-BAEA-BEE6C5444DB7}" destId="{657816A9-1E77-48A9-B1A6-20CB1A3FCBFE}" srcOrd="0" destOrd="0" presId="urn:microsoft.com/office/officeart/2005/8/layout/vList3"/>
    <dgm:cxn modelId="{4F18A963-D0EA-4179-9B90-2E83287F83F9}" type="presParOf" srcId="{E563E4C2-E8DC-4085-BAEA-BEE6C5444DB7}" destId="{8389D421-0E56-4DD4-AE8F-D80560A608B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8CBE3-6AB1-46D3-B653-1587012FE5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60871B-32C2-44C5-B81C-14710E2F6E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/>
            <a:t>3 Sept 2013</a:t>
          </a:r>
        </a:p>
        <a:p>
          <a:pPr>
            <a:lnSpc>
              <a:spcPct val="100000"/>
            </a:lnSpc>
          </a:pPr>
          <a:r>
            <a:rPr lang="en-US" sz="1600" b="0" dirty="0"/>
            <a:t>Microsoft announced an agreement to acquire Nokia’s Devices &amp; Services business (consumer handset business) and to license Nokia patents. [5]</a:t>
          </a:r>
        </a:p>
      </dgm:t>
    </dgm:pt>
    <dgm:pt modelId="{DB70B40F-0A0E-4FCE-86EC-13AE75CE3247}" type="parTrans" cxnId="{B255A8F9-6AEE-4E2E-B34C-BEEF1443A746}">
      <dgm:prSet/>
      <dgm:spPr/>
      <dgm:t>
        <a:bodyPr/>
        <a:lstStyle/>
        <a:p>
          <a:endParaRPr lang="en-US"/>
        </a:p>
      </dgm:t>
    </dgm:pt>
    <dgm:pt modelId="{BC8D3C95-7F57-46F3-A189-5393F93A34DB}" type="sibTrans" cxnId="{B255A8F9-6AEE-4E2E-B34C-BEEF1443A746}">
      <dgm:prSet/>
      <dgm:spPr/>
      <dgm:t>
        <a:bodyPr/>
        <a:lstStyle/>
        <a:p>
          <a:endParaRPr lang="en-US"/>
        </a:p>
      </dgm:t>
    </dgm:pt>
    <dgm:pt modelId="{BAD89502-77F8-4222-A8DF-8F43ED29FE9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/>
            <a:t>25 Apr 2014</a:t>
          </a:r>
        </a:p>
        <a:p>
          <a:pPr>
            <a:lnSpc>
              <a:spcPct val="100000"/>
            </a:lnSpc>
          </a:pPr>
          <a:r>
            <a:rPr lang="en-US" sz="1600" b="0" dirty="0"/>
            <a:t>Nokia announced completion of the sale of substantially all of its Devices &amp; Services business to Microsoft. [6]</a:t>
          </a:r>
        </a:p>
      </dgm:t>
    </dgm:pt>
    <dgm:pt modelId="{B6EF2F5A-B238-4DA0-A3FD-1F700DBC66FA}" type="parTrans" cxnId="{0D3BEE69-2581-4E93-807A-C209E1612684}">
      <dgm:prSet/>
      <dgm:spPr/>
      <dgm:t>
        <a:bodyPr/>
        <a:lstStyle/>
        <a:p>
          <a:endParaRPr lang="en-US"/>
        </a:p>
      </dgm:t>
    </dgm:pt>
    <dgm:pt modelId="{A560B048-DA55-4BE4-AB93-C4FAC656BE9C}" type="sibTrans" cxnId="{0D3BEE69-2581-4E93-807A-C209E1612684}">
      <dgm:prSet/>
      <dgm:spPr/>
      <dgm:t>
        <a:bodyPr/>
        <a:lstStyle/>
        <a:p>
          <a:endParaRPr lang="en-US"/>
        </a:p>
      </dgm:t>
    </dgm:pt>
    <dgm:pt modelId="{AF068ED8-5334-4B3A-8C25-EB3E2B9E09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/>
            <a:t>These announcements provide the verified endpoint for the Nokia-owned consumer handset era in your timeframe. [5], [6]</a:t>
          </a:r>
        </a:p>
      </dgm:t>
    </dgm:pt>
    <dgm:pt modelId="{D4634E87-D4CC-4D2B-832C-2CCA9E5C34D8}" type="parTrans" cxnId="{9791ABFE-608A-41AB-A840-4F7DDEE0C1A8}">
      <dgm:prSet/>
      <dgm:spPr/>
      <dgm:t>
        <a:bodyPr/>
        <a:lstStyle/>
        <a:p>
          <a:endParaRPr lang="en-US"/>
        </a:p>
      </dgm:t>
    </dgm:pt>
    <dgm:pt modelId="{70490E17-8A9E-4136-9B6D-007DA87F3B7A}" type="sibTrans" cxnId="{9791ABFE-608A-41AB-A840-4F7DDEE0C1A8}">
      <dgm:prSet/>
      <dgm:spPr/>
      <dgm:t>
        <a:bodyPr/>
        <a:lstStyle/>
        <a:p>
          <a:endParaRPr lang="en-US"/>
        </a:p>
      </dgm:t>
    </dgm:pt>
    <dgm:pt modelId="{15832E4D-FDE5-44C3-87A6-44049130AF82}" type="pres">
      <dgm:prSet presAssocID="{7558CBE3-6AB1-46D3-B653-1587012FE5E4}" presName="root" presStyleCnt="0">
        <dgm:presLayoutVars>
          <dgm:dir/>
          <dgm:resizeHandles val="exact"/>
        </dgm:presLayoutVars>
      </dgm:prSet>
      <dgm:spPr/>
    </dgm:pt>
    <dgm:pt modelId="{3B904E23-C780-4150-8B1F-831BF53BB860}" type="pres">
      <dgm:prSet presAssocID="{3460871B-32C2-44C5-B81C-14710E2F6E73}" presName="compNode" presStyleCnt="0"/>
      <dgm:spPr/>
    </dgm:pt>
    <dgm:pt modelId="{21DE5258-1EB5-47CB-B534-93601FA40145}" type="pres">
      <dgm:prSet presAssocID="{3460871B-32C2-44C5-B81C-14710E2F6E73}" presName="iconRect" presStyleLbl="node1" presStyleIdx="0" presStyleCnt="3" custScaleX="168780" custScaleY="112520"/>
      <dgm:spPr>
        <a:blipFill dpi="0" rotWithShape="1">
          <a:blip xmlns:r="http://schemas.openxmlformats.org/officeDocument/2006/relationships" r:embed="rId1"/>
          <a:srcRect/>
          <a:stretch>
            <a:fillRect l="-10417" r="-10417"/>
          </a:stretch>
        </a:blipFill>
      </dgm:spPr>
    </dgm:pt>
    <dgm:pt modelId="{09D23398-5C32-4D59-BA5D-CFAE86460A1B}" type="pres">
      <dgm:prSet presAssocID="{3460871B-32C2-44C5-B81C-14710E2F6E73}" presName="spaceRect" presStyleCnt="0"/>
      <dgm:spPr/>
    </dgm:pt>
    <dgm:pt modelId="{2AC44C8D-2908-4088-B0A5-E5AE0BA7AFD8}" type="pres">
      <dgm:prSet presAssocID="{3460871B-32C2-44C5-B81C-14710E2F6E73}" presName="textRect" presStyleLbl="revTx" presStyleIdx="0" presStyleCnt="3">
        <dgm:presLayoutVars>
          <dgm:chMax val="1"/>
          <dgm:chPref val="1"/>
        </dgm:presLayoutVars>
      </dgm:prSet>
      <dgm:spPr/>
    </dgm:pt>
    <dgm:pt modelId="{8A99C9E0-E66C-4680-BF69-F7E845B59974}" type="pres">
      <dgm:prSet presAssocID="{BC8D3C95-7F57-46F3-A189-5393F93A34DB}" presName="sibTrans" presStyleCnt="0"/>
      <dgm:spPr/>
    </dgm:pt>
    <dgm:pt modelId="{56C076E2-2981-4A83-9A1D-A74B211E2111}" type="pres">
      <dgm:prSet presAssocID="{BAD89502-77F8-4222-A8DF-8F43ED29FE9F}" presName="compNode" presStyleCnt="0"/>
      <dgm:spPr/>
    </dgm:pt>
    <dgm:pt modelId="{0630EE47-100C-4155-8FE0-6DC9C58C2E98}" type="pres">
      <dgm:prSet presAssocID="{BAD89502-77F8-4222-A8DF-8F43ED29FE9F}" presName="iconRect" presStyleLbl="node1" presStyleIdx="1" presStyleCnt="3" custScaleX="133617" custScaleY="154715"/>
      <dgm:spPr>
        <a:blipFill dpi="0" rotWithShape="1">
          <a:blip xmlns:r="http://schemas.openxmlformats.org/officeDocument/2006/relationships" r:embed="rId2"/>
          <a:srcRect/>
          <a:stretch>
            <a:fillRect l="16666" t="773" r="16666" b="773"/>
          </a:stretch>
        </a:blipFill>
      </dgm:spPr>
    </dgm:pt>
    <dgm:pt modelId="{AC67DDCB-0B96-4910-8813-AD624FB89DFE}" type="pres">
      <dgm:prSet presAssocID="{BAD89502-77F8-4222-A8DF-8F43ED29FE9F}" presName="spaceRect" presStyleCnt="0"/>
      <dgm:spPr/>
    </dgm:pt>
    <dgm:pt modelId="{290F4CF8-1A10-4067-A2C2-FB3B811AAA64}" type="pres">
      <dgm:prSet presAssocID="{BAD89502-77F8-4222-A8DF-8F43ED29FE9F}" presName="textRect" presStyleLbl="revTx" presStyleIdx="1" presStyleCnt="3">
        <dgm:presLayoutVars>
          <dgm:chMax val="1"/>
          <dgm:chPref val="1"/>
        </dgm:presLayoutVars>
      </dgm:prSet>
      <dgm:spPr/>
    </dgm:pt>
    <dgm:pt modelId="{AC78935E-81C7-41DE-9E43-35A6BF3A1920}" type="pres">
      <dgm:prSet presAssocID="{A560B048-DA55-4BE4-AB93-C4FAC656BE9C}" presName="sibTrans" presStyleCnt="0"/>
      <dgm:spPr/>
    </dgm:pt>
    <dgm:pt modelId="{C4231F90-06A5-48B0-A101-9829BA7AF4F7}" type="pres">
      <dgm:prSet presAssocID="{AF068ED8-5334-4B3A-8C25-EB3E2B9E09A1}" presName="compNode" presStyleCnt="0"/>
      <dgm:spPr/>
    </dgm:pt>
    <dgm:pt modelId="{A133E483-C0B1-4E78-8E8D-694892D1A053}" type="pres">
      <dgm:prSet presAssocID="{AF068ED8-5334-4B3A-8C25-EB3E2B9E09A1}" presName="icon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F43563A9-66A0-4086-AB78-98198AEF6CDE}" type="pres">
      <dgm:prSet presAssocID="{AF068ED8-5334-4B3A-8C25-EB3E2B9E09A1}" presName="spaceRect" presStyleCnt="0"/>
      <dgm:spPr/>
    </dgm:pt>
    <dgm:pt modelId="{8538C430-A446-40DF-947C-82CC44C75722}" type="pres">
      <dgm:prSet presAssocID="{AF068ED8-5334-4B3A-8C25-EB3E2B9E09A1}" presName="textRect" presStyleLbl="revTx" presStyleIdx="2" presStyleCnt="3" custScaleY="73423">
        <dgm:presLayoutVars>
          <dgm:chMax val="1"/>
          <dgm:chPref val="1"/>
        </dgm:presLayoutVars>
      </dgm:prSet>
      <dgm:spPr/>
    </dgm:pt>
  </dgm:ptLst>
  <dgm:cxnLst>
    <dgm:cxn modelId="{5A81263D-B958-476A-BC24-0C939180CBF3}" type="presOf" srcId="{3460871B-32C2-44C5-B81C-14710E2F6E73}" destId="{2AC44C8D-2908-4088-B0A5-E5AE0BA7AFD8}" srcOrd="0" destOrd="0" presId="urn:microsoft.com/office/officeart/2018/2/layout/IconLabelList"/>
    <dgm:cxn modelId="{C51EE768-8852-432A-B91A-3B790F4A2E8D}" type="presOf" srcId="{BAD89502-77F8-4222-A8DF-8F43ED29FE9F}" destId="{290F4CF8-1A10-4067-A2C2-FB3B811AAA64}" srcOrd="0" destOrd="0" presId="urn:microsoft.com/office/officeart/2018/2/layout/IconLabelList"/>
    <dgm:cxn modelId="{0D3BEE69-2581-4E93-807A-C209E1612684}" srcId="{7558CBE3-6AB1-46D3-B653-1587012FE5E4}" destId="{BAD89502-77F8-4222-A8DF-8F43ED29FE9F}" srcOrd="1" destOrd="0" parTransId="{B6EF2F5A-B238-4DA0-A3FD-1F700DBC66FA}" sibTransId="{A560B048-DA55-4BE4-AB93-C4FAC656BE9C}"/>
    <dgm:cxn modelId="{D05615B6-3BAF-4AD6-89DF-47830EAC9701}" type="presOf" srcId="{7558CBE3-6AB1-46D3-B653-1587012FE5E4}" destId="{15832E4D-FDE5-44C3-87A6-44049130AF82}" srcOrd="0" destOrd="0" presId="urn:microsoft.com/office/officeart/2018/2/layout/IconLabelList"/>
    <dgm:cxn modelId="{468DDFE1-F954-4B3F-AB28-492690966CDB}" type="presOf" srcId="{AF068ED8-5334-4B3A-8C25-EB3E2B9E09A1}" destId="{8538C430-A446-40DF-947C-82CC44C75722}" srcOrd="0" destOrd="0" presId="urn:microsoft.com/office/officeart/2018/2/layout/IconLabelList"/>
    <dgm:cxn modelId="{B255A8F9-6AEE-4E2E-B34C-BEEF1443A746}" srcId="{7558CBE3-6AB1-46D3-B653-1587012FE5E4}" destId="{3460871B-32C2-44C5-B81C-14710E2F6E73}" srcOrd="0" destOrd="0" parTransId="{DB70B40F-0A0E-4FCE-86EC-13AE75CE3247}" sibTransId="{BC8D3C95-7F57-46F3-A189-5393F93A34DB}"/>
    <dgm:cxn modelId="{9791ABFE-608A-41AB-A840-4F7DDEE0C1A8}" srcId="{7558CBE3-6AB1-46D3-B653-1587012FE5E4}" destId="{AF068ED8-5334-4B3A-8C25-EB3E2B9E09A1}" srcOrd="2" destOrd="0" parTransId="{D4634E87-D4CC-4D2B-832C-2CCA9E5C34D8}" sibTransId="{70490E17-8A9E-4136-9B6D-007DA87F3B7A}"/>
    <dgm:cxn modelId="{A959D88F-B1C5-48B9-839F-3FE51C11E998}" type="presParOf" srcId="{15832E4D-FDE5-44C3-87A6-44049130AF82}" destId="{3B904E23-C780-4150-8B1F-831BF53BB860}" srcOrd="0" destOrd="0" presId="urn:microsoft.com/office/officeart/2018/2/layout/IconLabelList"/>
    <dgm:cxn modelId="{4483FA25-531F-42E3-90DD-B8AEFBE3216E}" type="presParOf" srcId="{3B904E23-C780-4150-8B1F-831BF53BB860}" destId="{21DE5258-1EB5-47CB-B534-93601FA40145}" srcOrd="0" destOrd="0" presId="urn:microsoft.com/office/officeart/2018/2/layout/IconLabelList"/>
    <dgm:cxn modelId="{B7FB7C7B-7C39-4254-B40B-0ED996C3E1CF}" type="presParOf" srcId="{3B904E23-C780-4150-8B1F-831BF53BB860}" destId="{09D23398-5C32-4D59-BA5D-CFAE86460A1B}" srcOrd="1" destOrd="0" presId="urn:microsoft.com/office/officeart/2018/2/layout/IconLabelList"/>
    <dgm:cxn modelId="{96D35A48-F6B1-44FA-A907-EE266DB4B187}" type="presParOf" srcId="{3B904E23-C780-4150-8B1F-831BF53BB860}" destId="{2AC44C8D-2908-4088-B0A5-E5AE0BA7AFD8}" srcOrd="2" destOrd="0" presId="urn:microsoft.com/office/officeart/2018/2/layout/IconLabelList"/>
    <dgm:cxn modelId="{B8BB4E83-48C8-4FF5-BD63-C3C3EA4DBFEF}" type="presParOf" srcId="{15832E4D-FDE5-44C3-87A6-44049130AF82}" destId="{8A99C9E0-E66C-4680-BF69-F7E845B59974}" srcOrd="1" destOrd="0" presId="urn:microsoft.com/office/officeart/2018/2/layout/IconLabelList"/>
    <dgm:cxn modelId="{915F6B62-B753-4226-9A84-BB391199B4A1}" type="presParOf" srcId="{15832E4D-FDE5-44C3-87A6-44049130AF82}" destId="{56C076E2-2981-4A83-9A1D-A74B211E2111}" srcOrd="2" destOrd="0" presId="urn:microsoft.com/office/officeart/2018/2/layout/IconLabelList"/>
    <dgm:cxn modelId="{B018816E-C21B-4B34-9F26-9ED3F0DE3553}" type="presParOf" srcId="{56C076E2-2981-4A83-9A1D-A74B211E2111}" destId="{0630EE47-100C-4155-8FE0-6DC9C58C2E98}" srcOrd="0" destOrd="0" presId="urn:microsoft.com/office/officeart/2018/2/layout/IconLabelList"/>
    <dgm:cxn modelId="{C852B0AE-C495-4D2E-BBBF-05DAEAE759DE}" type="presParOf" srcId="{56C076E2-2981-4A83-9A1D-A74B211E2111}" destId="{AC67DDCB-0B96-4910-8813-AD624FB89DFE}" srcOrd="1" destOrd="0" presId="urn:microsoft.com/office/officeart/2018/2/layout/IconLabelList"/>
    <dgm:cxn modelId="{5CBAB5C1-6809-4606-9840-7DDE02E7F1FC}" type="presParOf" srcId="{56C076E2-2981-4A83-9A1D-A74B211E2111}" destId="{290F4CF8-1A10-4067-A2C2-FB3B811AAA64}" srcOrd="2" destOrd="0" presId="urn:microsoft.com/office/officeart/2018/2/layout/IconLabelList"/>
    <dgm:cxn modelId="{61CD0EFD-DC0A-4F5D-B5BC-B1370FAABE35}" type="presParOf" srcId="{15832E4D-FDE5-44C3-87A6-44049130AF82}" destId="{AC78935E-81C7-41DE-9E43-35A6BF3A1920}" srcOrd="3" destOrd="0" presId="urn:microsoft.com/office/officeart/2018/2/layout/IconLabelList"/>
    <dgm:cxn modelId="{587A0F7E-0AA8-4C6D-BB22-22684F17F201}" type="presParOf" srcId="{15832E4D-FDE5-44C3-87A6-44049130AF82}" destId="{C4231F90-06A5-48B0-A101-9829BA7AF4F7}" srcOrd="4" destOrd="0" presId="urn:microsoft.com/office/officeart/2018/2/layout/IconLabelList"/>
    <dgm:cxn modelId="{78045D2E-1237-47E5-8760-4D53BCE50EDC}" type="presParOf" srcId="{C4231F90-06A5-48B0-A101-9829BA7AF4F7}" destId="{A133E483-C0B1-4E78-8E8D-694892D1A053}" srcOrd="0" destOrd="0" presId="urn:microsoft.com/office/officeart/2018/2/layout/IconLabelList"/>
    <dgm:cxn modelId="{B1986756-245C-4ADE-952C-CEF026C8B894}" type="presParOf" srcId="{C4231F90-06A5-48B0-A101-9829BA7AF4F7}" destId="{F43563A9-66A0-4086-AB78-98198AEF6CDE}" srcOrd="1" destOrd="0" presId="urn:microsoft.com/office/officeart/2018/2/layout/IconLabelList"/>
    <dgm:cxn modelId="{7F5BB282-919A-4395-A80E-6648927AC92E}" type="presParOf" srcId="{C4231F90-06A5-48B0-A101-9829BA7AF4F7}" destId="{8538C430-A446-40DF-947C-82CC44C757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BFC0ED-2EDB-4E1E-9706-64F382FC52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0BD9E5D-3A31-4B47-970D-1018CB3D9CFF}">
      <dgm:prSet/>
      <dgm:spPr/>
      <dgm:t>
        <a:bodyPr/>
        <a:lstStyle/>
        <a:p>
          <a:r>
            <a:rPr lang="en-US" dirty="0"/>
            <a:t>Early GSM milestone: Nokia positions Nokia 1011 (late 1992) as its first GSM phone. [1]</a:t>
          </a:r>
        </a:p>
      </dgm:t>
    </dgm:pt>
    <dgm:pt modelId="{0F52A7A8-3AFE-48AA-B478-6BF410AEF9C6}" type="parTrans" cxnId="{CE0DF928-2703-4FBE-BBFE-EB51802EFC85}">
      <dgm:prSet/>
      <dgm:spPr/>
      <dgm:t>
        <a:bodyPr/>
        <a:lstStyle/>
        <a:p>
          <a:endParaRPr lang="en-US"/>
        </a:p>
      </dgm:t>
    </dgm:pt>
    <dgm:pt modelId="{22F6040E-8C06-4CF5-861C-C851DB846B4D}" type="sibTrans" cxnId="{CE0DF928-2703-4FBE-BBFE-EB51802EFC85}">
      <dgm:prSet/>
      <dgm:spPr/>
      <dgm:t>
        <a:bodyPr/>
        <a:lstStyle/>
        <a:p>
          <a:endParaRPr lang="en-US"/>
        </a:p>
      </dgm:t>
    </dgm:pt>
    <dgm:pt modelId="{92BE41DA-5E25-4B50-A867-71C1A10C363C}">
      <dgm:prSet/>
      <dgm:spPr/>
      <dgm:t>
        <a:bodyPr/>
        <a:lstStyle/>
        <a:p>
          <a:r>
            <a:rPr lang="en-US"/>
            <a:t>Consistent brand line in official materials: “Nokia… connecting people.” appears in the 1995 Annual Report (usage verified by 1995; intro date 1992 = SOURCE NEEDED). [7]</a:t>
          </a:r>
        </a:p>
      </dgm:t>
    </dgm:pt>
    <dgm:pt modelId="{614A05DB-DFAC-423B-95E0-F70DCCD02E50}" type="parTrans" cxnId="{D0495693-F1C8-4BB8-9EC8-61799FE859CF}">
      <dgm:prSet/>
      <dgm:spPr/>
      <dgm:t>
        <a:bodyPr/>
        <a:lstStyle/>
        <a:p>
          <a:endParaRPr lang="en-US"/>
        </a:p>
      </dgm:t>
    </dgm:pt>
    <dgm:pt modelId="{05415691-55F4-4FFB-BEAC-665FD0523638}" type="sibTrans" cxnId="{D0495693-F1C8-4BB8-9EC8-61799FE859CF}">
      <dgm:prSet/>
      <dgm:spPr/>
      <dgm:t>
        <a:bodyPr/>
        <a:lstStyle/>
        <a:p>
          <a:endParaRPr lang="en-US"/>
        </a:p>
      </dgm:t>
    </dgm:pt>
    <dgm:pt modelId="{DC0CF7B1-3B26-4C35-BB4B-79FB3508150B}">
      <dgm:prSet/>
      <dgm:spPr/>
      <dgm:t>
        <a:bodyPr/>
        <a:lstStyle/>
        <a:p>
          <a:r>
            <a:rPr lang="en-US"/>
            <a:t>Product-integrated recognition cue: Nokia 2110 (1994) documented as first to feature the iconic Nokia ringtone. [2]</a:t>
          </a:r>
        </a:p>
      </dgm:t>
    </dgm:pt>
    <dgm:pt modelId="{DFAC5D4A-87F6-4AAD-8139-EF6800A6C2FD}" type="parTrans" cxnId="{896301F6-912D-4F61-A84C-4B6EEC315BDB}">
      <dgm:prSet/>
      <dgm:spPr/>
      <dgm:t>
        <a:bodyPr/>
        <a:lstStyle/>
        <a:p>
          <a:endParaRPr lang="en-US"/>
        </a:p>
      </dgm:t>
    </dgm:pt>
    <dgm:pt modelId="{38A5BA29-F704-41CC-B258-3BDA8A3DD63E}" type="sibTrans" cxnId="{896301F6-912D-4F61-A84C-4B6EEC315BDB}">
      <dgm:prSet/>
      <dgm:spPr/>
      <dgm:t>
        <a:bodyPr/>
        <a:lstStyle/>
        <a:p>
          <a:endParaRPr lang="en-US"/>
        </a:p>
      </dgm:t>
    </dgm:pt>
    <dgm:pt modelId="{E5972D0C-DA5F-4AED-BCF4-D5F5C2B82F9F}">
      <dgm:prSet/>
      <dgm:spPr/>
      <dgm:t>
        <a:bodyPr/>
        <a:lstStyle/>
        <a:p>
          <a:r>
            <a:rPr lang="en-US"/>
            <a:t>Cultural feature association: Snake documented on Nokia 6110 (1997). [3]</a:t>
          </a:r>
        </a:p>
      </dgm:t>
    </dgm:pt>
    <dgm:pt modelId="{7747A6CB-6900-4EB5-9BC2-4FBA328FEF21}" type="parTrans" cxnId="{99932BBD-5390-40F6-B284-7944532723DB}">
      <dgm:prSet/>
      <dgm:spPr/>
      <dgm:t>
        <a:bodyPr/>
        <a:lstStyle/>
        <a:p>
          <a:endParaRPr lang="en-US"/>
        </a:p>
      </dgm:t>
    </dgm:pt>
    <dgm:pt modelId="{864F22FA-039B-441D-B39D-21AF1710C7E3}" type="sibTrans" cxnId="{99932BBD-5390-40F6-B284-7944532723DB}">
      <dgm:prSet/>
      <dgm:spPr/>
      <dgm:t>
        <a:bodyPr/>
        <a:lstStyle/>
        <a:p>
          <a:endParaRPr lang="en-US"/>
        </a:p>
      </dgm:t>
    </dgm:pt>
    <dgm:pt modelId="{7D19688C-3C88-40A6-AC9E-DE0336AE8EBE}">
      <dgm:prSet/>
      <dgm:spPr/>
      <dgm:t>
        <a:bodyPr/>
        <a:lstStyle/>
        <a:p>
          <a:r>
            <a:rPr lang="en-US"/>
            <a:t>Scale at peak: Nokia-reported estimated market share figures for 2008 (FY 39%, Q4 37%). [4]</a:t>
          </a:r>
        </a:p>
      </dgm:t>
    </dgm:pt>
    <dgm:pt modelId="{AB7466CC-113C-4E43-8B52-28E4FBFCEA55}" type="parTrans" cxnId="{2D46CA26-4D8F-4426-9462-5CFDDAD95ED4}">
      <dgm:prSet/>
      <dgm:spPr/>
      <dgm:t>
        <a:bodyPr/>
        <a:lstStyle/>
        <a:p>
          <a:endParaRPr lang="en-US"/>
        </a:p>
      </dgm:t>
    </dgm:pt>
    <dgm:pt modelId="{4CD36A26-113A-4C6A-BFA0-B492DCD08957}" type="sibTrans" cxnId="{2D46CA26-4D8F-4426-9462-5CFDDAD95ED4}">
      <dgm:prSet/>
      <dgm:spPr/>
      <dgm:t>
        <a:bodyPr/>
        <a:lstStyle/>
        <a:p>
          <a:endParaRPr lang="en-US"/>
        </a:p>
      </dgm:t>
    </dgm:pt>
    <dgm:pt modelId="{CC070E1E-317B-4AD1-818F-B2F81573592D}" type="pres">
      <dgm:prSet presAssocID="{7FBFC0ED-2EDB-4E1E-9706-64F382FC52B2}" presName="root" presStyleCnt="0">
        <dgm:presLayoutVars>
          <dgm:dir/>
          <dgm:resizeHandles val="exact"/>
        </dgm:presLayoutVars>
      </dgm:prSet>
      <dgm:spPr/>
    </dgm:pt>
    <dgm:pt modelId="{B7084EF4-7A7C-42C0-AD7F-378D121827F8}" type="pres">
      <dgm:prSet presAssocID="{E0BD9E5D-3A31-4B47-970D-1018CB3D9CFF}" presName="compNode" presStyleCnt="0"/>
      <dgm:spPr/>
    </dgm:pt>
    <dgm:pt modelId="{FF7E6536-3AC0-4824-BB5A-43787F4ED56C}" type="pres">
      <dgm:prSet presAssocID="{E0BD9E5D-3A31-4B47-970D-1018CB3D9CFF}" presName="bgRect" presStyleLbl="bgShp" presStyleIdx="0" presStyleCnt="5"/>
      <dgm:spPr/>
    </dgm:pt>
    <dgm:pt modelId="{8FEED1CF-A9D1-4A70-A59B-A0F03FA94AB3}" type="pres">
      <dgm:prSet presAssocID="{E0BD9E5D-3A31-4B47-970D-1018CB3D9C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A7953B6-200E-49C7-8DA6-CD62818C2626}" type="pres">
      <dgm:prSet presAssocID="{E0BD9E5D-3A31-4B47-970D-1018CB3D9CFF}" presName="spaceRect" presStyleCnt="0"/>
      <dgm:spPr/>
    </dgm:pt>
    <dgm:pt modelId="{E88763C7-13DB-41DE-B4C0-8A6A411CABA6}" type="pres">
      <dgm:prSet presAssocID="{E0BD9E5D-3A31-4B47-970D-1018CB3D9CFF}" presName="parTx" presStyleLbl="revTx" presStyleIdx="0" presStyleCnt="5">
        <dgm:presLayoutVars>
          <dgm:chMax val="0"/>
          <dgm:chPref val="0"/>
        </dgm:presLayoutVars>
      </dgm:prSet>
      <dgm:spPr/>
    </dgm:pt>
    <dgm:pt modelId="{3A126980-E28B-4906-B208-AD7A0750CABF}" type="pres">
      <dgm:prSet presAssocID="{22F6040E-8C06-4CF5-861C-C851DB846B4D}" presName="sibTrans" presStyleCnt="0"/>
      <dgm:spPr/>
    </dgm:pt>
    <dgm:pt modelId="{7E50B1BC-435A-431B-BF9A-B42005C08250}" type="pres">
      <dgm:prSet presAssocID="{92BE41DA-5E25-4B50-A867-71C1A10C363C}" presName="compNode" presStyleCnt="0"/>
      <dgm:spPr/>
    </dgm:pt>
    <dgm:pt modelId="{B484A148-94E0-4AF3-8E17-ED9E4FE842B2}" type="pres">
      <dgm:prSet presAssocID="{92BE41DA-5E25-4B50-A867-71C1A10C363C}" presName="bgRect" presStyleLbl="bgShp" presStyleIdx="1" presStyleCnt="5"/>
      <dgm:spPr/>
    </dgm:pt>
    <dgm:pt modelId="{513959BE-8A1F-4E2E-B490-5AB34E094E31}" type="pres">
      <dgm:prSet presAssocID="{92BE41DA-5E25-4B50-A867-71C1A10C36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441767FA-42AE-4826-AA87-A049D3248677}" type="pres">
      <dgm:prSet presAssocID="{92BE41DA-5E25-4B50-A867-71C1A10C363C}" presName="spaceRect" presStyleCnt="0"/>
      <dgm:spPr/>
    </dgm:pt>
    <dgm:pt modelId="{1569277E-F314-4190-97D0-FB59F8E63C56}" type="pres">
      <dgm:prSet presAssocID="{92BE41DA-5E25-4B50-A867-71C1A10C363C}" presName="parTx" presStyleLbl="revTx" presStyleIdx="1" presStyleCnt="5">
        <dgm:presLayoutVars>
          <dgm:chMax val="0"/>
          <dgm:chPref val="0"/>
        </dgm:presLayoutVars>
      </dgm:prSet>
      <dgm:spPr/>
    </dgm:pt>
    <dgm:pt modelId="{4459E47B-E746-44B2-B32D-8E8BFEB9257C}" type="pres">
      <dgm:prSet presAssocID="{05415691-55F4-4FFB-BEAC-665FD0523638}" presName="sibTrans" presStyleCnt="0"/>
      <dgm:spPr/>
    </dgm:pt>
    <dgm:pt modelId="{9AF6BCE4-0377-4F6E-BCE5-02F4B679C9CC}" type="pres">
      <dgm:prSet presAssocID="{DC0CF7B1-3B26-4C35-BB4B-79FB3508150B}" presName="compNode" presStyleCnt="0"/>
      <dgm:spPr/>
    </dgm:pt>
    <dgm:pt modelId="{356873EC-80B6-4096-BE72-6CB7C2D487E9}" type="pres">
      <dgm:prSet presAssocID="{DC0CF7B1-3B26-4C35-BB4B-79FB3508150B}" presName="bgRect" presStyleLbl="bgShp" presStyleIdx="2" presStyleCnt="5"/>
      <dgm:spPr/>
    </dgm:pt>
    <dgm:pt modelId="{646FE947-D6C5-4464-8625-718F1FC25C2A}" type="pres">
      <dgm:prSet presAssocID="{DC0CF7B1-3B26-4C35-BB4B-79FB3508150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199EAF92-AC8C-4DB6-9649-B7A456280696}" type="pres">
      <dgm:prSet presAssocID="{DC0CF7B1-3B26-4C35-BB4B-79FB3508150B}" presName="spaceRect" presStyleCnt="0"/>
      <dgm:spPr/>
    </dgm:pt>
    <dgm:pt modelId="{99163CD5-7186-4969-9709-53A975397219}" type="pres">
      <dgm:prSet presAssocID="{DC0CF7B1-3B26-4C35-BB4B-79FB3508150B}" presName="parTx" presStyleLbl="revTx" presStyleIdx="2" presStyleCnt="5">
        <dgm:presLayoutVars>
          <dgm:chMax val="0"/>
          <dgm:chPref val="0"/>
        </dgm:presLayoutVars>
      </dgm:prSet>
      <dgm:spPr/>
    </dgm:pt>
    <dgm:pt modelId="{9ADE4DA3-4756-4E46-A48E-ADE6BB7C34F6}" type="pres">
      <dgm:prSet presAssocID="{38A5BA29-F704-41CC-B258-3BDA8A3DD63E}" presName="sibTrans" presStyleCnt="0"/>
      <dgm:spPr/>
    </dgm:pt>
    <dgm:pt modelId="{E29F9C93-0DE7-4E7E-8B32-75E6E1B78CC8}" type="pres">
      <dgm:prSet presAssocID="{E5972D0C-DA5F-4AED-BCF4-D5F5C2B82F9F}" presName="compNode" presStyleCnt="0"/>
      <dgm:spPr/>
    </dgm:pt>
    <dgm:pt modelId="{5E39CD74-B15F-45F2-97B5-AFBA331917C7}" type="pres">
      <dgm:prSet presAssocID="{E5972D0C-DA5F-4AED-BCF4-D5F5C2B82F9F}" presName="bgRect" presStyleLbl="bgShp" presStyleIdx="3" presStyleCnt="5"/>
      <dgm:spPr/>
    </dgm:pt>
    <dgm:pt modelId="{83175A5F-0791-4081-B067-4B684C472B86}" type="pres">
      <dgm:prSet presAssocID="{E5972D0C-DA5F-4AED-BCF4-D5F5C2B82F9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EDDEE82F-4241-43F5-BEA6-9C74BAE6472C}" type="pres">
      <dgm:prSet presAssocID="{E5972D0C-DA5F-4AED-BCF4-D5F5C2B82F9F}" presName="spaceRect" presStyleCnt="0"/>
      <dgm:spPr/>
    </dgm:pt>
    <dgm:pt modelId="{3C7E3B68-915B-46EC-8D84-136AE304DAE0}" type="pres">
      <dgm:prSet presAssocID="{E5972D0C-DA5F-4AED-BCF4-D5F5C2B82F9F}" presName="parTx" presStyleLbl="revTx" presStyleIdx="3" presStyleCnt="5">
        <dgm:presLayoutVars>
          <dgm:chMax val="0"/>
          <dgm:chPref val="0"/>
        </dgm:presLayoutVars>
      </dgm:prSet>
      <dgm:spPr/>
    </dgm:pt>
    <dgm:pt modelId="{C3083DD5-9ED4-487F-8A90-F2981E902FCC}" type="pres">
      <dgm:prSet presAssocID="{864F22FA-039B-441D-B39D-21AF1710C7E3}" presName="sibTrans" presStyleCnt="0"/>
      <dgm:spPr/>
    </dgm:pt>
    <dgm:pt modelId="{CA6712C0-0B36-497C-AFCC-3E61339D9B44}" type="pres">
      <dgm:prSet presAssocID="{7D19688C-3C88-40A6-AC9E-DE0336AE8EBE}" presName="compNode" presStyleCnt="0"/>
      <dgm:spPr/>
    </dgm:pt>
    <dgm:pt modelId="{79E63688-DE52-4BFA-BF68-C7164C7805A8}" type="pres">
      <dgm:prSet presAssocID="{7D19688C-3C88-40A6-AC9E-DE0336AE8EBE}" presName="bgRect" presStyleLbl="bgShp" presStyleIdx="4" presStyleCnt="5"/>
      <dgm:spPr/>
    </dgm:pt>
    <dgm:pt modelId="{61C5F5A5-AAC1-4FBE-A9A1-D36C5A71F9F9}" type="pres">
      <dgm:prSet presAssocID="{7D19688C-3C88-40A6-AC9E-DE0336AE8EB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99B2E2CB-B48B-455B-8F90-CE7AFD77C077}" type="pres">
      <dgm:prSet presAssocID="{7D19688C-3C88-40A6-AC9E-DE0336AE8EBE}" presName="spaceRect" presStyleCnt="0"/>
      <dgm:spPr/>
    </dgm:pt>
    <dgm:pt modelId="{563A4049-0334-4FB9-9029-7F0B5118AF82}" type="pres">
      <dgm:prSet presAssocID="{7D19688C-3C88-40A6-AC9E-DE0336AE8EB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D46CA26-4D8F-4426-9462-5CFDDAD95ED4}" srcId="{7FBFC0ED-2EDB-4E1E-9706-64F382FC52B2}" destId="{7D19688C-3C88-40A6-AC9E-DE0336AE8EBE}" srcOrd="4" destOrd="0" parTransId="{AB7466CC-113C-4E43-8B52-28E4FBFCEA55}" sibTransId="{4CD36A26-113A-4C6A-BFA0-B492DCD08957}"/>
    <dgm:cxn modelId="{F61D7028-FBD5-4A1E-9616-986A9CC0AC19}" type="presOf" srcId="{E0BD9E5D-3A31-4B47-970D-1018CB3D9CFF}" destId="{E88763C7-13DB-41DE-B4C0-8A6A411CABA6}" srcOrd="0" destOrd="0" presId="urn:microsoft.com/office/officeart/2018/2/layout/IconVerticalSolidList"/>
    <dgm:cxn modelId="{CE0DF928-2703-4FBE-BBFE-EB51802EFC85}" srcId="{7FBFC0ED-2EDB-4E1E-9706-64F382FC52B2}" destId="{E0BD9E5D-3A31-4B47-970D-1018CB3D9CFF}" srcOrd="0" destOrd="0" parTransId="{0F52A7A8-3AFE-48AA-B478-6BF410AEF9C6}" sibTransId="{22F6040E-8C06-4CF5-861C-C851DB846B4D}"/>
    <dgm:cxn modelId="{F3A7D43D-D1CC-449C-BEC8-6D1A536413DA}" type="presOf" srcId="{7FBFC0ED-2EDB-4E1E-9706-64F382FC52B2}" destId="{CC070E1E-317B-4AD1-818F-B2F81573592D}" srcOrd="0" destOrd="0" presId="urn:microsoft.com/office/officeart/2018/2/layout/IconVerticalSolidList"/>
    <dgm:cxn modelId="{EA381857-508C-4B02-B716-FFA7E71C52EC}" type="presOf" srcId="{92BE41DA-5E25-4B50-A867-71C1A10C363C}" destId="{1569277E-F314-4190-97D0-FB59F8E63C56}" srcOrd="0" destOrd="0" presId="urn:microsoft.com/office/officeart/2018/2/layout/IconVerticalSolidList"/>
    <dgm:cxn modelId="{91EBAB8B-3095-4D34-B5C7-85E5C7941E74}" type="presOf" srcId="{E5972D0C-DA5F-4AED-BCF4-D5F5C2B82F9F}" destId="{3C7E3B68-915B-46EC-8D84-136AE304DAE0}" srcOrd="0" destOrd="0" presId="urn:microsoft.com/office/officeart/2018/2/layout/IconVerticalSolidList"/>
    <dgm:cxn modelId="{D0495693-F1C8-4BB8-9EC8-61799FE859CF}" srcId="{7FBFC0ED-2EDB-4E1E-9706-64F382FC52B2}" destId="{92BE41DA-5E25-4B50-A867-71C1A10C363C}" srcOrd="1" destOrd="0" parTransId="{614A05DB-DFAC-423B-95E0-F70DCCD02E50}" sibTransId="{05415691-55F4-4FFB-BEAC-665FD0523638}"/>
    <dgm:cxn modelId="{2F58DD9C-E3F2-4C1D-B12B-1A10E8E887D3}" type="presOf" srcId="{7D19688C-3C88-40A6-AC9E-DE0336AE8EBE}" destId="{563A4049-0334-4FB9-9029-7F0B5118AF82}" srcOrd="0" destOrd="0" presId="urn:microsoft.com/office/officeart/2018/2/layout/IconVerticalSolidList"/>
    <dgm:cxn modelId="{6964C8B4-24BA-4BBB-A610-4480C738E444}" type="presOf" srcId="{DC0CF7B1-3B26-4C35-BB4B-79FB3508150B}" destId="{99163CD5-7186-4969-9709-53A975397219}" srcOrd="0" destOrd="0" presId="urn:microsoft.com/office/officeart/2018/2/layout/IconVerticalSolidList"/>
    <dgm:cxn modelId="{99932BBD-5390-40F6-B284-7944532723DB}" srcId="{7FBFC0ED-2EDB-4E1E-9706-64F382FC52B2}" destId="{E5972D0C-DA5F-4AED-BCF4-D5F5C2B82F9F}" srcOrd="3" destOrd="0" parTransId="{7747A6CB-6900-4EB5-9BC2-4FBA328FEF21}" sibTransId="{864F22FA-039B-441D-B39D-21AF1710C7E3}"/>
    <dgm:cxn modelId="{896301F6-912D-4F61-A84C-4B6EEC315BDB}" srcId="{7FBFC0ED-2EDB-4E1E-9706-64F382FC52B2}" destId="{DC0CF7B1-3B26-4C35-BB4B-79FB3508150B}" srcOrd="2" destOrd="0" parTransId="{DFAC5D4A-87F6-4AAD-8139-EF6800A6C2FD}" sibTransId="{38A5BA29-F704-41CC-B258-3BDA8A3DD63E}"/>
    <dgm:cxn modelId="{98280802-1F73-4132-B35E-B2C26CE76563}" type="presParOf" srcId="{CC070E1E-317B-4AD1-818F-B2F81573592D}" destId="{B7084EF4-7A7C-42C0-AD7F-378D121827F8}" srcOrd="0" destOrd="0" presId="urn:microsoft.com/office/officeart/2018/2/layout/IconVerticalSolidList"/>
    <dgm:cxn modelId="{86F4D19A-87CA-42C3-AD14-B8DBFD68C59F}" type="presParOf" srcId="{B7084EF4-7A7C-42C0-AD7F-378D121827F8}" destId="{FF7E6536-3AC0-4824-BB5A-43787F4ED56C}" srcOrd="0" destOrd="0" presId="urn:microsoft.com/office/officeart/2018/2/layout/IconVerticalSolidList"/>
    <dgm:cxn modelId="{99720083-33F5-49E9-A50D-C1061DCF471E}" type="presParOf" srcId="{B7084EF4-7A7C-42C0-AD7F-378D121827F8}" destId="{8FEED1CF-A9D1-4A70-A59B-A0F03FA94AB3}" srcOrd="1" destOrd="0" presId="urn:microsoft.com/office/officeart/2018/2/layout/IconVerticalSolidList"/>
    <dgm:cxn modelId="{73906ED7-679F-4218-BB14-44893B5EB2B6}" type="presParOf" srcId="{B7084EF4-7A7C-42C0-AD7F-378D121827F8}" destId="{4A7953B6-200E-49C7-8DA6-CD62818C2626}" srcOrd="2" destOrd="0" presId="urn:microsoft.com/office/officeart/2018/2/layout/IconVerticalSolidList"/>
    <dgm:cxn modelId="{A32260D4-17E8-4DBB-A2DC-0367C913D0CE}" type="presParOf" srcId="{B7084EF4-7A7C-42C0-AD7F-378D121827F8}" destId="{E88763C7-13DB-41DE-B4C0-8A6A411CABA6}" srcOrd="3" destOrd="0" presId="urn:microsoft.com/office/officeart/2018/2/layout/IconVerticalSolidList"/>
    <dgm:cxn modelId="{93B56CBD-BDEE-46C9-B149-0708EAD29872}" type="presParOf" srcId="{CC070E1E-317B-4AD1-818F-B2F81573592D}" destId="{3A126980-E28B-4906-B208-AD7A0750CABF}" srcOrd="1" destOrd="0" presId="urn:microsoft.com/office/officeart/2018/2/layout/IconVerticalSolidList"/>
    <dgm:cxn modelId="{B59AF4B9-598A-4EC3-9A54-CC8D455A915E}" type="presParOf" srcId="{CC070E1E-317B-4AD1-818F-B2F81573592D}" destId="{7E50B1BC-435A-431B-BF9A-B42005C08250}" srcOrd="2" destOrd="0" presId="urn:microsoft.com/office/officeart/2018/2/layout/IconVerticalSolidList"/>
    <dgm:cxn modelId="{352745D4-75CA-498E-BC91-09C131518965}" type="presParOf" srcId="{7E50B1BC-435A-431B-BF9A-B42005C08250}" destId="{B484A148-94E0-4AF3-8E17-ED9E4FE842B2}" srcOrd="0" destOrd="0" presId="urn:microsoft.com/office/officeart/2018/2/layout/IconVerticalSolidList"/>
    <dgm:cxn modelId="{CB766D9A-00F2-464A-9356-7F3A67C5C4CB}" type="presParOf" srcId="{7E50B1BC-435A-431B-BF9A-B42005C08250}" destId="{513959BE-8A1F-4E2E-B490-5AB34E094E31}" srcOrd="1" destOrd="0" presId="urn:microsoft.com/office/officeart/2018/2/layout/IconVerticalSolidList"/>
    <dgm:cxn modelId="{40EFB44B-20CF-466C-B269-3EB28111DC46}" type="presParOf" srcId="{7E50B1BC-435A-431B-BF9A-B42005C08250}" destId="{441767FA-42AE-4826-AA87-A049D3248677}" srcOrd="2" destOrd="0" presId="urn:microsoft.com/office/officeart/2018/2/layout/IconVerticalSolidList"/>
    <dgm:cxn modelId="{3EF57893-1D6F-487D-BF80-1A2D18E2766D}" type="presParOf" srcId="{7E50B1BC-435A-431B-BF9A-B42005C08250}" destId="{1569277E-F314-4190-97D0-FB59F8E63C56}" srcOrd="3" destOrd="0" presId="urn:microsoft.com/office/officeart/2018/2/layout/IconVerticalSolidList"/>
    <dgm:cxn modelId="{C0ED5143-8D72-4B40-ADDC-9AA18CED2B76}" type="presParOf" srcId="{CC070E1E-317B-4AD1-818F-B2F81573592D}" destId="{4459E47B-E746-44B2-B32D-8E8BFEB9257C}" srcOrd="3" destOrd="0" presId="urn:microsoft.com/office/officeart/2018/2/layout/IconVerticalSolidList"/>
    <dgm:cxn modelId="{27A12123-EEAA-4EB7-8EE5-A9DAEF5F2F44}" type="presParOf" srcId="{CC070E1E-317B-4AD1-818F-B2F81573592D}" destId="{9AF6BCE4-0377-4F6E-BCE5-02F4B679C9CC}" srcOrd="4" destOrd="0" presId="urn:microsoft.com/office/officeart/2018/2/layout/IconVerticalSolidList"/>
    <dgm:cxn modelId="{E2CB277B-8841-4713-A765-C1F82448C055}" type="presParOf" srcId="{9AF6BCE4-0377-4F6E-BCE5-02F4B679C9CC}" destId="{356873EC-80B6-4096-BE72-6CB7C2D487E9}" srcOrd="0" destOrd="0" presId="urn:microsoft.com/office/officeart/2018/2/layout/IconVerticalSolidList"/>
    <dgm:cxn modelId="{4D3C5812-56B4-4CCA-B939-CC7D5ABDC989}" type="presParOf" srcId="{9AF6BCE4-0377-4F6E-BCE5-02F4B679C9CC}" destId="{646FE947-D6C5-4464-8625-718F1FC25C2A}" srcOrd="1" destOrd="0" presId="urn:microsoft.com/office/officeart/2018/2/layout/IconVerticalSolidList"/>
    <dgm:cxn modelId="{692C8092-07A5-424E-97A4-8DA9F82C3590}" type="presParOf" srcId="{9AF6BCE4-0377-4F6E-BCE5-02F4B679C9CC}" destId="{199EAF92-AC8C-4DB6-9649-B7A456280696}" srcOrd="2" destOrd="0" presId="urn:microsoft.com/office/officeart/2018/2/layout/IconVerticalSolidList"/>
    <dgm:cxn modelId="{5BDA3AE5-6290-48E0-86BA-D00E6669A383}" type="presParOf" srcId="{9AF6BCE4-0377-4F6E-BCE5-02F4B679C9CC}" destId="{99163CD5-7186-4969-9709-53A975397219}" srcOrd="3" destOrd="0" presId="urn:microsoft.com/office/officeart/2018/2/layout/IconVerticalSolidList"/>
    <dgm:cxn modelId="{0E043F38-6A82-4AEB-B7B4-6C9443BD8265}" type="presParOf" srcId="{CC070E1E-317B-4AD1-818F-B2F81573592D}" destId="{9ADE4DA3-4756-4E46-A48E-ADE6BB7C34F6}" srcOrd="5" destOrd="0" presId="urn:microsoft.com/office/officeart/2018/2/layout/IconVerticalSolidList"/>
    <dgm:cxn modelId="{6AF243A0-2781-4527-8982-7C3EC99EE00F}" type="presParOf" srcId="{CC070E1E-317B-4AD1-818F-B2F81573592D}" destId="{E29F9C93-0DE7-4E7E-8B32-75E6E1B78CC8}" srcOrd="6" destOrd="0" presId="urn:microsoft.com/office/officeart/2018/2/layout/IconVerticalSolidList"/>
    <dgm:cxn modelId="{5EE5A6AC-3864-449E-8466-9A25E82C1373}" type="presParOf" srcId="{E29F9C93-0DE7-4E7E-8B32-75E6E1B78CC8}" destId="{5E39CD74-B15F-45F2-97B5-AFBA331917C7}" srcOrd="0" destOrd="0" presId="urn:microsoft.com/office/officeart/2018/2/layout/IconVerticalSolidList"/>
    <dgm:cxn modelId="{1AA783E3-7734-4182-936A-249EB3D7DEC6}" type="presParOf" srcId="{E29F9C93-0DE7-4E7E-8B32-75E6E1B78CC8}" destId="{83175A5F-0791-4081-B067-4B684C472B86}" srcOrd="1" destOrd="0" presId="urn:microsoft.com/office/officeart/2018/2/layout/IconVerticalSolidList"/>
    <dgm:cxn modelId="{B74E4FFF-5F5C-45FF-9C26-F6BC99032A25}" type="presParOf" srcId="{E29F9C93-0DE7-4E7E-8B32-75E6E1B78CC8}" destId="{EDDEE82F-4241-43F5-BEA6-9C74BAE6472C}" srcOrd="2" destOrd="0" presId="urn:microsoft.com/office/officeart/2018/2/layout/IconVerticalSolidList"/>
    <dgm:cxn modelId="{479647EB-4D85-4E36-B1BD-E31CC8F88CA9}" type="presParOf" srcId="{E29F9C93-0DE7-4E7E-8B32-75E6E1B78CC8}" destId="{3C7E3B68-915B-46EC-8D84-136AE304DAE0}" srcOrd="3" destOrd="0" presId="urn:microsoft.com/office/officeart/2018/2/layout/IconVerticalSolidList"/>
    <dgm:cxn modelId="{A25EFFCA-F17C-4607-87C0-F5EECDBD7DB1}" type="presParOf" srcId="{CC070E1E-317B-4AD1-818F-B2F81573592D}" destId="{C3083DD5-9ED4-487F-8A90-F2981E902FCC}" srcOrd="7" destOrd="0" presId="urn:microsoft.com/office/officeart/2018/2/layout/IconVerticalSolidList"/>
    <dgm:cxn modelId="{3982F655-9332-466C-BE44-7971BFD2FF1B}" type="presParOf" srcId="{CC070E1E-317B-4AD1-818F-B2F81573592D}" destId="{CA6712C0-0B36-497C-AFCC-3E61339D9B44}" srcOrd="8" destOrd="0" presId="urn:microsoft.com/office/officeart/2018/2/layout/IconVerticalSolidList"/>
    <dgm:cxn modelId="{EF60ADCC-377A-491A-BC37-2E8BA4F27D34}" type="presParOf" srcId="{CA6712C0-0B36-497C-AFCC-3E61339D9B44}" destId="{79E63688-DE52-4BFA-BF68-C7164C7805A8}" srcOrd="0" destOrd="0" presId="urn:microsoft.com/office/officeart/2018/2/layout/IconVerticalSolidList"/>
    <dgm:cxn modelId="{ACA102D9-3D2D-4FF8-8989-E524768DE241}" type="presParOf" srcId="{CA6712C0-0B36-497C-AFCC-3E61339D9B44}" destId="{61C5F5A5-AAC1-4FBE-A9A1-D36C5A71F9F9}" srcOrd="1" destOrd="0" presId="urn:microsoft.com/office/officeart/2018/2/layout/IconVerticalSolidList"/>
    <dgm:cxn modelId="{ADF4F697-4230-4967-B403-8C523D3F7710}" type="presParOf" srcId="{CA6712C0-0B36-497C-AFCC-3E61339D9B44}" destId="{99B2E2CB-B48B-455B-8F90-CE7AFD77C077}" srcOrd="2" destOrd="0" presId="urn:microsoft.com/office/officeart/2018/2/layout/IconVerticalSolidList"/>
    <dgm:cxn modelId="{4E1226AE-55BA-4DAB-B214-05A09893423A}" type="presParOf" srcId="{CA6712C0-0B36-497C-AFCC-3E61339D9B44}" destId="{563A4049-0334-4FB9-9029-7F0B5118AF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4535A-EFA0-4488-BB9A-3401240D77A3}">
      <dsp:nvSpPr>
        <dsp:cNvPr id="0" name=""/>
        <dsp:cNvSpPr/>
      </dsp:nvSpPr>
      <dsp:spPr>
        <a:xfrm>
          <a:off x="-9835" y="574239"/>
          <a:ext cx="6453545" cy="15014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4B907-0234-455E-9A78-8A15701EFF71}">
      <dsp:nvSpPr>
        <dsp:cNvPr id="0" name=""/>
        <dsp:cNvSpPr/>
      </dsp:nvSpPr>
      <dsp:spPr>
        <a:xfrm>
          <a:off x="326385" y="587115"/>
          <a:ext cx="654345" cy="147568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11000" r="-11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A7157-D49E-4DEA-9D27-941AD240B3E4}">
      <dsp:nvSpPr>
        <dsp:cNvPr id="0" name=""/>
        <dsp:cNvSpPr/>
      </dsp:nvSpPr>
      <dsp:spPr>
        <a:xfrm>
          <a:off x="1454475" y="851936"/>
          <a:ext cx="4936224" cy="103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62" tIns="110062" rIns="110062" bIns="11006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Nokia launched the </a:t>
          </a:r>
          <a:r>
            <a:rPr lang="en-US" sz="2400" b="1" i="0" kern="1200" baseline="0" dirty="0"/>
            <a:t>Nokia 1011</a:t>
          </a:r>
          <a:r>
            <a:rPr lang="en-US" sz="2400" b="0" i="0" kern="1200" baseline="0" dirty="0"/>
            <a:t>, described by Nokia as its </a:t>
          </a:r>
          <a:r>
            <a:rPr lang="en-US" sz="2400" b="1" i="0" kern="1200" baseline="0" dirty="0"/>
            <a:t>first GSM phone</a:t>
          </a:r>
          <a:r>
            <a:rPr lang="en-US" sz="2400" b="0" i="0" kern="1200" baseline="0" dirty="0"/>
            <a:t>, introduced in </a:t>
          </a:r>
          <a:r>
            <a:rPr lang="en-US" sz="2400" b="1" i="0" kern="1200" baseline="0" dirty="0"/>
            <a:t>late 1992</a:t>
          </a:r>
          <a:r>
            <a:rPr lang="en-US" sz="2400" b="0" i="0" kern="1200" baseline="0" dirty="0"/>
            <a:t>. [1]</a:t>
          </a:r>
          <a:endParaRPr lang="en-US" sz="2400" kern="1200" dirty="0"/>
        </a:p>
      </dsp:txBody>
      <dsp:txXfrm>
        <a:off x="1454475" y="851936"/>
        <a:ext cx="4936224" cy="1039951"/>
      </dsp:txXfrm>
    </dsp:sp>
    <dsp:sp modelId="{0D5B3FB4-EFDE-4E8B-BD3B-C62CC1B0C545}">
      <dsp:nvSpPr>
        <dsp:cNvPr id="0" name=""/>
        <dsp:cNvSpPr/>
      </dsp:nvSpPr>
      <dsp:spPr>
        <a:xfrm>
          <a:off x="-9835" y="2522361"/>
          <a:ext cx="6453545" cy="1147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F5355-6B17-4D99-9295-DB3415ABD24A}">
      <dsp:nvSpPr>
        <dsp:cNvPr id="0" name=""/>
        <dsp:cNvSpPr/>
      </dsp:nvSpPr>
      <dsp:spPr>
        <a:xfrm>
          <a:off x="337332" y="2655949"/>
          <a:ext cx="632450" cy="63121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BE9CE-FB12-43A8-B517-51179A07D82C}">
      <dsp:nvSpPr>
        <dsp:cNvPr id="0" name=""/>
        <dsp:cNvSpPr/>
      </dsp:nvSpPr>
      <dsp:spPr>
        <a:xfrm>
          <a:off x="1326775" y="2546417"/>
          <a:ext cx="4936224" cy="103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62" tIns="110062" rIns="110062" bIns="11006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Nokia’s corporate materials show the phrase </a:t>
          </a:r>
          <a:r>
            <a:rPr lang="en-US" sz="2000" b="1" i="0" kern="1200" baseline="0" dirty="0"/>
            <a:t>“Nokia… connecting people.”</a:t>
          </a:r>
          <a:r>
            <a:rPr lang="en-US" sz="2000" b="0" i="0" kern="1200" baseline="0" dirty="0"/>
            <a:t> in its </a:t>
          </a:r>
          <a:r>
            <a:rPr lang="en-US" sz="2000" b="1" i="0" kern="1200" baseline="0" dirty="0"/>
            <a:t>1995 Annual Report</a:t>
          </a:r>
          <a:r>
            <a:rPr lang="en-US" sz="2000" b="0" i="0" kern="1200" baseline="0" dirty="0"/>
            <a:t>. [7]</a:t>
          </a:r>
          <a:endParaRPr lang="en-US" sz="2000" kern="1200" dirty="0"/>
        </a:p>
      </dsp:txBody>
      <dsp:txXfrm>
        <a:off x="1326775" y="2546417"/>
        <a:ext cx="4936224" cy="1039951"/>
      </dsp:txXfrm>
    </dsp:sp>
    <dsp:sp modelId="{11E5C768-3912-4713-96E0-9D0F57F881C5}">
      <dsp:nvSpPr>
        <dsp:cNvPr id="0" name=""/>
        <dsp:cNvSpPr/>
      </dsp:nvSpPr>
      <dsp:spPr>
        <a:xfrm>
          <a:off x="9835" y="3867442"/>
          <a:ext cx="6453545" cy="1147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89840-2CF2-4DBB-91C9-E836BF922D84}">
      <dsp:nvSpPr>
        <dsp:cNvPr id="0" name=""/>
        <dsp:cNvSpPr/>
      </dsp:nvSpPr>
      <dsp:spPr>
        <a:xfrm>
          <a:off x="600965" y="4063905"/>
          <a:ext cx="1366131" cy="715489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3935" t="13855" r="3935" b="13855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6EA06-44D6-43B4-B089-363E6C00F24A}">
      <dsp:nvSpPr>
        <dsp:cNvPr id="0" name=""/>
        <dsp:cNvSpPr/>
      </dsp:nvSpPr>
      <dsp:spPr>
        <a:xfrm>
          <a:off x="2767758" y="3912108"/>
          <a:ext cx="3379092" cy="95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62" tIns="110062" rIns="110062" bIns="110062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“</a:t>
          </a:r>
          <a:r>
            <a:rPr lang="en-US" sz="2400" b="1" i="0" kern="900" baseline="0" dirty="0"/>
            <a:t>Connecting People”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900" baseline="0" dirty="0"/>
            <a:t>introduced </a:t>
          </a:r>
          <a:r>
            <a:rPr lang="en-US" sz="2400" b="1" i="0" kern="1200" baseline="0" dirty="0"/>
            <a:t>in 1992</a:t>
          </a:r>
          <a:endParaRPr lang="en-US" sz="2400" kern="1200" dirty="0"/>
        </a:p>
      </dsp:txBody>
      <dsp:txXfrm>
        <a:off x="2767758" y="3912108"/>
        <a:ext cx="3379092" cy="950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4DF56-63DB-4EA9-BFCF-D0F8C1CE2E25}">
      <dsp:nvSpPr>
        <dsp:cNvPr id="0" name=""/>
        <dsp:cNvSpPr/>
      </dsp:nvSpPr>
      <dsp:spPr>
        <a:xfrm>
          <a:off x="0" y="5072"/>
          <a:ext cx="6245265" cy="15994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74FBF-B413-4BB7-8943-EBEDA2E7D2CD}">
      <dsp:nvSpPr>
        <dsp:cNvPr id="0" name=""/>
        <dsp:cNvSpPr/>
      </dsp:nvSpPr>
      <dsp:spPr>
        <a:xfrm>
          <a:off x="328093" y="0"/>
          <a:ext cx="1192009" cy="1557260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-8823" b="-8823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31B91-6179-4B9F-898B-77CAC1E34D26}">
      <dsp:nvSpPr>
        <dsp:cNvPr id="0" name=""/>
        <dsp:cNvSpPr/>
      </dsp:nvSpPr>
      <dsp:spPr>
        <a:xfrm>
          <a:off x="1848195" y="5072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Nokia 2110</a:t>
          </a:r>
          <a:r>
            <a:rPr lang="en-US" sz="2400" b="0" i="0" kern="1200" baseline="0" dirty="0"/>
            <a:t> released in </a:t>
          </a:r>
          <a:r>
            <a:rPr lang="en-US" sz="2400" b="1" i="0" kern="1200" baseline="0" dirty="0"/>
            <a:t>1994</a:t>
          </a:r>
          <a:r>
            <a:rPr lang="en-US" sz="2400" b="0" i="0" kern="1200" baseline="0" dirty="0"/>
            <a:t>. [2]</a:t>
          </a:r>
          <a:endParaRPr lang="en-US" sz="2400" kern="1200" dirty="0"/>
        </a:p>
      </dsp:txBody>
      <dsp:txXfrm>
        <a:off x="1848195" y="5072"/>
        <a:ext cx="4324657" cy="1600988"/>
      </dsp:txXfrm>
    </dsp:sp>
    <dsp:sp modelId="{82F9E1BB-A94C-4748-AF70-6AD772E8164E}">
      <dsp:nvSpPr>
        <dsp:cNvPr id="0" name=""/>
        <dsp:cNvSpPr/>
      </dsp:nvSpPr>
      <dsp:spPr>
        <a:xfrm>
          <a:off x="0" y="1994179"/>
          <a:ext cx="6245265" cy="15994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51588-59A0-4BA5-9B49-C514B89F0751}">
      <dsp:nvSpPr>
        <dsp:cNvPr id="0" name=""/>
        <dsp:cNvSpPr/>
      </dsp:nvSpPr>
      <dsp:spPr>
        <a:xfrm>
          <a:off x="483826" y="2354049"/>
          <a:ext cx="880543" cy="87968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0AEA4-F74C-4788-8C98-BECFF7F08ED2}">
      <dsp:nvSpPr>
        <dsp:cNvPr id="0" name=""/>
        <dsp:cNvSpPr/>
      </dsp:nvSpPr>
      <dsp:spPr>
        <a:xfrm>
          <a:off x="1848195" y="1994179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The Nokia 2110 is documented as the </a:t>
          </a:r>
          <a:r>
            <a:rPr lang="en-US" sz="2400" b="1" i="0" kern="1200" baseline="0" dirty="0"/>
            <a:t>first phone to feature the iconic Nokia ringtone</a:t>
          </a:r>
          <a:r>
            <a:rPr lang="en-US" sz="2400" b="0" i="0" kern="1200" baseline="0" dirty="0"/>
            <a:t> (“Nokia ringtone”). [2]</a:t>
          </a:r>
          <a:endParaRPr lang="en-US" sz="2400" kern="1200" dirty="0"/>
        </a:p>
      </dsp:txBody>
      <dsp:txXfrm>
        <a:off x="1848195" y="1994179"/>
        <a:ext cx="4324657" cy="1600988"/>
      </dsp:txXfrm>
    </dsp:sp>
    <dsp:sp modelId="{93EB01A6-5548-4E55-9EA7-894217A5FFD2}">
      <dsp:nvSpPr>
        <dsp:cNvPr id="0" name=""/>
        <dsp:cNvSpPr/>
      </dsp:nvSpPr>
      <dsp:spPr>
        <a:xfrm>
          <a:off x="0" y="3983286"/>
          <a:ext cx="6245265" cy="15994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10E84-5219-4568-A5FF-B0E36ABE7DD9}">
      <dsp:nvSpPr>
        <dsp:cNvPr id="0" name=""/>
        <dsp:cNvSpPr/>
      </dsp:nvSpPr>
      <dsp:spPr>
        <a:xfrm>
          <a:off x="483826" y="4343156"/>
          <a:ext cx="880543" cy="87968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99F1E-F6E2-4C36-8F54-0B90A8C06E37}">
      <dsp:nvSpPr>
        <dsp:cNvPr id="0" name=""/>
        <dsp:cNvSpPr/>
      </dsp:nvSpPr>
      <dsp:spPr>
        <a:xfrm>
          <a:off x="1848195" y="3983286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This provides evidence of </a:t>
          </a:r>
          <a:r>
            <a:rPr lang="en-US" sz="2000" b="1" i="0" kern="1200" baseline="0" dirty="0"/>
            <a:t>distinctive, repeatable recognition cues</a:t>
          </a:r>
          <a:r>
            <a:rPr lang="en-US" sz="2000" b="0" i="0" kern="1200" baseline="0" dirty="0"/>
            <a:t> tied to Nokia consumer handsets (auditory brand identifier embedded in the product). [2]</a:t>
          </a:r>
          <a:endParaRPr lang="en-US" sz="2000" kern="1200" dirty="0"/>
        </a:p>
      </dsp:txBody>
      <dsp:txXfrm>
        <a:off x="1848195" y="3983286"/>
        <a:ext cx="4324657" cy="1600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73617-16E4-4964-931E-AD5F3F56014A}">
      <dsp:nvSpPr>
        <dsp:cNvPr id="0" name=""/>
        <dsp:cNvSpPr/>
      </dsp:nvSpPr>
      <dsp:spPr>
        <a:xfrm rot="10800000">
          <a:off x="1513919" y="106032"/>
          <a:ext cx="4391704" cy="1365442"/>
        </a:xfrm>
        <a:prstGeom prst="flowChartAlternateProces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21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The game </a:t>
          </a:r>
          <a:r>
            <a:rPr lang="en-US" sz="1900" b="1" i="0" kern="1200" baseline="0" dirty="0"/>
            <a:t>Snake</a:t>
          </a:r>
          <a:r>
            <a:rPr lang="en-US" sz="1900" b="0" i="0" kern="1200" baseline="0" dirty="0"/>
            <a:t> appeared on the </a:t>
          </a:r>
          <a:r>
            <a:rPr lang="en-US" sz="1900" b="1" i="0" kern="1200" baseline="0" dirty="0"/>
            <a:t>Nokia 6110</a:t>
          </a:r>
          <a:r>
            <a:rPr lang="en-US" sz="1900" b="0" i="0" kern="1200" baseline="0" dirty="0"/>
            <a:t> in </a:t>
          </a:r>
          <a:r>
            <a:rPr lang="en-US" sz="1900" b="1" i="0" kern="1200" baseline="0" dirty="0"/>
            <a:t>1997</a:t>
          </a:r>
          <a:r>
            <a:rPr lang="en-US" sz="1900" b="0" i="0" kern="1200" baseline="0" dirty="0"/>
            <a:t>. [3]</a:t>
          </a:r>
          <a:endParaRPr lang="en-US" sz="1900" kern="1200" dirty="0"/>
        </a:p>
      </dsp:txBody>
      <dsp:txXfrm rot="10800000">
        <a:off x="1580573" y="172686"/>
        <a:ext cx="4258396" cy="1232134"/>
      </dsp:txXfrm>
    </dsp:sp>
    <dsp:sp modelId="{7FBAA331-284E-43E4-9B50-B6CFD56A3E12}">
      <dsp:nvSpPr>
        <dsp:cNvPr id="0" name=""/>
        <dsp:cNvSpPr/>
      </dsp:nvSpPr>
      <dsp:spPr>
        <a:xfrm>
          <a:off x="356044" y="37718"/>
          <a:ext cx="1630952" cy="1575147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l="69" t="2787" r="69" b="2787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BA546-02AD-4AD8-801F-0471FF228E86}">
      <dsp:nvSpPr>
        <dsp:cNvPr id="0" name=""/>
        <dsp:cNvSpPr/>
      </dsp:nvSpPr>
      <dsp:spPr>
        <a:xfrm rot="10800000">
          <a:off x="544943" y="2014398"/>
          <a:ext cx="5304081" cy="1365442"/>
        </a:xfrm>
        <a:prstGeom prst="flowChartAlternateProcess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21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This is documented in major business/technology press as a defining Nokia-era mobile experience. [3]</a:t>
          </a:r>
          <a:endParaRPr lang="en-US" sz="2000" kern="1200" dirty="0"/>
        </a:p>
      </dsp:txBody>
      <dsp:txXfrm rot="10800000">
        <a:off x="611597" y="2081052"/>
        <a:ext cx="5170773" cy="1232134"/>
      </dsp:txXfrm>
    </dsp:sp>
    <dsp:sp modelId="{2871F334-04C1-4A92-850F-1CA736CDDBF9}">
      <dsp:nvSpPr>
        <dsp:cNvPr id="0" name=""/>
        <dsp:cNvSpPr/>
      </dsp:nvSpPr>
      <dsp:spPr>
        <a:xfrm rot="10800000" flipV="1">
          <a:off x="102615" y="2285315"/>
          <a:ext cx="884847" cy="81964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 t="-3000" b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9D421-0E56-4DD4-AE8F-D80560A608BC}">
      <dsp:nvSpPr>
        <dsp:cNvPr id="0" name=""/>
        <dsp:cNvSpPr/>
      </dsp:nvSpPr>
      <dsp:spPr>
        <a:xfrm rot="10800000">
          <a:off x="1563983" y="3989841"/>
          <a:ext cx="4391704" cy="1365442"/>
        </a:xfrm>
        <a:prstGeom prst="flowChartAlternateProcess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21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Snake’s Nokia 6110 deployment is a </a:t>
          </a:r>
          <a:r>
            <a:rPr lang="en-US" sz="1900" b="1" i="0" kern="1200" baseline="0" dirty="0"/>
            <a:t>verified example</a:t>
          </a:r>
          <a:r>
            <a:rPr lang="en-US" sz="1900" b="0" i="0" kern="1200" baseline="0" dirty="0"/>
            <a:t> of a Nokia-linked cultural product feature in the period. [3]</a:t>
          </a:r>
          <a:endParaRPr lang="en-US" sz="1900" kern="1200" dirty="0"/>
        </a:p>
      </dsp:txBody>
      <dsp:txXfrm rot="10800000">
        <a:off x="1630637" y="4056495"/>
        <a:ext cx="4258396" cy="1232134"/>
      </dsp:txXfrm>
    </dsp:sp>
    <dsp:sp modelId="{657816A9-1E77-48A9-B1A6-20CB1A3FCBFE}">
      <dsp:nvSpPr>
        <dsp:cNvPr id="0" name=""/>
        <dsp:cNvSpPr/>
      </dsp:nvSpPr>
      <dsp:spPr>
        <a:xfrm>
          <a:off x="262791" y="3756958"/>
          <a:ext cx="1831208" cy="1831208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7000" r="-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E5258-1EB5-47CB-B534-93601FA40145}">
      <dsp:nvSpPr>
        <dsp:cNvPr id="0" name=""/>
        <dsp:cNvSpPr/>
      </dsp:nvSpPr>
      <dsp:spPr>
        <a:xfrm>
          <a:off x="765413" y="992758"/>
          <a:ext cx="2194566" cy="1463044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10417" r="-10417"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44C8D-2908-4088-B0A5-E5AE0BA7AFD8}">
      <dsp:nvSpPr>
        <dsp:cNvPr id="0" name=""/>
        <dsp:cNvSpPr/>
      </dsp:nvSpPr>
      <dsp:spPr>
        <a:xfrm>
          <a:off x="417971" y="2882048"/>
          <a:ext cx="2889450" cy="116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3 Sept 2013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Microsoft announced an agreement to acquire Nokia’s Devices &amp; Services business (consumer handset business) and to license Nokia patents. [5]</a:t>
          </a:r>
        </a:p>
      </dsp:txBody>
      <dsp:txXfrm>
        <a:off x="417971" y="2882048"/>
        <a:ext cx="2889450" cy="1165188"/>
      </dsp:txXfrm>
    </dsp:sp>
    <dsp:sp modelId="{0630EE47-100C-4155-8FE0-6DC9C58C2E98}">
      <dsp:nvSpPr>
        <dsp:cNvPr id="0" name=""/>
        <dsp:cNvSpPr/>
      </dsp:nvSpPr>
      <dsp:spPr>
        <a:xfrm>
          <a:off x="4389120" y="855597"/>
          <a:ext cx="1737358" cy="2011685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16666" t="773" r="16666" b="773"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F4CF8-1A10-4067-A2C2-FB3B811AAA64}">
      <dsp:nvSpPr>
        <dsp:cNvPr id="0" name=""/>
        <dsp:cNvSpPr/>
      </dsp:nvSpPr>
      <dsp:spPr>
        <a:xfrm>
          <a:off x="3813075" y="3019208"/>
          <a:ext cx="2889450" cy="116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25 Apr 2014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Nokia announced completion of the sale of substantially all of its Devices &amp; Services business to Microsoft. [6]</a:t>
          </a:r>
        </a:p>
      </dsp:txBody>
      <dsp:txXfrm>
        <a:off x="3813075" y="3019208"/>
        <a:ext cx="2889450" cy="1165188"/>
      </dsp:txXfrm>
    </dsp:sp>
    <dsp:sp modelId="{A133E483-C0B1-4E78-8E8D-694892D1A053}">
      <dsp:nvSpPr>
        <dsp:cNvPr id="0" name=""/>
        <dsp:cNvSpPr/>
      </dsp:nvSpPr>
      <dsp:spPr>
        <a:xfrm>
          <a:off x="8002777" y="1110874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8C430-A446-40DF-947C-82CC44C75722}">
      <dsp:nvSpPr>
        <dsp:cNvPr id="0" name=""/>
        <dsp:cNvSpPr/>
      </dsp:nvSpPr>
      <dsp:spPr>
        <a:xfrm>
          <a:off x="7208178" y="3073604"/>
          <a:ext cx="2889450" cy="855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These announcements provide the verified endpoint for the Nokia-owned consumer handset era in your timeframe. [5], [6]</a:t>
          </a:r>
        </a:p>
      </dsp:txBody>
      <dsp:txXfrm>
        <a:off x="7208178" y="3073604"/>
        <a:ext cx="2889450" cy="8555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E6536-3AC0-4824-BB5A-43787F4ED56C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ED1CF-A9D1-4A70-A59B-A0F03FA94AB3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763C7-13DB-41DE-B4C0-8A6A411CABA6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Early GSM milestone: Nokia positions Nokia 1011 (late 1992) as its first GSM phone. [1]</a:t>
          </a:r>
        </a:p>
      </dsp:txBody>
      <dsp:txXfrm>
        <a:off x="837512" y="3404"/>
        <a:ext cx="9678087" cy="725119"/>
      </dsp:txXfrm>
    </dsp:sp>
    <dsp:sp modelId="{B484A148-94E0-4AF3-8E17-ED9E4FE842B2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959BE-8A1F-4E2E-B490-5AB34E094E31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9277E-F314-4190-97D0-FB59F8E63C56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Consistent brand line in official materials: “Nokia… connecting people.” appears in the 1995 Annual Report (usage verified by 1995; intro date 1992 = SOURCE NEEDED). [7]</a:t>
          </a:r>
        </a:p>
      </dsp:txBody>
      <dsp:txXfrm>
        <a:off x="837512" y="909803"/>
        <a:ext cx="9678087" cy="725119"/>
      </dsp:txXfrm>
    </dsp:sp>
    <dsp:sp modelId="{356873EC-80B6-4096-BE72-6CB7C2D487E9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FE947-D6C5-4464-8625-718F1FC25C2A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63CD5-7186-4969-9709-53A975397219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Product-integrated recognition cue: Nokia 2110 (1994) documented as first to feature the iconic Nokia ringtone. [2]</a:t>
          </a:r>
        </a:p>
      </dsp:txBody>
      <dsp:txXfrm>
        <a:off x="837512" y="1816202"/>
        <a:ext cx="9678087" cy="725119"/>
      </dsp:txXfrm>
    </dsp:sp>
    <dsp:sp modelId="{5E39CD74-B15F-45F2-97B5-AFBA331917C7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75A5F-0791-4081-B067-4B684C472B86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E3B68-915B-46EC-8D84-136AE304DAE0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Cultural feature association: Snake documented on Nokia 6110 (1997). [3]</a:t>
          </a:r>
        </a:p>
      </dsp:txBody>
      <dsp:txXfrm>
        <a:off x="837512" y="2722601"/>
        <a:ext cx="9678087" cy="725119"/>
      </dsp:txXfrm>
    </dsp:sp>
    <dsp:sp modelId="{79E63688-DE52-4BFA-BF68-C7164C7805A8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5F5A5-AAC1-4FBE-A9A1-D36C5A71F9F9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A4049-0334-4FB9-9029-7F0B5118AF82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Scale at peak: Nokia-reported estimated market share figures for 2008 (FY 39%, Q4 37%). [4]</a:t>
          </a:r>
        </a:p>
      </dsp:txBody>
      <dsp:txXfrm>
        <a:off x="837512" y="3629000"/>
        <a:ext cx="9678087" cy="725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2FADC-6292-4804-8B15-EAB2A0B265F9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24513-9FBE-41D6-816B-45A99C126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8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24513-9FBE-41D6-816B-45A99C1268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20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24513-9FBE-41D6-816B-45A99C1268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2554-D612-0B5A-3091-F0934CFBD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43E7B-3DBC-3682-7BCF-C91BBC127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8DA4-E226-52E8-76CC-DA51EB6F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EFE1-751F-AB53-F0C4-1216E8B64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8A0DE-B6A0-34F1-2B9E-4B63138E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9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390C-A83A-EEDF-BD61-B13824D0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1CB9-2A9D-512B-0A68-55ADBE74D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FEF8-7916-3674-9B36-4B7D27F1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B5F5-617E-5084-E9A7-8E7396A3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6F2B0-AC48-81D8-BEAF-A3BFAEF5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BCFC-C19D-60DA-0557-8785F788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950A-B3F0-AF71-3DEF-5B746E8E1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2BD7-2E5C-3BD4-BF4F-28BBBB1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A0741-33F0-5A4B-0352-913ED770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454D9-35E8-BE89-DD2E-A616954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1703-5EB5-E5F2-88D4-1A4ABA18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DCF20-A805-EAF9-B015-C99F162E2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AE3D6-AD76-CF9B-9189-5B4763E81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D3BA-B3EE-C847-5F46-F9048D78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7F918-F63F-C4A2-E445-9175511B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34337-CE4D-9C25-944C-B640009F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0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DEC2-7941-C54B-F841-B12EAC44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899DF-5F54-B024-A3AF-33A71BCF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39B8-A1B4-5502-AFB4-B26734288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B29AB-A53B-6223-EC58-69C437F35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2BA86-E196-AB65-54AD-0D9A343E1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5AC7A-D03C-EEB2-4113-EC405EF1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EC450-3AC1-03B3-09ED-5F2BB888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A0B6D-01E4-3AD4-32EE-E44B878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16D6-DBE4-72BD-B5E9-10E0EE6D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704AC-C159-F235-E76C-4B2A6F1D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5601-C866-15CE-94AF-A8FE8AA1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42510-439E-E960-10CB-51D7219F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3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5D7BD-5818-4AFD-DB82-67E75731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9FA62-CF4B-499D-3325-E73553DA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53A7-6293-CE34-BF16-E331D51F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8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E5A7-99AB-6984-3607-0AB6E697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302A3-1DE9-6A53-687D-091887E2F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AB978-D969-EB29-2E73-67652115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F9A00-FD61-0EEA-762B-A23E3A8F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75036-E551-9C88-0553-8B530F39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2208-9D0D-3B50-E934-AB0AC0CA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F075-7FA6-39F9-5E85-E3B21ACD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6E3C2-6854-4DEA-3F78-254CA6B8A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FBB4F-8465-54DB-5BE4-2D709BC03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09749-B920-75FF-17EA-0B5842A9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4FD18-EF73-77D9-9344-45E45481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49BE6-0B22-3B7D-0CB5-EEFFBFFB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0E78-0B77-87FA-F5C6-99726AD1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6B2A-EDE2-647A-0501-B7D7052E3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452A4-4E61-9EE9-D1B2-F83589FA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85B3-2CAB-21FD-AB61-B237108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D387-DC80-AC41-3F12-5AADAD3C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5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09530-096D-0266-AF55-7F778106A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C4E-9ADD-E3E0-275B-F485A3357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F8BD-8FCB-0A89-4B5A-36336B2B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C43C-AB24-88B2-46F0-08864A71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05142-9B72-2401-B6CB-0886981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9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F819B-09A8-6472-784F-CD84D4F9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3FDB-74F0-67D7-B9F3-3028D0DC6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E906-F077-13E1-EFE8-C6C659BA3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4307-04EA-1126-ADBF-DA9602834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FBACD-684F-9A81-FA26-A1DC1BD74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4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9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3.png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lib.aalto.fi/fi/old/yrityspalvelin/pdf/1995/enokia.pdf" TargetMode="External"/><Relationship Id="rId3" Type="http://schemas.openxmlformats.org/officeDocument/2006/relationships/hyperlink" Target="https://www.cntr.salford.ac.uk/comms/gsm_mobiles.php" TargetMode="External"/><Relationship Id="rId7" Type="http://schemas.openxmlformats.org/officeDocument/2006/relationships/hyperlink" Target="https://www.nokia.com/newsroom/nokia-completes-sale-of-substantially-all-of-its-devices--services-business-to-microsoft/" TargetMode="External"/><Relationship Id="rId2" Type="http://schemas.openxmlformats.org/officeDocument/2006/relationships/hyperlink" Target="https://www.nokia.com/blog/thirty-years-on-from-the-call-that-transformed-how-we-communica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ws.microsoft.com/source/2013/09/03/microsoft-to-acquire-nokias-devices-services-business-license-nokias-patents-and-mapping-services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nokia.com/system/files/files/q4-2008-earnings-release-pdf.pdf" TargetMode="External"/><Relationship Id="rId10" Type="http://schemas.openxmlformats.org/officeDocument/2006/relationships/image" Target="../media/image44.png"/><Relationship Id="rId4" Type="http://schemas.openxmlformats.org/officeDocument/2006/relationships/hyperlink" Target="https://www.theguardian.com/technology/2015/may/06/snake-rewind-taneli-armanto-ios-android-windows-phone" TargetMode="External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globe with people&#10;&#10;AI-generated content may be incorrect.">
            <a:extLst>
              <a:ext uri="{FF2B5EF4-FFF2-40B4-BE49-F238E27FC236}">
                <a16:creationId xmlns:a16="http://schemas.microsoft.com/office/drawing/2014/main" id="{25D421DE-36C4-1302-7D43-35A0BF596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A98C9-F2E8-8C4B-D544-A5F54E50A1E3}"/>
              </a:ext>
            </a:extLst>
          </p:cNvPr>
          <p:cNvSpPr txBox="1"/>
          <p:nvPr/>
        </p:nvSpPr>
        <p:spPr>
          <a:xfrm>
            <a:off x="117988" y="4758504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Module leader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B4AE2-4DD3-AFBC-7A96-0C6BB2A655DA}"/>
              </a:ext>
            </a:extLst>
          </p:cNvPr>
          <p:cNvSpPr txBox="1"/>
          <p:nvPr/>
        </p:nvSpPr>
        <p:spPr>
          <a:xfrm>
            <a:off x="117988" y="5016134"/>
            <a:ext cx="1995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Dr. Gábor Rekettye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5F894-5322-0C33-A887-E17105322FA3}"/>
              </a:ext>
            </a:extLst>
          </p:cNvPr>
          <p:cNvSpPr txBox="1"/>
          <p:nvPr/>
        </p:nvSpPr>
        <p:spPr>
          <a:xfrm>
            <a:off x="116464" y="5329615"/>
            <a:ext cx="184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MKTB352_26S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849EB-1EF7-4199-E88A-B6FE20E42CD5}"/>
              </a:ext>
            </a:extLst>
          </p:cNvPr>
          <p:cNvSpPr txBox="1"/>
          <p:nvPr/>
        </p:nvSpPr>
        <p:spPr>
          <a:xfrm>
            <a:off x="116464" y="5749923"/>
            <a:ext cx="310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Mohammadali Ghaderi</a:t>
            </a:r>
          </a:p>
        </p:txBody>
      </p:sp>
    </p:spTree>
    <p:extLst>
      <p:ext uri="{BB962C8B-B14F-4D97-AF65-F5344CB8AC3E}">
        <p14:creationId xmlns:p14="http://schemas.microsoft.com/office/powerpoint/2010/main" val="35531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F28DE235-9E3D-61CA-3F05-CF97A18F7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59" t="9091" r="7404"/>
          <a:stretch>
            <a:fillRect/>
          </a:stretch>
        </p:blipFill>
        <p:spPr>
          <a:xfrm>
            <a:off x="3333510" y="0"/>
            <a:ext cx="8858488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close-up of hands reaching out to each other">
            <a:extLst>
              <a:ext uri="{FF2B5EF4-FFF2-40B4-BE49-F238E27FC236}">
                <a16:creationId xmlns:a16="http://schemas.microsoft.com/office/drawing/2014/main" id="{93E90675-8342-55D7-20E4-D570F6E96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88" y="2546428"/>
            <a:ext cx="4988074" cy="28743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D44F812-3671-C7C0-D53F-3EDFB05501BC}"/>
              </a:ext>
            </a:extLst>
          </p:cNvPr>
          <p:cNvSpPr txBox="1"/>
          <p:nvPr/>
        </p:nvSpPr>
        <p:spPr>
          <a:xfrm>
            <a:off x="390445" y="771988"/>
            <a:ext cx="369043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Nokia Pure Headline Extra Bold" panose="020B0904040602060303" pitchFamily="34" charset="0"/>
                <a:ea typeface="Nokia Sans S60" pitchFamily="2" charset="-128"/>
                <a:cs typeface="Nokia Sans S60" pitchFamily="2" charset="-128"/>
              </a:rPr>
              <a:t>NOKIA</a:t>
            </a:r>
          </a:p>
        </p:txBody>
      </p:sp>
    </p:spTree>
    <p:extLst>
      <p:ext uri="{BB962C8B-B14F-4D97-AF65-F5344CB8AC3E}">
        <p14:creationId xmlns:p14="http://schemas.microsoft.com/office/powerpoint/2010/main" val="285229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orange and black circle&#10;&#10;AI-generated content may be incorrect.">
            <a:extLst>
              <a:ext uri="{FF2B5EF4-FFF2-40B4-BE49-F238E27FC236}">
                <a16:creationId xmlns:a16="http://schemas.microsoft.com/office/drawing/2014/main" id="{B5DF7A68-6960-6C6C-F9C5-DFF488AE8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4" r="47123" b="5375"/>
          <a:stretch>
            <a:fillRect/>
          </a:stretch>
        </p:blipFill>
        <p:spPr>
          <a:xfrm rot="10800000">
            <a:off x="0" y="-3"/>
            <a:ext cx="2281298" cy="68580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EDBD3-A9B2-4BA5-0C1F-B3FFC35F0EC4}"/>
              </a:ext>
            </a:extLst>
          </p:cNvPr>
          <p:cNvSpPr txBox="1"/>
          <p:nvPr/>
        </p:nvSpPr>
        <p:spPr>
          <a:xfrm>
            <a:off x="96588" y="1068923"/>
            <a:ext cx="21024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History</a:t>
            </a:r>
          </a:p>
          <a:p>
            <a:r>
              <a:rPr lang="en-US" sz="3200" dirty="0"/>
              <a:t>of</a:t>
            </a:r>
          </a:p>
          <a:p>
            <a:r>
              <a:rPr lang="en-US" sz="3200" dirty="0"/>
              <a:t>Innovation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6FB95AF-E350-B6EC-EB59-281E6AF07E6E}"/>
              </a:ext>
            </a:extLst>
          </p:cNvPr>
          <p:cNvGrpSpPr/>
          <p:nvPr/>
        </p:nvGrpSpPr>
        <p:grpSpPr>
          <a:xfrm>
            <a:off x="2744534" y="128619"/>
            <a:ext cx="1918312" cy="2031182"/>
            <a:chOff x="6213528" y="923244"/>
            <a:chExt cx="1918312" cy="2031182"/>
          </a:xfrm>
        </p:grpSpPr>
        <p:pic>
          <p:nvPicPr>
            <p:cNvPr id="19" name="Picture 1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82ED41E-153B-6FA2-4369-D3E8516D1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1785" y="923244"/>
              <a:ext cx="1379903" cy="138521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123A361-6DA8-17E7-F4AC-9594BAE93943}"/>
                </a:ext>
              </a:extLst>
            </p:cNvPr>
            <p:cNvGrpSpPr/>
            <p:nvPr/>
          </p:nvGrpSpPr>
          <p:grpSpPr>
            <a:xfrm>
              <a:off x="6213528" y="2343505"/>
              <a:ext cx="1918312" cy="610921"/>
              <a:chOff x="7293330" y="2158839"/>
              <a:chExt cx="1918312" cy="61092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9409A94-C4EE-3985-895F-45A9907A4E72}"/>
                  </a:ext>
                </a:extLst>
              </p:cNvPr>
              <p:cNvSpPr txBox="1"/>
              <p:nvPr/>
            </p:nvSpPr>
            <p:spPr>
              <a:xfrm>
                <a:off x="7293330" y="2377601"/>
                <a:ext cx="1918312" cy="39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Nokia Corporation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6D89AC7-153E-DB27-25C5-C788A3C531A9}"/>
                  </a:ext>
                </a:extLst>
              </p:cNvPr>
              <p:cNvSpPr txBox="1"/>
              <p:nvPr/>
            </p:nvSpPr>
            <p:spPr>
              <a:xfrm>
                <a:off x="7915269" y="2158839"/>
                <a:ext cx="6744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1967</a:t>
                </a:r>
                <a:endParaRPr lang="en-US" dirty="0"/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4ADAA07-3CF5-62DF-44B7-D1C640CADA02}"/>
              </a:ext>
            </a:extLst>
          </p:cNvPr>
          <p:cNvGrpSpPr/>
          <p:nvPr/>
        </p:nvGrpSpPr>
        <p:grpSpPr>
          <a:xfrm>
            <a:off x="8882379" y="993347"/>
            <a:ext cx="2209800" cy="942666"/>
            <a:chOff x="9483872" y="777434"/>
            <a:chExt cx="2209800" cy="942666"/>
          </a:xfrm>
        </p:grpSpPr>
        <p:pic>
          <p:nvPicPr>
            <p:cNvPr id="21" name="Picture 20" descr="A blue and black logo">
              <a:extLst>
                <a:ext uri="{FF2B5EF4-FFF2-40B4-BE49-F238E27FC236}">
                  <a16:creationId xmlns:a16="http://schemas.microsoft.com/office/drawing/2014/main" id="{4631DDAE-3EB1-7BD9-FAB8-BFCBB7892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3872" y="777434"/>
              <a:ext cx="2209800" cy="37387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3007DB3-99C9-A853-21EB-878509F63829}"/>
                </a:ext>
              </a:extLst>
            </p:cNvPr>
            <p:cNvGrpSpPr/>
            <p:nvPr/>
          </p:nvGrpSpPr>
          <p:grpSpPr>
            <a:xfrm>
              <a:off x="9629616" y="1139659"/>
              <a:ext cx="1918312" cy="580441"/>
              <a:chOff x="7293330" y="2250279"/>
              <a:chExt cx="1918312" cy="58044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3271A5-BEC5-40DB-CDFB-9881646493DE}"/>
                  </a:ext>
                </a:extLst>
              </p:cNvPr>
              <p:cNvSpPr txBox="1"/>
              <p:nvPr/>
            </p:nvSpPr>
            <p:spPr>
              <a:xfrm>
                <a:off x="7293330" y="2438561"/>
                <a:ext cx="1918312" cy="39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Nokia Corporation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A3FA56-E766-BDEF-8193-01946F62648E}"/>
                  </a:ext>
                </a:extLst>
              </p:cNvPr>
              <p:cNvSpPr txBox="1"/>
              <p:nvPr/>
            </p:nvSpPr>
            <p:spPr>
              <a:xfrm>
                <a:off x="7915269" y="2250279"/>
                <a:ext cx="6744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1987</a:t>
                </a:r>
                <a:endParaRPr lang="en-US" dirty="0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58FCDA-6946-BE6C-DCDD-B1D3752F7741}"/>
              </a:ext>
            </a:extLst>
          </p:cNvPr>
          <p:cNvGrpSpPr/>
          <p:nvPr/>
        </p:nvGrpSpPr>
        <p:grpSpPr>
          <a:xfrm>
            <a:off x="5626554" y="97935"/>
            <a:ext cx="2659132" cy="1900649"/>
            <a:chOff x="7844111" y="3943482"/>
            <a:chExt cx="2659132" cy="1900649"/>
          </a:xfrm>
        </p:grpSpPr>
        <p:pic>
          <p:nvPicPr>
            <p:cNvPr id="25" name="Picture 24" descr="A close-up of a radio&#10;&#10;AI-generated content may be incorrect.">
              <a:extLst>
                <a:ext uri="{FF2B5EF4-FFF2-40B4-BE49-F238E27FC236}">
                  <a16:creationId xmlns:a16="http://schemas.microsoft.com/office/drawing/2014/main" id="{5BB4D7F0-7CB5-DE0E-51AE-127496E3E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4111" y="3943482"/>
              <a:ext cx="990049" cy="1900649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D22D0CF-2D95-2C4B-9B7D-FE7E67170B9E}"/>
                </a:ext>
              </a:extLst>
            </p:cNvPr>
            <p:cNvGrpSpPr/>
            <p:nvPr/>
          </p:nvGrpSpPr>
          <p:grpSpPr>
            <a:xfrm>
              <a:off x="8826684" y="4644529"/>
              <a:ext cx="1676559" cy="1199602"/>
              <a:chOff x="4829075" y="4414748"/>
              <a:chExt cx="1676559" cy="119960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A0D8D3F-A968-2D2F-4EF7-4B8D10960C6A}"/>
                  </a:ext>
                </a:extLst>
              </p:cNvPr>
              <p:cNvSpPr txBox="1"/>
              <p:nvPr/>
            </p:nvSpPr>
            <p:spPr>
              <a:xfrm>
                <a:off x="4829075" y="4691020"/>
                <a:ext cx="167655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Develops</a:t>
                </a:r>
              </a:p>
              <a:p>
                <a:pPr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the</a:t>
                </a:r>
              </a:p>
              <a:p>
                <a:pPr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First Car Phone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BEB1FE-8714-2722-3CAF-B917209F481D}"/>
                  </a:ext>
                </a:extLst>
              </p:cNvPr>
              <p:cNvSpPr txBox="1"/>
              <p:nvPr/>
            </p:nvSpPr>
            <p:spPr>
              <a:xfrm>
                <a:off x="4836551" y="4414748"/>
                <a:ext cx="7730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B Nazanin" panose="00000400000000000000" pitchFamily="2" charset="-78"/>
                  </a:rPr>
                  <a:t>1974</a:t>
                </a:r>
                <a:endParaRPr lang="en-US" dirty="0"/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87E92C6-8A99-8ECB-ADAA-B99F9BC1666B}"/>
              </a:ext>
            </a:extLst>
          </p:cNvPr>
          <p:cNvSpPr txBox="1"/>
          <p:nvPr/>
        </p:nvSpPr>
        <p:spPr>
          <a:xfrm>
            <a:off x="2326139" y="2551255"/>
            <a:ext cx="7322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ea typeface="Aptos" panose="020B0004020202020204" pitchFamily="34" charset="0"/>
                <a:cs typeface="B Nazanin" panose="00000400000000000000" pitchFamily="2" charset="-78"/>
              </a:rPr>
              <a:t>In 1910 starts to Provide Electricity to Finnish homes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F522AC-9CD7-5E92-7074-30078747C712}"/>
              </a:ext>
            </a:extLst>
          </p:cNvPr>
          <p:cNvSpPr txBox="1"/>
          <p:nvPr/>
        </p:nvSpPr>
        <p:spPr>
          <a:xfrm>
            <a:off x="2327909" y="2976668"/>
            <a:ext cx="6131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1912 Beginning of Finnish cable works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940E1F-128B-7C6A-9446-CB2DF3EBDF5C}"/>
              </a:ext>
            </a:extLst>
          </p:cNvPr>
          <p:cNvSpPr txBox="1"/>
          <p:nvPr/>
        </p:nvSpPr>
        <p:spPr>
          <a:xfrm>
            <a:off x="2326140" y="3386926"/>
            <a:ext cx="9077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1963 Developed VHF radio and the beginnings of telecommunication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AAF418-15C7-4C77-0F80-8879A8743B8F}"/>
              </a:ext>
            </a:extLst>
          </p:cNvPr>
          <p:cNvSpPr txBox="1"/>
          <p:nvPr/>
        </p:nvSpPr>
        <p:spPr>
          <a:xfrm>
            <a:off x="2326140" y="3832331"/>
            <a:ext cx="6131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1971 First digital exchange switch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3B57E4-628B-EE86-277E-A0A41C8111CB}"/>
              </a:ext>
            </a:extLst>
          </p:cNvPr>
          <p:cNvSpPr txBox="1"/>
          <p:nvPr/>
        </p:nvSpPr>
        <p:spPr>
          <a:xfrm>
            <a:off x="2337012" y="4225845"/>
            <a:ext cx="7650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1981 creates First international Mobile Network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8ABDB1-92D7-9328-57FE-3BFE78BCF2D1}"/>
              </a:ext>
            </a:extLst>
          </p:cNvPr>
          <p:cNvSpPr txBox="1"/>
          <p:nvPr/>
        </p:nvSpPr>
        <p:spPr>
          <a:xfrm>
            <a:off x="2341701" y="46288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1985 Launched first portable phones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C4396B-C6A1-F9E4-0228-EFA2B4E011F7}"/>
              </a:ext>
            </a:extLst>
          </p:cNvPr>
          <p:cNvSpPr txBox="1"/>
          <p:nvPr/>
        </p:nvSpPr>
        <p:spPr>
          <a:xfrm>
            <a:off x="2341701" y="5027238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1987 Launch First hand held phone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095BFD-EE7D-309A-D964-B9F26ADAC3FA}"/>
              </a:ext>
            </a:extLst>
          </p:cNvPr>
          <p:cNvSpPr txBox="1"/>
          <p:nvPr/>
        </p:nvSpPr>
        <p:spPr>
          <a:xfrm>
            <a:off x="2341701" y="5378347"/>
            <a:ext cx="803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July 1, 1991 First official GSM call happened (Finland)[1]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78BA8C-C628-5897-8EFB-03533C3DAC7E}"/>
              </a:ext>
            </a:extLst>
          </p:cNvPr>
          <p:cNvSpPr txBox="1"/>
          <p:nvPr/>
        </p:nvSpPr>
        <p:spPr>
          <a:xfrm>
            <a:off x="2341700" y="5796081"/>
            <a:ext cx="9518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3 Dec 1992 First SMS message sent via Nokia phone with fully supported user-sending of SMS text messages[8]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644D6-FCF9-1C30-DAE2-A8A1BC134770}"/>
              </a:ext>
            </a:extLst>
          </p:cNvPr>
          <p:cNvSpPr txBox="1"/>
          <p:nvPr/>
        </p:nvSpPr>
        <p:spPr>
          <a:xfrm>
            <a:off x="96588" y="2547027"/>
            <a:ext cx="1879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(1910–1991)</a:t>
            </a:r>
          </a:p>
        </p:txBody>
      </p:sp>
    </p:spTree>
    <p:extLst>
      <p:ext uri="{BB962C8B-B14F-4D97-AF65-F5344CB8AC3E}">
        <p14:creationId xmlns:p14="http://schemas.microsoft.com/office/powerpoint/2010/main" val="17379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2" grpId="0"/>
      <p:bldP spid="64" grpId="0"/>
      <p:bldP spid="66" grpId="0"/>
      <p:bldP spid="68" grpId="0"/>
      <p:bldP spid="70" grpId="0"/>
      <p:bldP spid="72" grpId="0"/>
      <p:bldP spid="74" grpId="0"/>
      <p:bldP spid="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7" name="Picture 16" descr="A orange and purple circle">
            <a:extLst>
              <a:ext uri="{FF2B5EF4-FFF2-40B4-BE49-F238E27FC236}">
                <a16:creationId xmlns:a16="http://schemas.microsoft.com/office/drawing/2014/main" id="{72FB2014-87E1-EF45-D550-B82BA3E57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2" y="1657616"/>
            <a:ext cx="4599029" cy="463502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B8B09EB-AAA9-F3A5-F17C-2163BB26D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051936"/>
              </p:ext>
            </p:extLst>
          </p:nvPr>
        </p:nvGraphicFramePr>
        <p:xfrm>
          <a:off x="5108535" y="1070800"/>
          <a:ext cx="645354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Picture 6" descr="A blue and black logo">
            <a:extLst>
              <a:ext uri="{FF2B5EF4-FFF2-40B4-BE49-F238E27FC236}">
                <a16:creationId xmlns:a16="http://schemas.microsoft.com/office/drawing/2014/main" id="{A4A86C6C-4C2E-C394-BF28-5068641E74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3" y="379285"/>
            <a:ext cx="2379406" cy="6915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25F85A-DC91-5EB7-B2E5-9490878D3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6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dirty="0"/>
              <a:t>Origins &amp; Slogan Evidence</a:t>
            </a:r>
          </a:p>
        </p:txBody>
      </p:sp>
      <p:pic>
        <p:nvPicPr>
          <p:cNvPr id="19" name="Picture 18" descr="Blue lines in a black background&#10;&#10;AI-generated content may be incorrect.">
            <a:extLst>
              <a:ext uri="{FF2B5EF4-FFF2-40B4-BE49-F238E27FC236}">
                <a16:creationId xmlns:a16="http://schemas.microsoft.com/office/drawing/2014/main" id="{75EB7A73-8FEB-36F5-FADD-D366DEA50C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00000">
            <a:off x="10116434" y="117327"/>
            <a:ext cx="1972583" cy="1215430"/>
          </a:xfrm>
          <a:prstGeom prst="rect">
            <a:avLst/>
          </a:prstGeom>
        </p:spPr>
      </p:pic>
      <p:pic>
        <p:nvPicPr>
          <p:cNvPr id="22" name="Picture 21" descr="A close-up of a cell phone">
            <a:extLst>
              <a:ext uri="{FF2B5EF4-FFF2-40B4-BE49-F238E27FC236}">
                <a16:creationId xmlns:a16="http://schemas.microsoft.com/office/drawing/2014/main" id="{6CB03CDE-D4CC-FA4D-D111-CF41D9ABAA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513" y="498107"/>
            <a:ext cx="1591937" cy="293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4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DAE041D-2517-1C3B-CCAD-F879E7B5B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35309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green line on a black background">
            <a:extLst>
              <a:ext uri="{FF2B5EF4-FFF2-40B4-BE49-F238E27FC236}">
                <a16:creationId xmlns:a16="http://schemas.microsoft.com/office/drawing/2014/main" id="{6F259B82-E61E-2F39-4B08-CE0F832279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13" y="4513"/>
            <a:ext cx="1626087" cy="1066287"/>
          </a:xfrm>
          <a:prstGeom prst="rect">
            <a:avLst/>
          </a:prstGeom>
        </p:spPr>
      </p:pic>
      <p:pic>
        <p:nvPicPr>
          <p:cNvPr id="5" name="Picture 4" descr="A blue and black logo">
            <a:extLst>
              <a:ext uri="{FF2B5EF4-FFF2-40B4-BE49-F238E27FC236}">
                <a16:creationId xmlns:a16="http://schemas.microsoft.com/office/drawing/2014/main" id="{E4B9E8C6-B14D-1118-2CEB-6BC8E33ED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3" y="379285"/>
            <a:ext cx="2379406" cy="6915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F77F29-76A3-3098-EE63-0EA1DF98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 dirty="0"/>
              <a:t>Early Brand Recognition Through Product-Embedded Cues</a:t>
            </a:r>
          </a:p>
        </p:txBody>
      </p:sp>
      <p:pic>
        <p:nvPicPr>
          <p:cNvPr id="11" name="Picture 10" descr="A close-up of a cell phone&#10;&#10;AI-generated content may be incorrect.">
            <a:extLst>
              <a:ext uri="{FF2B5EF4-FFF2-40B4-BE49-F238E27FC236}">
                <a16:creationId xmlns:a16="http://schemas.microsoft.com/office/drawing/2014/main" id="{1D4ACACD-26DC-6E9A-EA77-D39C4393D4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025" y="105951"/>
            <a:ext cx="2048665" cy="307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8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1CCD4-CCA0-6904-1B0A-4EE69BDB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Cultural Embeddedness via Shared Consumer Experiences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BFD5D76E-9E30-6131-F3BD-74A0F6EC5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017272"/>
              </p:ext>
            </p:extLst>
          </p:nvPr>
        </p:nvGraphicFramePr>
        <p:xfrm>
          <a:off x="5108535" y="1070800"/>
          <a:ext cx="6604067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2" name="Picture 41" descr="A blue and black logo">
            <a:extLst>
              <a:ext uri="{FF2B5EF4-FFF2-40B4-BE49-F238E27FC236}">
                <a16:creationId xmlns:a16="http://schemas.microsoft.com/office/drawing/2014/main" id="{EAC9F48C-0958-FB2A-9DF2-3AB3CC953E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3" y="379285"/>
            <a:ext cx="2379406" cy="691515"/>
          </a:xfrm>
          <a:prstGeom prst="rect">
            <a:avLst/>
          </a:prstGeom>
        </p:spPr>
      </p:pic>
      <p:pic>
        <p:nvPicPr>
          <p:cNvPr id="46" name="Picture 45" descr="A black and blue face with orange circle&#10;&#10;AI-generated content may be incorrect.">
            <a:extLst>
              <a:ext uri="{FF2B5EF4-FFF2-40B4-BE49-F238E27FC236}">
                <a16:creationId xmlns:a16="http://schemas.microsoft.com/office/drawing/2014/main" id="{FB3FBB90-5271-E725-2B72-FF2F0F7D3F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075" y="5975961"/>
            <a:ext cx="1732675" cy="898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36A55BE-10D3-3026-8A75-D4FF1EA89D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81996" y="-276189"/>
            <a:ext cx="257143" cy="809524"/>
          </a:xfrm>
          <a:prstGeom prst="rect">
            <a:avLst/>
          </a:prstGeom>
        </p:spPr>
      </p:pic>
      <p:pic>
        <p:nvPicPr>
          <p:cNvPr id="51" name="Picture 50" descr="A close-up of a cell phone&#10;&#10;AI-generated content may be incorrect.">
            <a:extLst>
              <a:ext uri="{FF2B5EF4-FFF2-40B4-BE49-F238E27FC236}">
                <a16:creationId xmlns:a16="http://schemas.microsoft.com/office/drawing/2014/main" id="{02430AE8-B80B-C965-CEBE-0F49377AFD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977" y="128573"/>
            <a:ext cx="952500" cy="28575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0D30E90-8932-B58B-461D-A003C64E6361}"/>
              </a:ext>
            </a:extLst>
          </p:cNvPr>
          <p:cNvSpPr txBox="1"/>
          <p:nvPr/>
        </p:nvSpPr>
        <p:spPr>
          <a:xfrm>
            <a:off x="7608108" y="725042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6CB7"/>
                </a:solidFill>
                <a:latin typeface="Nokia Pure Headline" panose="020B0504040602060303" pitchFamily="34" charset="0"/>
              </a:rPr>
              <a:t>First mobile gaming</a:t>
            </a:r>
          </a:p>
        </p:txBody>
      </p:sp>
    </p:spTree>
    <p:extLst>
      <p:ext uri="{BB962C8B-B14F-4D97-AF65-F5344CB8AC3E}">
        <p14:creationId xmlns:p14="http://schemas.microsoft.com/office/powerpoint/2010/main" val="186606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CF212-AEAD-BE74-3B3D-B925BFAB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606" y="382967"/>
            <a:ext cx="5243394" cy="18307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Peak Dominance &amp; Brand Scale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3BDCF58-B373-1273-F8A4-F970B16CF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334" y="2732655"/>
            <a:ext cx="6605420" cy="3385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1F517-62A2-E231-B3FA-EA107D1F0FB0}"/>
              </a:ext>
            </a:extLst>
          </p:cNvPr>
          <p:cNvSpPr txBox="1"/>
          <p:nvPr/>
        </p:nvSpPr>
        <p:spPr>
          <a:xfrm>
            <a:off x="7409778" y="1811409"/>
            <a:ext cx="4597198" cy="4366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In its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</a:rPr>
              <a:t>Q4 and full-year 2008 interim report</a:t>
            </a: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, Nokia reports estimated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</a:rPr>
              <a:t>full-year 2008 mobile device market share: 39%</a:t>
            </a: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, and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</a:rPr>
              <a:t>Q4 2008: 37%</a:t>
            </a: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. [4]</a:t>
            </a:r>
          </a:p>
          <a:p>
            <a:pPr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These figures are explicitly presented by Nokia as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</a:rPr>
              <a:t>estimated market share</a:t>
            </a: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 in its investor/stock exchange reporting. [4]</a:t>
            </a:r>
          </a:p>
          <a:p>
            <a:pPr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</a:rPr>
              <a:t>The reported scale indicates Nokia’s consumer devices had very wide global distribution at that time (as measured by Nokia’s market-share estimate). [4]</a:t>
            </a:r>
          </a:p>
        </p:txBody>
      </p:sp>
      <p:pic>
        <p:nvPicPr>
          <p:cNvPr id="10" name="Picture 9" descr="A blue and black logo">
            <a:extLst>
              <a:ext uri="{FF2B5EF4-FFF2-40B4-BE49-F238E27FC236}">
                <a16:creationId xmlns:a16="http://schemas.microsoft.com/office/drawing/2014/main" id="{9C72DD3B-616A-1364-C97B-D5F2060D7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570" y="379285"/>
            <a:ext cx="2379406" cy="69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4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D0684DE-B490-87CE-548D-3F9C4FB4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8C789-154F-CCA4-FF8D-4B753DDA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Divestment &amp; Period Endpoint (2013–2014)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08F3ED-69E1-29FA-2370-A4AB9ADC6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1943033"/>
              </p:ext>
            </p:extLst>
          </p:nvPr>
        </p:nvGraphicFramePr>
        <p:xfrm>
          <a:off x="838200" y="1452880"/>
          <a:ext cx="10515600" cy="5039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998E74-D8CC-DFDA-E418-75C1975075AC}"/>
              </a:ext>
            </a:extLst>
          </p:cNvPr>
          <p:cNvSpPr txBox="1"/>
          <p:nvPr/>
        </p:nvSpPr>
        <p:spPr>
          <a:xfrm>
            <a:off x="5512346" y="1965008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B7"/>
                </a:solidFill>
              </a:rPr>
              <a:t>Lumia 900</a:t>
            </a:r>
          </a:p>
        </p:txBody>
      </p:sp>
    </p:spTree>
    <p:extLst>
      <p:ext uri="{BB962C8B-B14F-4D97-AF65-F5344CB8AC3E}">
        <p14:creationId xmlns:p14="http://schemas.microsoft.com/office/powerpoint/2010/main" val="239865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562E2-089D-E965-9C99-4DD52ED7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Key Takeaway: What Made the Brand Unique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26737-AE2D-D65A-F405-C3E0E0623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93538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569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6256E-99CE-E262-F9FB-A96EFBB6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Reference list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C992B-39EC-1D6E-41B2-33E21C20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929384"/>
            <a:ext cx="11511935" cy="464616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[1] Nokia (2021) Thirty years on from the call that transformed how we communicate (notes Nokia 1011 as Nokia’s first GSM phone; late 1992). </a:t>
            </a:r>
            <a:r>
              <a:rPr lang="en-US" sz="1800" dirty="0">
                <a:hlinkClick r:id="rId2"/>
              </a:rPr>
              <a:t>https://www.nokia.com/blog/thirty-years-on-from-the-call-that-transformed-how-we-communicate/</a:t>
            </a:r>
            <a:endParaRPr lang="en-US" sz="1800" dirty="0"/>
          </a:p>
          <a:p>
            <a:r>
              <a:rPr lang="en-US" sz="1800" dirty="0"/>
              <a:t>[2] University of Salford (n.d.) GSM Mobiles – 2G (states Nokia 2110 released 1994; first to feature iconic Nokia ringtone). </a:t>
            </a:r>
            <a:r>
              <a:rPr lang="en-US" sz="1800" dirty="0">
                <a:hlinkClick r:id="rId3"/>
              </a:rPr>
              <a:t>https://www.cntr.salford.ac.uk/comms/gsm_mobiles.php</a:t>
            </a:r>
            <a:endParaRPr lang="en-US" sz="1800" dirty="0"/>
          </a:p>
          <a:p>
            <a:r>
              <a:rPr lang="en-US" sz="1800" dirty="0"/>
              <a:t>[3] Dredge, S. (2015) ‘Snake returns for modern smartphones…’, The Guardian (states Snake appeared on Nokia 6110 in 1997). </a:t>
            </a:r>
            <a:r>
              <a:rPr lang="en-US" sz="1800" dirty="0">
                <a:hlinkClick r:id="rId4"/>
              </a:rPr>
              <a:t>https://www.theguardian.com/technology/2015/may/06/snake-rewind-taneli-armanto-ios-android-windows-phone</a:t>
            </a:r>
            <a:endParaRPr lang="en-US" sz="1800" dirty="0"/>
          </a:p>
          <a:p>
            <a:r>
              <a:rPr lang="en-US" sz="1800" dirty="0"/>
              <a:t>[4] Nokia (2009) Interim Report: Q4 and full year 2008 (includes Nokia’s estimated mobile device market share figures for 2008). </a:t>
            </a:r>
            <a:r>
              <a:rPr lang="en-US" sz="1800" dirty="0">
                <a:hlinkClick r:id="rId5"/>
              </a:rPr>
              <a:t>https://www.nokia.com/system/files/files/q4-2008-earnings-release-pdf.pdf</a:t>
            </a:r>
            <a:endParaRPr lang="en-US" sz="1800" dirty="0"/>
          </a:p>
          <a:p>
            <a:r>
              <a:rPr lang="en-US" sz="1800" dirty="0"/>
              <a:t>[5] Microsoft (2013) Microsoft to acquire Nokia’s Devices &amp; Services business… (transaction announcement). </a:t>
            </a:r>
            <a:r>
              <a:rPr lang="en-US" sz="1800" dirty="0">
                <a:hlinkClick r:id="rId6"/>
              </a:rPr>
              <a:t>https://news.microsoft.com/source/2013/09/03/microsoft-to-acquire-nokias-devices-services-business-license-nokias-patents-and-mapping-services/</a:t>
            </a:r>
            <a:endParaRPr lang="en-US" sz="1800" dirty="0"/>
          </a:p>
          <a:p>
            <a:r>
              <a:rPr lang="en-US" sz="1800" dirty="0"/>
              <a:t>[6] Nokia (2014) Nokia completes sale of substantially all of its Devices &amp; Services business to Microsoft (completion announcement; 25 Apr 2014). </a:t>
            </a:r>
            <a:r>
              <a:rPr lang="en-US" sz="1800" dirty="0">
                <a:hlinkClick r:id="rId7"/>
              </a:rPr>
              <a:t>https://www.nokia.com/newsroom/nokia-completes-sale-of-substantially-all-of-its-devices--services-business-to-microsoft/</a:t>
            </a:r>
            <a:endParaRPr lang="en-US" sz="1800" dirty="0"/>
          </a:p>
          <a:p>
            <a:r>
              <a:rPr lang="en-US" sz="1800" dirty="0"/>
              <a:t>[7] Nokia (1995) Annual Report 1995 (contains “Nokia… connecting people.” confirming slogan usage by 1995; not sufficient alone to prove “introduced in 1992”). </a:t>
            </a:r>
            <a:r>
              <a:rPr lang="en-US" sz="1800" dirty="0">
                <a:hlinkClick r:id="rId8"/>
              </a:rPr>
              <a:t>https://web.lib.aalto.fi/fi/old/yrityspalvelin/pdf/1995/enokia.pdf</a:t>
            </a:r>
            <a:endParaRPr lang="en-US" sz="1800" dirty="0"/>
          </a:p>
          <a:p>
            <a:r>
              <a:rPr lang="en-US" sz="1800" b="1" dirty="0"/>
              <a:t>[8</a:t>
            </a:r>
            <a:r>
              <a:rPr lang="en-US" sz="1800" dirty="0"/>
              <a:t>] Wikipedia Nael, </a:t>
            </a:r>
            <a:r>
              <a:rPr lang="en-US" sz="1800" dirty="0" err="1"/>
              <a:t>Merili</a:t>
            </a:r>
            <a:r>
              <a:rPr lang="en-US" sz="1800" dirty="0"/>
              <a:t> (June 30, 2015). "Suri </a:t>
            </a:r>
            <a:r>
              <a:rPr lang="en-US" sz="1800" dirty="0" err="1"/>
              <a:t>tekstisõnumite</a:t>
            </a:r>
            <a:r>
              <a:rPr lang="en-US" sz="1800" dirty="0"/>
              <a:t> </a:t>
            </a:r>
            <a:r>
              <a:rPr lang="en-US" sz="1800" dirty="0" err="1"/>
              <a:t>looja</a:t>
            </a:r>
            <a:r>
              <a:rPr lang="en-US" sz="1800" dirty="0"/>
              <a:t> Matti Makkonen" [Creator of text messages Matti Makkonen died]. Err.ee (in Estonian). </a:t>
            </a:r>
            <a:r>
              <a:rPr lang="en-US" sz="1800" dirty="0" err="1"/>
              <a:t>Eesti</a:t>
            </a:r>
            <a:r>
              <a:rPr lang="en-US" sz="1800" dirty="0"/>
              <a:t> </a:t>
            </a:r>
            <a:r>
              <a:rPr lang="en-US" sz="1800" dirty="0" err="1"/>
              <a:t>Rahvusringhääling</a:t>
            </a:r>
            <a:r>
              <a:rPr lang="en-US" sz="1800" dirty="0"/>
              <a:t>. Archived from the original on March 4, 2016. Retrieved July 27, 2015.</a:t>
            </a:r>
          </a:p>
        </p:txBody>
      </p:sp>
      <p:pic>
        <p:nvPicPr>
          <p:cNvPr id="5" name="Picture 4" descr="A black and orange square&#10;&#10;AI-generated content may be incorrect.">
            <a:extLst>
              <a:ext uri="{FF2B5EF4-FFF2-40B4-BE49-F238E27FC236}">
                <a16:creationId xmlns:a16="http://schemas.microsoft.com/office/drawing/2014/main" id="{341F16F8-0218-F33B-F7D0-FB397F5815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49" b="13522"/>
          <a:stretch>
            <a:fillRect/>
          </a:stretch>
        </p:blipFill>
        <p:spPr>
          <a:xfrm>
            <a:off x="11077099" y="5694867"/>
            <a:ext cx="1111853" cy="1163133"/>
          </a:xfrm>
          <a:prstGeom prst="rect">
            <a:avLst/>
          </a:prstGeom>
        </p:spPr>
      </p:pic>
      <p:pic>
        <p:nvPicPr>
          <p:cNvPr id="7" name="Picture 6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84793BFE-EF24-C25C-C2BE-ACC0DEC637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80" y="136404"/>
            <a:ext cx="453840" cy="457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A2C2FA-E1D5-A870-25A5-734FCA30F3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29991" y="-274910"/>
            <a:ext cx="257143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6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957</Words>
  <Application>Microsoft Office PowerPoint</Application>
  <PresentationFormat>Widescreen</PresentationFormat>
  <Paragraphs>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Nokia Pure Headline</vt:lpstr>
      <vt:lpstr>Nokia Pure Headline Extra Bold</vt:lpstr>
      <vt:lpstr>Office Theme</vt:lpstr>
      <vt:lpstr>PowerPoint Presentation</vt:lpstr>
      <vt:lpstr>PowerPoint Presentation</vt:lpstr>
      <vt:lpstr>PowerPoint Presentation</vt:lpstr>
      <vt:lpstr>Origins &amp; Slogan Evidence</vt:lpstr>
      <vt:lpstr>Early Brand Recognition Through Product-Embedded Cues</vt:lpstr>
      <vt:lpstr>Cultural Embeddedness via Shared Consumer Experiences</vt:lpstr>
      <vt:lpstr>Peak Dominance &amp; Brand Scale</vt:lpstr>
      <vt:lpstr>Divestment &amp; Period Endpoint (2013–2014)</vt:lpstr>
      <vt:lpstr>Key Takeaway: What Made the Brand Unique</vt:lpstr>
      <vt:lpstr>Reference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GHADERI, Mohammadali</dc:creator>
  <cp:lastModifiedBy>GHADERI, Mohammadali</cp:lastModifiedBy>
  <cp:revision>47</cp:revision>
  <dcterms:created xsi:type="dcterms:W3CDTF">2026-02-25T12:21:20Z</dcterms:created>
  <dcterms:modified xsi:type="dcterms:W3CDTF">2026-05-11T19:07:09Z</dcterms:modified>
</cp:coreProperties>
</file>