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7" r:id="rId2"/>
    <p:sldId id="279" r:id="rId3"/>
    <p:sldId id="284" r:id="rId4"/>
    <p:sldId id="280" r:id="rId5"/>
    <p:sldId id="285" r:id="rId6"/>
    <p:sldId id="286" r:id="rId7"/>
    <p:sldId id="287" r:id="rId8"/>
    <p:sldId id="288" r:id="rId9"/>
    <p:sldId id="283" r:id="rId10"/>
    <p:sldId id="29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4707"/>
    <a:srgbClr val="2D3241"/>
    <a:srgbClr val="F2F2F2"/>
    <a:srgbClr val="295380"/>
    <a:srgbClr val="303030"/>
    <a:srgbClr val="2A537F"/>
    <a:srgbClr val="004EB7"/>
    <a:srgbClr val="7089A7"/>
    <a:srgbClr val="A8D0F2"/>
    <a:srgbClr val="1C45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850E3-772F-4F4A-8D5A-69C18FF7628B}" type="doc">
      <dgm:prSet loTypeId="urn:microsoft.com/office/officeart/2008/layout/VerticalCurvedList" loCatId="list" qsTypeId="urn:microsoft.com/office/officeart/2005/8/quickstyle/simple4" qsCatId="simple" csTypeId="urn:microsoft.com/office/officeart/2005/8/colors/accent4_2" csCatId="accent4" phldr="1"/>
      <dgm:spPr/>
      <dgm:t>
        <a:bodyPr/>
        <a:lstStyle/>
        <a:p>
          <a:endParaRPr lang="en-US"/>
        </a:p>
      </dgm:t>
    </dgm:pt>
    <dgm:pt modelId="{69E5BA4E-9BBF-4FF2-B848-67E2A42B4820}">
      <dgm:prSet/>
      <dgm:spPr/>
      <dgm:t>
        <a:bodyPr/>
        <a:lstStyle/>
        <a:p>
          <a:r>
            <a:rPr lang="en-US" b="1" dirty="0">
              <a:solidFill>
                <a:schemeClr val="tx1"/>
              </a:solidFill>
            </a:rPr>
            <a:t>Segmentation</a:t>
          </a:r>
          <a:br>
            <a:rPr lang="en-US" dirty="0"/>
          </a:br>
          <a:r>
            <a:rPr lang="en-US" dirty="0"/>
            <a:t>• Global mobile phone users</a:t>
          </a:r>
          <a:br>
            <a:rPr lang="en-US" dirty="0"/>
          </a:br>
          <a:r>
            <a:rPr lang="en-US" dirty="0"/>
            <a:t>• First-time and mass-market consumers</a:t>
          </a:r>
        </a:p>
      </dgm:t>
    </dgm:pt>
    <dgm:pt modelId="{E928E0B9-ECFF-45FD-9440-9987CDF08BFD}" type="parTrans" cxnId="{ACD72190-BCE7-416D-8C96-37FC20FC9365}">
      <dgm:prSet/>
      <dgm:spPr/>
      <dgm:t>
        <a:bodyPr/>
        <a:lstStyle/>
        <a:p>
          <a:endParaRPr lang="en-US"/>
        </a:p>
      </dgm:t>
    </dgm:pt>
    <dgm:pt modelId="{E0192071-862C-49F8-95FE-D336206A6C58}" type="sibTrans" cxnId="{ACD72190-BCE7-416D-8C96-37FC20FC9365}">
      <dgm:prSet phldrT="1"/>
      <dgm:spPr/>
      <dgm:t>
        <a:bodyPr/>
        <a:lstStyle/>
        <a:p>
          <a:endParaRPr lang="en-US" dirty="0"/>
        </a:p>
      </dgm:t>
    </dgm:pt>
    <dgm:pt modelId="{11C51CFA-B108-4F71-AD5A-FAE44D7B2434}">
      <dgm:prSet/>
      <dgm:spPr/>
      <dgm:t>
        <a:bodyPr/>
        <a:lstStyle/>
        <a:p>
          <a:r>
            <a:rPr lang="en-US" b="1" dirty="0">
              <a:solidFill>
                <a:schemeClr val="tx1"/>
              </a:solidFill>
            </a:rPr>
            <a:t>Targeting</a:t>
          </a:r>
          <a:br>
            <a:rPr lang="en-US" dirty="0"/>
          </a:br>
          <a:r>
            <a:rPr lang="en-US" dirty="0"/>
            <a:t>• Broad global market</a:t>
          </a:r>
          <a:br>
            <a:rPr lang="en-US" dirty="0"/>
          </a:br>
          <a:r>
            <a:rPr lang="en-US" dirty="0"/>
            <a:t>• Focus on accessible communication</a:t>
          </a:r>
        </a:p>
      </dgm:t>
    </dgm:pt>
    <dgm:pt modelId="{384DE3FA-A8B8-4A4C-B3C1-53A6FD7DF54D}" type="parTrans" cxnId="{C4B5F256-DB50-486F-A46B-E940CB8E2CD5}">
      <dgm:prSet/>
      <dgm:spPr/>
      <dgm:t>
        <a:bodyPr/>
        <a:lstStyle/>
        <a:p>
          <a:endParaRPr lang="en-US"/>
        </a:p>
      </dgm:t>
    </dgm:pt>
    <dgm:pt modelId="{4CAF7490-45B0-457F-9FD9-97D9CED8F9CA}" type="sibTrans" cxnId="{C4B5F256-DB50-486F-A46B-E940CB8E2CD5}">
      <dgm:prSet phldrT="2"/>
      <dgm:spPr/>
      <dgm:t>
        <a:bodyPr/>
        <a:lstStyle/>
        <a:p>
          <a:endParaRPr lang="en-US" dirty="0"/>
        </a:p>
      </dgm:t>
    </dgm:pt>
    <dgm:pt modelId="{22F52803-74C8-4DCF-9057-08EF393DC558}">
      <dgm:prSet/>
      <dgm:spPr/>
      <dgm:t>
        <a:bodyPr/>
        <a:lstStyle/>
        <a:p>
          <a:r>
            <a:rPr lang="en-US" b="1" dirty="0">
              <a:solidFill>
                <a:schemeClr val="tx1"/>
              </a:solidFill>
            </a:rPr>
            <a:t>Positioning</a:t>
          </a:r>
          <a:br>
            <a:rPr lang="en-US" dirty="0"/>
          </a:br>
          <a:r>
            <a:rPr lang="en-US" dirty="0"/>
            <a:t>• Simple, reliable mobile communication</a:t>
          </a:r>
          <a:br>
            <a:rPr lang="en-US" dirty="0"/>
          </a:br>
          <a:r>
            <a:rPr lang="en-US" dirty="0"/>
            <a:t>• Human connection (“Connecting People”)</a:t>
          </a:r>
        </a:p>
      </dgm:t>
    </dgm:pt>
    <dgm:pt modelId="{0838E77C-15AA-4C87-9F59-D671F018C9A3}" type="parTrans" cxnId="{EE17F626-9EB5-4F19-A5C9-0B1B3D43C152}">
      <dgm:prSet/>
      <dgm:spPr/>
      <dgm:t>
        <a:bodyPr/>
        <a:lstStyle/>
        <a:p>
          <a:endParaRPr lang="en-US"/>
        </a:p>
      </dgm:t>
    </dgm:pt>
    <dgm:pt modelId="{FBF3620B-7D9E-44E8-AF24-59B88DEA3A74}" type="sibTrans" cxnId="{EE17F626-9EB5-4F19-A5C9-0B1B3D43C152}">
      <dgm:prSet phldrT="3"/>
      <dgm:spPr/>
      <dgm:t>
        <a:bodyPr/>
        <a:lstStyle/>
        <a:p>
          <a:endParaRPr lang="en-US"/>
        </a:p>
      </dgm:t>
    </dgm:pt>
    <dgm:pt modelId="{A41A27C0-9E72-42A2-8AF5-56518660806A}" type="pres">
      <dgm:prSet presAssocID="{9F0850E3-772F-4F4A-8D5A-69C18FF7628B}" presName="Name0" presStyleCnt="0">
        <dgm:presLayoutVars>
          <dgm:chMax val="7"/>
          <dgm:chPref val="7"/>
          <dgm:dir/>
        </dgm:presLayoutVars>
      </dgm:prSet>
      <dgm:spPr/>
    </dgm:pt>
    <dgm:pt modelId="{6555312F-227A-4414-B843-6B3E5D915332}" type="pres">
      <dgm:prSet presAssocID="{9F0850E3-772F-4F4A-8D5A-69C18FF7628B}" presName="Name1" presStyleCnt="0"/>
      <dgm:spPr/>
    </dgm:pt>
    <dgm:pt modelId="{9450E2A4-743D-47F0-8420-BB14B855ECDA}" type="pres">
      <dgm:prSet presAssocID="{9F0850E3-772F-4F4A-8D5A-69C18FF7628B}" presName="cycle" presStyleCnt="0"/>
      <dgm:spPr/>
    </dgm:pt>
    <dgm:pt modelId="{58C87F4B-144F-4F36-8F5D-9E4F46151E08}" type="pres">
      <dgm:prSet presAssocID="{9F0850E3-772F-4F4A-8D5A-69C18FF7628B}" presName="srcNode" presStyleLbl="node1" presStyleIdx="0" presStyleCnt="3"/>
      <dgm:spPr/>
    </dgm:pt>
    <dgm:pt modelId="{E7549828-A2E0-4E73-B808-7AB1A324C29A}" type="pres">
      <dgm:prSet presAssocID="{9F0850E3-772F-4F4A-8D5A-69C18FF7628B}" presName="conn" presStyleLbl="parChTrans1D2" presStyleIdx="0" presStyleCnt="1"/>
      <dgm:spPr/>
    </dgm:pt>
    <dgm:pt modelId="{2B23A37F-37FF-469D-89B7-F3BF4FC092C3}" type="pres">
      <dgm:prSet presAssocID="{9F0850E3-772F-4F4A-8D5A-69C18FF7628B}" presName="extraNode" presStyleLbl="node1" presStyleIdx="0" presStyleCnt="3"/>
      <dgm:spPr/>
    </dgm:pt>
    <dgm:pt modelId="{BF9C2EB2-0A57-4E95-8FEB-0279D0E55776}" type="pres">
      <dgm:prSet presAssocID="{9F0850E3-772F-4F4A-8D5A-69C18FF7628B}" presName="dstNode" presStyleLbl="node1" presStyleIdx="0" presStyleCnt="3"/>
      <dgm:spPr/>
    </dgm:pt>
    <dgm:pt modelId="{BA879D15-4DA3-4DF4-A90C-BE41D2EB5285}" type="pres">
      <dgm:prSet presAssocID="{69E5BA4E-9BBF-4FF2-B848-67E2A42B4820}" presName="text_1" presStyleLbl="node1" presStyleIdx="0" presStyleCnt="3" custScaleY="128890">
        <dgm:presLayoutVars>
          <dgm:bulletEnabled val="1"/>
        </dgm:presLayoutVars>
      </dgm:prSet>
      <dgm:spPr/>
    </dgm:pt>
    <dgm:pt modelId="{3FF282CA-9822-43E2-8F4B-29CBA2697B8C}" type="pres">
      <dgm:prSet presAssocID="{69E5BA4E-9BBF-4FF2-B848-67E2A42B4820}" presName="accent_1" presStyleCnt="0"/>
      <dgm:spPr/>
    </dgm:pt>
    <dgm:pt modelId="{094C6677-FB6B-437A-8CFF-79E6D95AD5D0}" type="pres">
      <dgm:prSet presAssocID="{69E5BA4E-9BBF-4FF2-B848-67E2A42B4820}" presName="accentRepeatNode" presStyleLbl="solidFgAcc1" presStyleIdx="0" presStyleCnt="3" custScaleX="107715" custScaleY="107715"/>
      <dgm:spPr/>
    </dgm:pt>
    <dgm:pt modelId="{A96E58F7-EC19-4D88-A5D8-F734B1A4B259}" type="pres">
      <dgm:prSet presAssocID="{11C51CFA-B108-4F71-AD5A-FAE44D7B2434}" presName="text_2" presStyleLbl="node1" presStyleIdx="1" presStyleCnt="3" custScaleY="128890">
        <dgm:presLayoutVars>
          <dgm:bulletEnabled val="1"/>
        </dgm:presLayoutVars>
      </dgm:prSet>
      <dgm:spPr/>
    </dgm:pt>
    <dgm:pt modelId="{97B52EA9-CD1B-4893-B513-8040C2C0DA0E}" type="pres">
      <dgm:prSet presAssocID="{11C51CFA-B108-4F71-AD5A-FAE44D7B2434}" presName="accent_2" presStyleCnt="0"/>
      <dgm:spPr/>
    </dgm:pt>
    <dgm:pt modelId="{D59DD5BF-0862-481A-8859-EDF1427B319D}" type="pres">
      <dgm:prSet presAssocID="{11C51CFA-B108-4F71-AD5A-FAE44D7B2434}" presName="accentRepeatNode" presStyleLbl="solidFgAcc1" presStyleIdx="1" presStyleCnt="3" custScaleX="107715" custScaleY="107715"/>
      <dgm:spPr/>
    </dgm:pt>
    <dgm:pt modelId="{4CD962EE-7FD0-4BD8-A988-D06AAFFE141E}" type="pres">
      <dgm:prSet presAssocID="{22F52803-74C8-4DCF-9057-08EF393DC558}" presName="text_3" presStyleLbl="node1" presStyleIdx="2" presStyleCnt="3" custScaleY="128890">
        <dgm:presLayoutVars>
          <dgm:bulletEnabled val="1"/>
        </dgm:presLayoutVars>
      </dgm:prSet>
      <dgm:spPr/>
    </dgm:pt>
    <dgm:pt modelId="{20C40DD8-C954-4C59-BA68-450D595BA868}" type="pres">
      <dgm:prSet presAssocID="{22F52803-74C8-4DCF-9057-08EF393DC558}" presName="accent_3" presStyleCnt="0"/>
      <dgm:spPr/>
    </dgm:pt>
    <dgm:pt modelId="{90EC33D7-3EBB-4080-A218-2D3675870506}" type="pres">
      <dgm:prSet presAssocID="{22F52803-74C8-4DCF-9057-08EF393DC558}" presName="accentRepeatNode" presStyleLbl="solidFgAcc1" presStyleIdx="2" presStyleCnt="3" custScaleX="107715" custScaleY="107715"/>
      <dgm:spPr/>
    </dgm:pt>
  </dgm:ptLst>
  <dgm:cxnLst>
    <dgm:cxn modelId="{3DE3B419-7914-40DE-9658-24AC1CFD7B28}" type="presOf" srcId="{9F0850E3-772F-4F4A-8D5A-69C18FF7628B}" destId="{A41A27C0-9E72-42A2-8AF5-56518660806A}" srcOrd="0" destOrd="0" presId="urn:microsoft.com/office/officeart/2008/layout/VerticalCurvedList"/>
    <dgm:cxn modelId="{EE17F626-9EB5-4F19-A5C9-0B1B3D43C152}" srcId="{9F0850E3-772F-4F4A-8D5A-69C18FF7628B}" destId="{22F52803-74C8-4DCF-9057-08EF393DC558}" srcOrd="2" destOrd="0" parTransId="{0838E77C-15AA-4C87-9F59-D671F018C9A3}" sibTransId="{FBF3620B-7D9E-44E8-AF24-59B88DEA3A74}"/>
    <dgm:cxn modelId="{BAE7436E-C875-4961-865B-3CC5E82B8B22}" type="presOf" srcId="{22F52803-74C8-4DCF-9057-08EF393DC558}" destId="{4CD962EE-7FD0-4BD8-A988-D06AAFFE141E}" srcOrd="0" destOrd="0" presId="urn:microsoft.com/office/officeart/2008/layout/VerticalCurvedList"/>
    <dgm:cxn modelId="{C4B5F256-DB50-486F-A46B-E940CB8E2CD5}" srcId="{9F0850E3-772F-4F4A-8D5A-69C18FF7628B}" destId="{11C51CFA-B108-4F71-AD5A-FAE44D7B2434}" srcOrd="1" destOrd="0" parTransId="{384DE3FA-A8B8-4A4C-B3C1-53A6FD7DF54D}" sibTransId="{4CAF7490-45B0-457F-9FD9-97D9CED8F9CA}"/>
    <dgm:cxn modelId="{E0358677-A6C4-4F35-93F7-DB655F4E753F}" type="presOf" srcId="{E0192071-862C-49F8-95FE-D336206A6C58}" destId="{E7549828-A2E0-4E73-B808-7AB1A324C29A}" srcOrd="0" destOrd="0" presId="urn:microsoft.com/office/officeart/2008/layout/VerticalCurvedList"/>
    <dgm:cxn modelId="{ACD72190-BCE7-416D-8C96-37FC20FC9365}" srcId="{9F0850E3-772F-4F4A-8D5A-69C18FF7628B}" destId="{69E5BA4E-9BBF-4FF2-B848-67E2A42B4820}" srcOrd="0" destOrd="0" parTransId="{E928E0B9-ECFF-45FD-9440-9987CDF08BFD}" sibTransId="{E0192071-862C-49F8-95FE-D336206A6C58}"/>
    <dgm:cxn modelId="{2F3563AA-942E-486A-BFC1-BFAEF70C45D6}" type="presOf" srcId="{11C51CFA-B108-4F71-AD5A-FAE44D7B2434}" destId="{A96E58F7-EC19-4D88-A5D8-F734B1A4B259}" srcOrd="0" destOrd="0" presId="urn:microsoft.com/office/officeart/2008/layout/VerticalCurvedList"/>
    <dgm:cxn modelId="{655EA2B0-6FA5-4623-9BD2-EE9EB380052D}" type="presOf" srcId="{69E5BA4E-9BBF-4FF2-B848-67E2A42B4820}" destId="{BA879D15-4DA3-4DF4-A90C-BE41D2EB5285}" srcOrd="0" destOrd="0" presId="urn:microsoft.com/office/officeart/2008/layout/VerticalCurvedList"/>
    <dgm:cxn modelId="{522FC701-812A-4547-88EA-86C63E7A0BB9}" type="presParOf" srcId="{A41A27C0-9E72-42A2-8AF5-56518660806A}" destId="{6555312F-227A-4414-B843-6B3E5D915332}" srcOrd="0" destOrd="0" presId="urn:microsoft.com/office/officeart/2008/layout/VerticalCurvedList"/>
    <dgm:cxn modelId="{53CEB2D5-890C-435E-A0DF-A49E55279410}" type="presParOf" srcId="{6555312F-227A-4414-B843-6B3E5D915332}" destId="{9450E2A4-743D-47F0-8420-BB14B855ECDA}" srcOrd="0" destOrd="0" presId="urn:microsoft.com/office/officeart/2008/layout/VerticalCurvedList"/>
    <dgm:cxn modelId="{EA182B7D-B470-4F6C-8378-EDC6949F8C54}" type="presParOf" srcId="{9450E2A4-743D-47F0-8420-BB14B855ECDA}" destId="{58C87F4B-144F-4F36-8F5D-9E4F46151E08}" srcOrd="0" destOrd="0" presId="urn:microsoft.com/office/officeart/2008/layout/VerticalCurvedList"/>
    <dgm:cxn modelId="{AC0D1D35-2B91-4307-AE80-DD66842552B9}" type="presParOf" srcId="{9450E2A4-743D-47F0-8420-BB14B855ECDA}" destId="{E7549828-A2E0-4E73-B808-7AB1A324C29A}" srcOrd="1" destOrd="0" presId="urn:microsoft.com/office/officeart/2008/layout/VerticalCurvedList"/>
    <dgm:cxn modelId="{93E846A0-A152-49EA-8004-936E71937066}" type="presParOf" srcId="{9450E2A4-743D-47F0-8420-BB14B855ECDA}" destId="{2B23A37F-37FF-469D-89B7-F3BF4FC092C3}" srcOrd="2" destOrd="0" presId="urn:microsoft.com/office/officeart/2008/layout/VerticalCurvedList"/>
    <dgm:cxn modelId="{788C3798-F8C9-4938-B75B-72EAD9139217}" type="presParOf" srcId="{9450E2A4-743D-47F0-8420-BB14B855ECDA}" destId="{BF9C2EB2-0A57-4E95-8FEB-0279D0E55776}" srcOrd="3" destOrd="0" presId="urn:microsoft.com/office/officeart/2008/layout/VerticalCurvedList"/>
    <dgm:cxn modelId="{45C70485-05F0-48C6-A1B9-D49D8E4C612E}" type="presParOf" srcId="{6555312F-227A-4414-B843-6B3E5D915332}" destId="{BA879D15-4DA3-4DF4-A90C-BE41D2EB5285}" srcOrd="1" destOrd="0" presId="urn:microsoft.com/office/officeart/2008/layout/VerticalCurvedList"/>
    <dgm:cxn modelId="{D21CFFC1-78AE-4E6D-9655-99FB914CC669}" type="presParOf" srcId="{6555312F-227A-4414-B843-6B3E5D915332}" destId="{3FF282CA-9822-43E2-8F4B-29CBA2697B8C}" srcOrd="2" destOrd="0" presId="urn:microsoft.com/office/officeart/2008/layout/VerticalCurvedList"/>
    <dgm:cxn modelId="{7875C3F7-2E08-4C0F-B309-92BF4FA0EF80}" type="presParOf" srcId="{3FF282CA-9822-43E2-8F4B-29CBA2697B8C}" destId="{094C6677-FB6B-437A-8CFF-79E6D95AD5D0}" srcOrd="0" destOrd="0" presId="urn:microsoft.com/office/officeart/2008/layout/VerticalCurvedList"/>
    <dgm:cxn modelId="{518D64E4-90E2-4718-B133-70A401BCEF2C}" type="presParOf" srcId="{6555312F-227A-4414-B843-6B3E5D915332}" destId="{A96E58F7-EC19-4D88-A5D8-F734B1A4B259}" srcOrd="3" destOrd="0" presId="urn:microsoft.com/office/officeart/2008/layout/VerticalCurvedList"/>
    <dgm:cxn modelId="{51E7BD14-03DF-4182-8774-750E05465536}" type="presParOf" srcId="{6555312F-227A-4414-B843-6B3E5D915332}" destId="{97B52EA9-CD1B-4893-B513-8040C2C0DA0E}" srcOrd="4" destOrd="0" presId="urn:microsoft.com/office/officeart/2008/layout/VerticalCurvedList"/>
    <dgm:cxn modelId="{6EAD4A48-55D7-4AC0-BEF6-DC9C7470542F}" type="presParOf" srcId="{97B52EA9-CD1B-4893-B513-8040C2C0DA0E}" destId="{D59DD5BF-0862-481A-8859-EDF1427B319D}" srcOrd="0" destOrd="0" presId="urn:microsoft.com/office/officeart/2008/layout/VerticalCurvedList"/>
    <dgm:cxn modelId="{C5F6D69D-6699-4C82-AA97-6AD6B10716C7}" type="presParOf" srcId="{6555312F-227A-4414-B843-6B3E5D915332}" destId="{4CD962EE-7FD0-4BD8-A988-D06AAFFE141E}" srcOrd="5" destOrd="0" presId="urn:microsoft.com/office/officeart/2008/layout/VerticalCurvedList"/>
    <dgm:cxn modelId="{61710946-2BE0-453E-8DFD-BF5D9AE9EC30}" type="presParOf" srcId="{6555312F-227A-4414-B843-6B3E5D915332}" destId="{20C40DD8-C954-4C59-BA68-450D595BA868}" srcOrd="6" destOrd="0" presId="urn:microsoft.com/office/officeart/2008/layout/VerticalCurvedList"/>
    <dgm:cxn modelId="{C6607544-B478-467A-ABBE-1DE1A627BC57}" type="presParOf" srcId="{20C40DD8-C954-4C59-BA68-450D595BA868}" destId="{90EC33D7-3EBB-4080-A218-2D3675870506}"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815905-4E95-458F-9FE5-2D7D4DEAC07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22CBBC6-B861-48C1-A91D-D0D3BFAE8103}">
      <dgm:prSet custT="1"/>
      <dgm:spPr/>
      <dgm:t>
        <a:bodyPr/>
        <a:lstStyle/>
        <a:p>
          <a:r>
            <a:rPr lang="en-US" sz="2800" dirty="0"/>
            <a:t>Voice calling</a:t>
          </a:r>
        </a:p>
      </dgm:t>
    </dgm:pt>
    <dgm:pt modelId="{83387E10-CC2A-4977-9EB4-5CCD6CCC85A5}" type="parTrans" cxnId="{30C63D57-5199-4033-9569-7D6029D8B383}">
      <dgm:prSet/>
      <dgm:spPr/>
      <dgm:t>
        <a:bodyPr/>
        <a:lstStyle/>
        <a:p>
          <a:endParaRPr lang="en-US" sz="2800"/>
        </a:p>
      </dgm:t>
    </dgm:pt>
    <dgm:pt modelId="{88E38501-6C08-4E43-80AE-9EACD9067EFA}" type="sibTrans" cxnId="{30C63D57-5199-4033-9569-7D6029D8B383}">
      <dgm:prSet/>
      <dgm:spPr/>
      <dgm:t>
        <a:bodyPr/>
        <a:lstStyle/>
        <a:p>
          <a:endParaRPr lang="en-US" sz="2800"/>
        </a:p>
      </dgm:t>
    </dgm:pt>
    <dgm:pt modelId="{5AD335C2-F517-4E75-AF3A-89E1434BB26C}">
      <dgm:prSet custT="1"/>
      <dgm:spPr/>
      <dgm:t>
        <a:bodyPr/>
        <a:lstStyle/>
        <a:p>
          <a:r>
            <a:rPr lang="en-US" sz="2800" dirty="0"/>
            <a:t>SMS messaging</a:t>
          </a:r>
        </a:p>
      </dgm:t>
    </dgm:pt>
    <dgm:pt modelId="{A9DC51BD-DD47-4389-BA77-34414CF16F64}" type="parTrans" cxnId="{7F19F0D1-3766-4110-B7D2-A8C741759904}">
      <dgm:prSet/>
      <dgm:spPr/>
      <dgm:t>
        <a:bodyPr/>
        <a:lstStyle/>
        <a:p>
          <a:endParaRPr lang="en-US" sz="2800"/>
        </a:p>
      </dgm:t>
    </dgm:pt>
    <dgm:pt modelId="{959B4C8A-E3B6-4E6A-891B-9CB0D920B3FE}" type="sibTrans" cxnId="{7F19F0D1-3766-4110-B7D2-A8C741759904}">
      <dgm:prSet/>
      <dgm:spPr/>
      <dgm:t>
        <a:bodyPr/>
        <a:lstStyle/>
        <a:p>
          <a:endParaRPr lang="en-US" sz="2800"/>
        </a:p>
      </dgm:t>
    </dgm:pt>
    <dgm:pt modelId="{5C9EDD3A-C3F1-4416-A99A-1B0A3D4E6B83}">
      <dgm:prSet custT="1"/>
      <dgm:spPr/>
      <dgm:t>
        <a:bodyPr/>
        <a:lstStyle/>
        <a:p>
          <a:r>
            <a:rPr lang="en-US" sz="2800" dirty="0"/>
            <a:t>Mobile hardware functionality</a:t>
          </a:r>
        </a:p>
      </dgm:t>
    </dgm:pt>
    <dgm:pt modelId="{EFC33F57-A9A4-41AF-8A4D-6E0B1B6D2974}" type="parTrans" cxnId="{5378386E-AD93-4F13-B7C6-65D7459789E8}">
      <dgm:prSet/>
      <dgm:spPr/>
      <dgm:t>
        <a:bodyPr/>
        <a:lstStyle/>
        <a:p>
          <a:endParaRPr lang="en-US" sz="2800"/>
        </a:p>
      </dgm:t>
    </dgm:pt>
    <dgm:pt modelId="{15D9A176-BA94-472D-8318-BD23BFE2E495}" type="sibTrans" cxnId="{5378386E-AD93-4F13-B7C6-65D7459789E8}">
      <dgm:prSet/>
      <dgm:spPr/>
      <dgm:t>
        <a:bodyPr/>
        <a:lstStyle/>
        <a:p>
          <a:endParaRPr lang="en-US" sz="2800"/>
        </a:p>
      </dgm:t>
    </dgm:pt>
    <dgm:pt modelId="{843D8BC2-92B3-4B1D-ABB8-9C7D71DC849A}">
      <dgm:prSet custT="1"/>
      <dgm:spPr/>
      <dgm:t>
        <a:bodyPr/>
        <a:lstStyle/>
        <a:p>
          <a:r>
            <a:rPr lang="en-US" sz="2800" dirty="0"/>
            <a:t>Basic communication features</a:t>
          </a:r>
        </a:p>
      </dgm:t>
    </dgm:pt>
    <dgm:pt modelId="{1AC20107-C77C-43DB-BE60-4396B6001868}" type="parTrans" cxnId="{B9E34807-C34C-4563-8E6E-C681F41D656F}">
      <dgm:prSet/>
      <dgm:spPr/>
      <dgm:t>
        <a:bodyPr/>
        <a:lstStyle/>
        <a:p>
          <a:endParaRPr lang="en-US" sz="2800"/>
        </a:p>
      </dgm:t>
    </dgm:pt>
    <dgm:pt modelId="{B56A3673-0191-4218-A880-A74D59ED7A34}" type="sibTrans" cxnId="{B9E34807-C34C-4563-8E6E-C681F41D656F}">
      <dgm:prSet/>
      <dgm:spPr/>
      <dgm:t>
        <a:bodyPr/>
        <a:lstStyle/>
        <a:p>
          <a:endParaRPr lang="en-US" sz="2800"/>
        </a:p>
      </dgm:t>
    </dgm:pt>
    <dgm:pt modelId="{D72D4DAA-E661-42D0-87DA-21FA03188E2C}" type="pres">
      <dgm:prSet presAssocID="{62815905-4E95-458F-9FE5-2D7D4DEAC07A}" presName="root" presStyleCnt="0">
        <dgm:presLayoutVars>
          <dgm:dir/>
          <dgm:resizeHandles val="exact"/>
        </dgm:presLayoutVars>
      </dgm:prSet>
      <dgm:spPr/>
    </dgm:pt>
    <dgm:pt modelId="{4A57ACA0-A1F0-4D83-ADF4-7DA920CC0B77}" type="pres">
      <dgm:prSet presAssocID="{E22CBBC6-B861-48C1-A91D-D0D3BFAE8103}" presName="compNode" presStyleCnt="0"/>
      <dgm:spPr/>
    </dgm:pt>
    <dgm:pt modelId="{11609380-E3A1-4C17-9893-4138F8B59D51}" type="pres">
      <dgm:prSet presAssocID="{E22CBBC6-B861-48C1-A91D-D0D3BFAE8103}" presName="iconRect" presStyleLbl="node1" presStyleIdx="0" presStyleCnt="4" custScaleX="126934" custScaleY="12693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lemarketer"/>
        </a:ext>
      </dgm:extLst>
    </dgm:pt>
    <dgm:pt modelId="{C522E6CB-24E2-4608-8EB4-B3CF0F61C80C}" type="pres">
      <dgm:prSet presAssocID="{E22CBBC6-B861-48C1-A91D-D0D3BFAE8103}" presName="spaceRect" presStyleCnt="0"/>
      <dgm:spPr/>
    </dgm:pt>
    <dgm:pt modelId="{E02AFB33-BF78-4A86-9304-3F48ADD76F7A}" type="pres">
      <dgm:prSet presAssocID="{E22CBBC6-B861-48C1-A91D-D0D3BFAE8103}" presName="textRect" presStyleLbl="revTx" presStyleIdx="0" presStyleCnt="4" custLinFactNeighborY="12780">
        <dgm:presLayoutVars>
          <dgm:chMax val="1"/>
          <dgm:chPref val="1"/>
        </dgm:presLayoutVars>
      </dgm:prSet>
      <dgm:spPr/>
    </dgm:pt>
    <dgm:pt modelId="{AAE54012-4206-4DEF-AACA-62E4AE4D7578}" type="pres">
      <dgm:prSet presAssocID="{88E38501-6C08-4E43-80AE-9EACD9067EFA}" presName="sibTrans" presStyleCnt="0"/>
      <dgm:spPr/>
    </dgm:pt>
    <dgm:pt modelId="{73E93F1B-B402-4346-8DFF-EA658912F3F2}" type="pres">
      <dgm:prSet presAssocID="{5AD335C2-F517-4E75-AF3A-89E1434BB26C}" presName="compNode" presStyleCnt="0"/>
      <dgm:spPr/>
    </dgm:pt>
    <dgm:pt modelId="{CC8CB8E9-4CD9-4971-BA95-3301D7AC939A}" type="pres">
      <dgm:prSet presAssocID="{5AD335C2-F517-4E75-AF3A-89E1434BB26C}" presName="iconRect" presStyleLbl="node1" presStyleIdx="1" presStyleCnt="4" custLinFactNeighborY="-9541"/>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a:noFill/>
        </a:ln>
      </dgm:spPr>
    </dgm:pt>
    <dgm:pt modelId="{4BB6A932-A825-4BEB-86CA-7E8DEDBD6E2F}" type="pres">
      <dgm:prSet presAssocID="{5AD335C2-F517-4E75-AF3A-89E1434BB26C}" presName="spaceRect" presStyleCnt="0"/>
      <dgm:spPr/>
    </dgm:pt>
    <dgm:pt modelId="{D68AA27A-521B-43C9-8985-A3197F807E99}" type="pres">
      <dgm:prSet presAssocID="{5AD335C2-F517-4E75-AF3A-89E1434BB26C}" presName="textRect" presStyleLbl="revTx" presStyleIdx="1" presStyleCnt="4" custScaleY="61720" custLinFactNeighborX="0" custLinFactNeighborY="-23470">
        <dgm:presLayoutVars>
          <dgm:chMax val="1"/>
          <dgm:chPref val="1"/>
        </dgm:presLayoutVars>
      </dgm:prSet>
      <dgm:spPr/>
    </dgm:pt>
    <dgm:pt modelId="{0C71E6D6-8425-44AB-90C2-33C2E4AB5A2E}" type="pres">
      <dgm:prSet presAssocID="{959B4C8A-E3B6-4E6A-891B-9CB0D920B3FE}" presName="sibTrans" presStyleCnt="0"/>
      <dgm:spPr/>
    </dgm:pt>
    <dgm:pt modelId="{E1CC8F82-9375-451A-BABC-708D711D0BF7}" type="pres">
      <dgm:prSet presAssocID="{5C9EDD3A-C3F1-4416-A99A-1B0A3D4E6B83}" presName="compNode" presStyleCnt="0"/>
      <dgm:spPr/>
    </dgm:pt>
    <dgm:pt modelId="{424C9578-1B0F-4DC4-96CA-256BFB62948C}" type="pres">
      <dgm:prSet presAssocID="{5C9EDD3A-C3F1-4416-A99A-1B0A3D4E6B83}" presName="iconRect" presStyleLbl="node1" presStyleIdx="2" presStyleCnt="4"/>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a:noFill/>
        </a:ln>
      </dgm:spPr>
    </dgm:pt>
    <dgm:pt modelId="{C62CCBF7-A635-435E-8F7F-D98692C724C4}" type="pres">
      <dgm:prSet presAssocID="{5C9EDD3A-C3F1-4416-A99A-1B0A3D4E6B83}" presName="spaceRect" presStyleCnt="0"/>
      <dgm:spPr/>
    </dgm:pt>
    <dgm:pt modelId="{E5AEDF90-85EB-4DE7-85AD-69A843AAC70D}" type="pres">
      <dgm:prSet presAssocID="{5C9EDD3A-C3F1-4416-A99A-1B0A3D4E6B83}" presName="textRect" presStyleLbl="revTx" presStyleIdx="2" presStyleCnt="4">
        <dgm:presLayoutVars>
          <dgm:chMax val="1"/>
          <dgm:chPref val="1"/>
        </dgm:presLayoutVars>
      </dgm:prSet>
      <dgm:spPr/>
    </dgm:pt>
    <dgm:pt modelId="{5D3A2CF1-EE44-4456-8A14-09A506BB683F}" type="pres">
      <dgm:prSet presAssocID="{15D9A176-BA94-472D-8318-BD23BFE2E495}" presName="sibTrans" presStyleCnt="0"/>
      <dgm:spPr/>
    </dgm:pt>
    <dgm:pt modelId="{3B9D1A7F-43EE-4B96-83F8-FC60F2B8DE8E}" type="pres">
      <dgm:prSet presAssocID="{843D8BC2-92B3-4B1D-ABB8-9C7D71DC849A}" presName="compNode" presStyleCnt="0"/>
      <dgm:spPr/>
    </dgm:pt>
    <dgm:pt modelId="{1621C94A-2D23-432C-86D8-C0C33292D330}" type="pres">
      <dgm:prSet presAssocID="{843D8BC2-92B3-4B1D-ABB8-9C7D71DC849A}" presName="iconRect" presStyleLbl="node1" presStyleIdx="3"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munications"/>
        </a:ext>
      </dgm:extLst>
    </dgm:pt>
    <dgm:pt modelId="{93BCEDE4-FE46-47BC-8D36-EE8F952CF065}" type="pres">
      <dgm:prSet presAssocID="{843D8BC2-92B3-4B1D-ABB8-9C7D71DC849A}" presName="spaceRect" presStyleCnt="0"/>
      <dgm:spPr/>
    </dgm:pt>
    <dgm:pt modelId="{A59F7D45-547B-448F-A681-88200DDD4C77}" type="pres">
      <dgm:prSet presAssocID="{843D8BC2-92B3-4B1D-ABB8-9C7D71DC849A}" presName="textRect" presStyleLbl="revTx" presStyleIdx="3" presStyleCnt="4">
        <dgm:presLayoutVars>
          <dgm:chMax val="1"/>
          <dgm:chPref val="1"/>
        </dgm:presLayoutVars>
      </dgm:prSet>
      <dgm:spPr/>
    </dgm:pt>
  </dgm:ptLst>
  <dgm:cxnLst>
    <dgm:cxn modelId="{B9E34807-C34C-4563-8E6E-C681F41D656F}" srcId="{62815905-4E95-458F-9FE5-2D7D4DEAC07A}" destId="{843D8BC2-92B3-4B1D-ABB8-9C7D71DC849A}" srcOrd="3" destOrd="0" parTransId="{1AC20107-C77C-43DB-BE60-4396B6001868}" sibTransId="{B56A3673-0191-4218-A880-A74D59ED7A34}"/>
    <dgm:cxn modelId="{B9198F42-C1AC-480E-8FD1-629245CD1807}" type="presOf" srcId="{5AD335C2-F517-4E75-AF3A-89E1434BB26C}" destId="{D68AA27A-521B-43C9-8985-A3197F807E99}" srcOrd="0" destOrd="0" presId="urn:microsoft.com/office/officeart/2018/2/layout/IconLabelList"/>
    <dgm:cxn modelId="{08E2CF46-2A21-459F-A1EC-85C93A47AF6B}" type="presOf" srcId="{62815905-4E95-458F-9FE5-2D7D4DEAC07A}" destId="{D72D4DAA-E661-42D0-87DA-21FA03188E2C}" srcOrd="0" destOrd="0" presId="urn:microsoft.com/office/officeart/2018/2/layout/IconLabelList"/>
    <dgm:cxn modelId="{B99D4C69-9CF7-4AC9-A013-CC32C1A805CA}" type="presOf" srcId="{E22CBBC6-B861-48C1-A91D-D0D3BFAE8103}" destId="{E02AFB33-BF78-4A86-9304-3F48ADD76F7A}" srcOrd="0" destOrd="0" presId="urn:microsoft.com/office/officeart/2018/2/layout/IconLabelList"/>
    <dgm:cxn modelId="{5378386E-AD93-4F13-B7C6-65D7459789E8}" srcId="{62815905-4E95-458F-9FE5-2D7D4DEAC07A}" destId="{5C9EDD3A-C3F1-4416-A99A-1B0A3D4E6B83}" srcOrd="2" destOrd="0" parTransId="{EFC33F57-A9A4-41AF-8A4D-6E0B1B6D2974}" sibTransId="{15D9A176-BA94-472D-8318-BD23BFE2E495}"/>
    <dgm:cxn modelId="{30C63D57-5199-4033-9569-7D6029D8B383}" srcId="{62815905-4E95-458F-9FE5-2D7D4DEAC07A}" destId="{E22CBBC6-B861-48C1-A91D-D0D3BFAE8103}" srcOrd="0" destOrd="0" parTransId="{83387E10-CC2A-4977-9EB4-5CCD6CCC85A5}" sibTransId="{88E38501-6C08-4E43-80AE-9EACD9067EFA}"/>
    <dgm:cxn modelId="{724E5DC9-2C03-43F7-BEBC-85FD7167126B}" type="presOf" srcId="{843D8BC2-92B3-4B1D-ABB8-9C7D71DC849A}" destId="{A59F7D45-547B-448F-A681-88200DDD4C77}" srcOrd="0" destOrd="0" presId="urn:microsoft.com/office/officeart/2018/2/layout/IconLabelList"/>
    <dgm:cxn modelId="{7F19F0D1-3766-4110-B7D2-A8C741759904}" srcId="{62815905-4E95-458F-9FE5-2D7D4DEAC07A}" destId="{5AD335C2-F517-4E75-AF3A-89E1434BB26C}" srcOrd="1" destOrd="0" parTransId="{A9DC51BD-DD47-4389-BA77-34414CF16F64}" sibTransId="{959B4C8A-E3B6-4E6A-891B-9CB0D920B3FE}"/>
    <dgm:cxn modelId="{D1BB85F8-FACF-4A55-804A-D74FC0305784}" type="presOf" srcId="{5C9EDD3A-C3F1-4416-A99A-1B0A3D4E6B83}" destId="{E5AEDF90-85EB-4DE7-85AD-69A843AAC70D}" srcOrd="0" destOrd="0" presId="urn:microsoft.com/office/officeart/2018/2/layout/IconLabelList"/>
    <dgm:cxn modelId="{2AC80AD1-565A-48DD-AF9B-AE9D58E0CCFA}" type="presParOf" srcId="{D72D4DAA-E661-42D0-87DA-21FA03188E2C}" destId="{4A57ACA0-A1F0-4D83-ADF4-7DA920CC0B77}" srcOrd="0" destOrd="0" presId="urn:microsoft.com/office/officeart/2018/2/layout/IconLabelList"/>
    <dgm:cxn modelId="{7EA30071-938B-4FD8-831B-ACE3B6A11A3B}" type="presParOf" srcId="{4A57ACA0-A1F0-4D83-ADF4-7DA920CC0B77}" destId="{11609380-E3A1-4C17-9893-4138F8B59D51}" srcOrd="0" destOrd="0" presId="urn:microsoft.com/office/officeart/2018/2/layout/IconLabelList"/>
    <dgm:cxn modelId="{C59959D9-CDBD-491E-9137-2706FD382A7E}" type="presParOf" srcId="{4A57ACA0-A1F0-4D83-ADF4-7DA920CC0B77}" destId="{C522E6CB-24E2-4608-8EB4-B3CF0F61C80C}" srcOrd="1" destOrd="0" presId="urn:microsoft.com/office/officeart/2018/2/layout/IconLabelList"/>
    <dgm:cxn modelId="{F19DE5B6-FE94-417F-970E-A99D9DD108E6}" type="presParOf" srcId="{4A57ACA0-A1F0-4D83-ADF4-7DA920CC0B77}" destId="{E02AFB33-BF78-4A86-9304-3F48ADD76F7A}" srcOrd="2" destOrd="0" presId="urn:microsoft.com/office/officeart/2018/2/layout/IconLabelList"/>
    <dgm:cxn modelId="{7F7A9A9D-31B3-4715-9CD0-2BC119729A45}" type="presParOf" srcId="{D72D4DAA-E661-42D0-87DA-21FA03188E2C}" destId="{AAE54012-4206-4DEF-AACA-62E4AE4D7578}" srcOrd="1" destOrd="0" presId="urn:microsoft.com/office/officeart/2018/2/layout/IconLabelList"/>
    <dgm:cxn modelId="{2D7DD879-380B-45B0-AB96-8E8C72829C10}" type="presParOf" srcId="{D72D4DAA-E661-42D0-87DA-21FA03188E2C}" destId="{73E93F1B-B402-4346-8DFF-EA658912F3F2}" srcOrd="2" destOrd="0" presId="urn:microsoft.com/office/officeart/2018/2/layout/IconLabelList"/>
    <dgm:cxn modelId="{35448655-EA93-4E23-9520-22237C85B523}" type="presParOf" srcId="{73E93F1B-B402-4346-8DFF-EA658912F3F2}" destId="{CC8CB8E9-4CD9-4971-BA95-3301D7AC939A}" srcOrd="0" destOrd="0" presId="urn:microsoft.com/office/officeart/2018/2/layout/IconLabelList"/>
    <dgm:cxn modelId="{4E20ACC4-5D13-41AB-B42A-72A6A71E84F5}" type="presParOf" srcId="{73E93F1B-B402-4346-8DFF-EA658912F3F2}" destId="{4BB6A932-A825-4BEB-86CA-7E8DEDBD6E2F}" srcOrd="1" destOrd="0" presId="urn:microsoft.com/office/officeart/2018/2/layout/IconLabelList"/>
    <dgm:cxn modelId="{121540A7-E20A-4DF1-92FE-C9AA26C6B95F}" type="presParOf" srcId="{73E93F1B-B402-4346-8DFF-EA658912F3F2}" destId="{D68AA27A-521B-43C9-8985-A3197F807E99}" srcOrd="2" destOrd="0" presId="urn:microsoft.com/office/officeart/2018/2/layout/IconLabelList"/>
    <dgm:cxn modelId="{FB8E6A01-0DD3-484A-9C9C-7872BB133D8A}" type="presParOf" srcId="{D72D4DAA-E661-42D0-87DA-21FA03188E2C}" destId="{0C71E6D6-8425-44AB-90C2-33C2E4AB5A2E}" srcOrd="3" destOrd="0" presId="urn:microsoft.com/office/officeart/2018/2/layout/IconLabelList"/>
    <dgm:cxn modelId="{8B543A6A-AE03-4B19-BD3D-FF7E1CA46219}" type="presParOf" srcId="{D72D4DAA-E661-42D0-87DA-21FA03188E2C}" destId="{E1CC8F82-9375-451A-BABC-708D711D0BF7}" srcOrd="4" destOrd="0" presId="urn:microsoft.com/office/officeart/2018/2/layout/IconLabelList"/>
    <dgm:cxn modelId="{FCE1EBF6-773D-4C8B-9E81-8806A4C8A63E}" type="presParOf" srcId="{E1CC8F82-9375-451A-BABC-708D711D0BF7}" destId="{424C9578-1B0F-4DC4-96CA-256BFB62948C}" srcOrd="0" destOrd="0" presId="urn:microsoft.com/office/officeart/2018/2/layout/IconLabelList"/>
    <dgm:cxn modelId="{82F81908-8F3F-416D-8209-6015FF32930A}" type="presParOf" srcId="{E1CC8F82-9375-451A-BABC-708D711D0BF7}" destId="{C62CCBF7-A635-435E-8F7F-D98692C724C4}" srcOrd="1" destOrd="0" presId="urn:microsoft.com/office/officeart/2018/2/layout/IconLabelList"/>
    <dgm:cxn modelId="{FB907374-2D26-4FC6-AC97-1552EC147F11}" type="presParOf" srcId="{E1CC8F82-9375-451A-BABC-708D711D0BF7}" destId="{E5AEDF90-85EB-4DE7-85AD-69A843AAC70D}" srcOrd="2" destOrd="0" presId="urn:microsoft.com/office/officeart/2018/2/layout/IconLabelList"/>
    <dgm:cxn modelId="{7EE1E111-DFDE-496B-907A-7820752F2C31}" type="presParOf" srcId="{D72D4DAA-E661-42D0-87DA-21FA03188E2C}" destId="{5D3A2CF1-EE44-4456-8A14-09A506BB683F}" srcOrd="5" destOrd="0" presId="urn:microsoft.com/office/officeart/2018/2/layout/IconLabelList"/>
    <dgm:cxn modelId="{BD42B158-B5FE-4B35-AAE5-9492BC9B4DA3}" type="presParOf" srcId="{D72D4DAA-E661-42D0-87DA-21FA03188E2C}" destId="{3B9D1A7F-43EE-4B96-83F8-FC60F2B8DE8E}" srcOrd="6" destOrd="0" presId="urn:microsoft.com/office/officeart/2018/2/layout/IconLabelList"/>
    <dgm:cxn modelId="{F6E204D8-AC1D-4175-8A9B-2E1D674D584E}" type="presParOf" srcId="{3B9D1A7F-43EE-4B96-83F8-FC60F2B8DE8E}" destId="{1621C94A-2D23-432C-86D8-C0C33292D330}" srcOrd="0" destOrd="0" presId="urn:microsoft.com/office/officeart/2018/2/layout/IconLabelList"/>
    <dgm:cxn modelId="{FDF6315D-57E5-4D11-A903-9C5FA12682F3}" type="presParOf" srcId="{3B9D1A7F-43EE-4B96-83F8-FC60F2B8DE8E}" destId="{93BCEDE4-FE46-47BC-8D36-EE8F952CF065}" srcOrd="1" destOrd="0" presId="urn:microsoft.com/office/officeart/2018/2/layout/IconLabelList"/>
    <dgm:cxn modelId="{311B86A0-7E34-44FC-9CC3-6F539CB02369}" type="presParOf" srcId="{3B9D1A7F-43EE-4B96-83F8-FC60F2B8DE8E}" destId="{A59F7D45-547B-448F-A681-88200DDD4C7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49828-A2E0-4E73-B808-7AB1A324C29A}">
      <dsp:nvSpPr>
        <dsp:cNvPr id="0" name=""/>
        <dsp:cNvSpPr/>
      </dsp:nvSpPr>
      <dsp:spPr>
        <a:xfrm>
          <a:off x="-5424812" y="-834287"/>
          <a:ext cx="6487690" cy="6487690"/>
        </a:xfrm>
        <a:prstGeom prst="blockArc">
          <a:avLst>
            <a:gd name="adj1" fmla="val 18900000"/>
            <a:gd name="adj2" fmla="val 2700000"/>
            <a:gd name="adj3" fmla="val 333"/>
          </a:avLst>
        </a:prstGeom>
        <a:noFill/>
        <a:ln w="12700" cap="flat" cmpd="sng" algn="ctr">
          <a:solidFill>
            <a:schemeClr val="accent4">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A879D15-4DA3-4DF4-A90C-BE41D2EB5285}">
      <dsp:nvSpPr>
        <dsp:cNvPr id="0" name=""/>
        <dsp:cNvSpPr/>
      </dsp:nvSpPr>
      <dsp:spPr>
        <a:xfrm>
          <a:off x="692130" y="342687"/>
          <a:ext cx="6818335" cy="124227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5035" tIns="60960" rIns="60960" bIns="6096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chemeClr val="tx1"/>
              </a:solidFill>
            </a:rPr>
            <a:t>Segmentation</a:t>
          </a:r>
          <a:br>
            <a:rPr lang="en-US" sz="2400" kern="1200" dirty="0"/>
          </a:br>
          <a:r>
            <a:rPr lang="en-US" sz="2400" kern="1200" dirty="0"/>
            <a:t>• Global mobile phone users</a:t>
          </a:r>
          <a:br>
            <a:rPr lang="en-US" sz="2400" kern="1200" dirty="0"/>
          </a:br>
          <a:r>
            <a:rPr lang="en-US" sz="2400" kern="1200" dirty="0"/>
            <a:t>• First-time and mass-market consumers</a:t>
          </a:r>
        </a:p>
      </dsp:txBody>
      <dsp:txXfrm>
        <a:off x="692130" y="342687"/>
        <a:ext cx="6818335" cy="1242271"/>
      </dsp:txXfrm>
    </dsp:sp>
    <dsp:sp modelId="{094C6677-FB6B-437A-8CFF-79E6D95AD5D0}">
      <dsp:nvSpPr>
        <dsp:cNvPr id="0" name=""/>
        <dsp:cNvSpPr/>
      </dsp:nvSpPr>
      <dsp:spPr>
        <a:xfrm>
          <a:off x="43266" y="314959"/>
          <a:ext cx="1297727" cy="1297727"/>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96E58F7-EC19-4D88-A5D8-F734B1A4B259}">
      <dsp:nvSpPr>
        <dsp:cNvPr id="0" name=""/>
        <dsp:cNvSpPr/>
      </dsp:nvSpPr>
      <dsp:spPr>
        <a:xfrm>
          <a:off x="1042479" y="1788421"/>
          <a:ext cx="6467985" cy="124227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5035" tIns="58420" rIns="58420" bIns="5842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1"/>
              </a:solidFill>
            </a:rPr>
            <a:t>Targeting</a:t>
          </a:r>
          <a:br>
            <a:rPr lang="en-US" sz="2300" kern="1200" dirty="0"/>
          </a:br>
          <a:r>
            <a:rPr lang="en-US" sz="2300" kern="1200" dirty="0"/>
            <a:t>• Broad global market</a:t>
          </a:r>
          <a:br>
            <a:rPr lang="en-US" sz="2300" kern="1200" dirty="0"/>
          </a:br>
          <a:r>
            <a:rPr lang="en-US" sz="2300" kern="1200" dirty="0"/>
            <a:t>• Focus on accessible communication</a:t>
          </a:r>
        </a:p>
      </dsp:txBody>
      <dsp:txXfrm>
        <a:off x="1042479" y="1788421"/>
        <a:ext cx="6467985" cy="1242271"/>
      </dsp:txXfrm>
    </dsp:sp>
    <dsp:sp modelId="{D59DD5BF-0862-481A-8859-EDF1427B319D}">
      <dsp:nvSpPr>
        <dsp:cNvPr id="0" name=""/>
        <dsp:cNvSpPr/>
      </dsp:nvSpPr>
      <dsp:spPr>
        <a:xfrm>
          <a:off x="393616" y="1760693"/>
          <a:ext cx="1297727" cy="1297727"/>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CD962EE-7FD0-4BD8-A988-D06AAFFE141E}">
      <dsp:nvSpPr>
        <dsp:cNvPr id="0" name=""/>
        <dsp:cNvSpPr/>
      </dsp:nvSpPr>
      <dsp:spPr>
        <a:xfrm>
          <a:off x="692130" y="3234156"/>
          <a:ext cx="6818335" cy="124227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5035" tIns="58420" rIns="58420" bIns="5842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1"/>
              </a:solidFill>
            </a:rPr>
            <a:t>Positioning</a:t>
          </a:r>
          <a:br>
            <a:rPr lang="en-US" sz="2300" kern="1200" dirty="0"/>
          </a:br>
          <a:r>
            <a:rPr lang="en-US" sz="2300" kern="1200" dirty="0"/>
            <a:t>• Simple, reliable mobile communication</a:t>
          </a:r>
          <a:br>
            <a:rPr lang="en-US" sz="2300" kern="1200" dirty="0"/>
          </a:br>
          <a:r>
            <a:rPr lang="en-US" sz="2300" kern="1200" dirty="0"/>
            <a:t>• Human connection (“Connecting People”)</a:t>
          </a:r>
        </a:p>
      </dsp:txBody>
      <dsp:txXfrm>
        <a:off x="692130" y="3234156"/>
        <a:ext cx="6818335" cy="1242271"/>
      </dsp:txXfrm>
    </dsp:sp>
    <dsp:sp modelId="{90EC33D7-3EBB-4080-A218-2D3675870506}">
      <dsp:nvSpPr>
        <dsp:cNvPr id="0" name=""/>
        <dsp:cNvSpPr/>
      </dsp:nvSpPr>
      <dsp:spPr>
        <a:xfrm>
          <a:off x="43266" y="3206428"/>
          <a:ext cx="1297727" cy="1297727"/>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09380-E3A1-4C17-9893-4138F8B59D51}">
      <dsp:nvSpPr>
        <dsp:cNvPr id="0" name=""/>
        <dsp:cNvSpPr/>
      </dsp:nvSpPr>
      <dsp:spPr>
        <a:xfrm>
          <a:off x="595730" y="499398"/>
          <a:ext cx="1352765" cy="13527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2AFB33-BF78-4A86-9304-3F48ADD76F7A}">
      <dsp:nvSpPr>
        <dsp:cNvPr id="0" name=""/>
        <dsp:cNvSpPr/>
      </dsp:nvSpPr>
      <dsp:spPr>
        <a:xfrm>
          <a:off x="87976" y="2259631"/>
          <a:ext cx="2368274"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kern="1200" dirty="0"/>
            <a:t>Voice calling</a:t>
          </a:r>
        </a:p>
      </dsp:txBody>
      <dsp:txXfrm>
        <a:off x="87976" y="2259631"/>
        <a:ext cx="2368274" cy="1192500"/>
      </dsp:txXfrm>
    </dsp:sp>
    <dsp:sp modelId="{CC8CB8E9-4CD9-4971-BA95-3301D7AC939A}">
      <dsp:nvSpPr>
        <dsp:cNvPr id="0" name=""/>
        <dsp:cNvSpPr/>
      </dsp:nvSpPr>
      <dsp:spPr>
        <a:xfrm>
          <a:off x="3521974" y="768159"/>
          <a:ext cx="1065723" cy="1065723"/>
        </a:xfrm>
        <a:prstGeom prst="rect">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8AA27A-521B-43C9-8985-A3197F807E99}">
      <dsp:nvSpPr>
        <dsp:cNvPr id="0" name=""/>
        <dsp:cNvSpPr/>
      </dsp:nvSpPr>
      <dsp:spPr>
        <a:xfrm>
          <a:off x="2870698" y="2302281"/>
          <a:ext cx="2368274" cy="454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kern="1200" dirty="0"/>
            <a:t>SMS messaging</a:t>
          </a:r>
        </a:p>
      </dsp:txBody>
      <dsp:txXfrm>
        <a:off x="2870698" y="2302281"/>
        <a:ext cx="2368274" cy="454265"/>
      </dsp:txXfrm>
    </dsp:sp>
    <dsp:sp modelId="{424C9578-1B0F-4DC4-96CA-256BFB62948C}">
      <dsp:nvSpPr>
        <dsp:cNvPr id="0" name=""/>
        <dsp:cNvSpPr/>
      </dsp:nvSpPr>
      <dsp:spPr>
        <a:xfrm>
          <a:off x="6304697" y="571159"/>
          <a:ext cx="1065723" cy="1065723"/>
        </a:xfrm>
        <a:prstGeom prst="rect">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EDF90-85EB-4DE7-85AD-69A843AAC70D}">
      <dsp:nvSpPr>
        <dsp:cNvPr id="0" name=""/>
        <dsp:cNvSpPr/>
      </dsp:nvSpPr>
      <dsp:spPr>
        <a:xfrm>
          <a:off x="5653421" y="2035469"/>
          <a:ext cx="2368274"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kern="1200" dirty="0"/>
            <a:t>Mobile hardware functionality</a:t>
          </a:r>
        </a:p>
      </dsp:txBody>
      <dsp:txXfrm>
        <a:off x="5653421" y="2035469"/>
        <a:ext cx="2368274" cy="1192500"/>
      </dsp:txXfrm>
    </dsp:sp>
    <dsp:sp modelId="{1621C94A-2D23-432C-86D8-C0C33292D330}">
      <dsp:nvSpPr>
        <dsp:cNvPr id="0" name=""/>
        <dsp:cNvSpPr/>
      </dsp:nvSpPr>
      <dsp:spPr>
        <a:xfrm>
          <a:off x="9087419" y="571159"/>
          <a:ext cx="1065723" cy="10657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9F7D45-547B-448F-A681-88200DDD4C77}">
      <dsp:nvSpPr>
        <dsp:cNvPr id="0" name=""/>
        <dsp:cNvSpPr/>
      </dsp:nvSpPr>
      <dsp:spPr>
        <a:xfrm>
          <a:off x="8436144" y="2035469"/>
          <a:ext cx="2368274"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kern="1200" dirty="0"/>
            <a:t>Basic communication features</a:t>
          </a:r>
        </a:p>
      </dsp:txBody>
      <dsp:txXfrm>
        <a:off x="8436144" y="2035469"/>
        <a:ext cx="2368274" cy="11925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52FADC-6292-4804-8B15-EAB2A0B265F9}" type="datetimeFigureOut">
              <a:rPr lang="en-US" smtClean="0"/>
              <a:t>2026-05-11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D24513-9FBE-41D6-816B-45A99C126885}" type="slidenum">
              <a:rPr lang="en-US" smtClean="0"/>
              <a:t>‹#›</a:t>
            </a:fld>
            <a:endParaRPr lang="en-US"/>
          </a:p>
        </p:txBody>
      </p:sp>
    </p:spTree>
    <p:extLst>
      <p:ext uri="{BB962C8B-B14F-4D97-AF65-F5344CB8AC3E}">
        <p14:creationId xmlns:p14="http://schemas.microsoft.com/office/powerpoint/2010/main" val="4147581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72554-D612-0B5A-3091-F0934CFBD0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643E7B-3DBC-3682-7BCF-C91BBC1273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DC8DA4-E226-52E8-76CC-DA51EB6FA4F0}"/>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8795EFE1-751F-AB53-F0C4-1216E8B644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8A0DE-B6A0-34F1-2B9E-4B63138E3497}"/>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203149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4390C-A83A-EEDF-BD61-B13824D0F0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11CB9-2A9D-512B-0A68-55ADBE74DD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A7FEF8-7916-3674-9B36-4B7D27F16B2B}"/>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496BB5F5-617E-5084-E9A7-8E7396A3C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56F2B0-AC48-81D8-BEAF-A3BFAEF5413F}"/>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1898878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BCFC-C19D-60DA-0557-8785F7882C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A5950A-B3F0-AF71-3DEF-5B746E8E11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7E2BD7-2E5C-3BD4-BF4F-28BBBB10F6A0}"/>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2DDA0741-33F0-5A4B-0352-913ED770B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B454D9-35E8-BE89-DD2E-A616954BD740}"/>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307359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1703-5EB5-E5F2-88D4-1A4ABA18F1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5DCF20-A805-EAF9-B015-C99F162E23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AAE3D6-AD76-CF9B-9189-5B4763E81E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9FD3BA-B3EE-C847-5F46-F9048D78E04A}"/>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6" name="Footer Placeholder 5">
            <a:extLst>
              <a:ext uri="{FF2B5EF4-FFF2-40B4-BE49-F238E27FC236}">
                <a16:creationId xmlns:a16="http://schemas.microsoft.com/office/drawing/2014/main" id="{9957F918-F63F-C4A2-E445-9175511B48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34337-CE4D-9C25-944C-B640009F0912}"/>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352210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DEC2-7941-C54B-F841-B12EAC44E8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0899DF-5F54-B024-A3AF-33A71BCF3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B39B8-A1B4-5502-AFB4-B267342882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7B29AB-A53B-6223-EC58-69C437F35D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B2BA86-E196-AB65-54AD-0D9A343E14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75AC7A-D03C-EEB2-4113-EC405EF1C0BD}"/>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8" name="Footer Placeholder 7">
            <a:extLst>
              <a:ext uri="{FF2B5EF4-FFF2-40B4-BE49-F238E27FC236}">
                <a16:creationId xmlns:a16="http://schemas.microsoft.com/office/drawing/2014/main" id="{D6DEC450-3AC1-03B3-09ED-5F2BB888FC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4A0B6D-01E4-3AD4-32EE-E44B878A274C}"/>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1604844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16D6-DBE4-72BD-B5E9-10E0EE6D56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7704AC-C159-F235-E76C-4B2A6F1D9C09}"/>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4" name="Footer Placeholder 3">
            <a:extLst>
              <a:ext uri="{FF2B5EF4-FFF2-40B4-BE49-F238E27FC236}">
                <a16:creationId xmlns:a16="http://schemas.microsoft.com/office/drawing/2014/main" id="{75155601-C866-15CE-94AF-A8FE8AA1DC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242510-439E-E960-10CB-51D7219F7EC2}"/>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2766636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65D7BD-5818-4AFD-DB82-67E7573148D6}"/>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3" name="Footer Placeholder 2">
            <a:extLst>
              <a:ext uri="{FF2B5EF4-FFF2-40B4-BE49-F238E27FC236}">
                <a16:creationId xmlns:a16="http://schemas.microsoft.com/office/drawing/2014/main" id="{13D9FA62-CF4B-499D-3325-E73553DA9B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0E53A7-6293-CE34-BF16-E331D51FB5B4}"/>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3332288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E5A7-99AB-6984-3607-0AB6E6971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F302A3-1DE9-6A53-687D-091887E2F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FAB978-D969-EB29-2E73-67652115D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2F9A00-FD61-0EEA-762B-A23E3A8F9DEE}"/>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6" name="Footer Placeholder 5">
            <a:extLst>
              <a:ext uri="{FF2B5EF4-FFF2-40B4-BE49-F238E27FC236}">
                <a16:creationId xmlns:a16="http://schemas.microsoft.com/office/drawing/2014/main" id="{60675036-E551-9C88-0553-8B530F3935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382208-9D0D-3B50-E934-AB0AC0CA7E67}"/>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301881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FF075-7FA6-39F9-5E85-E3B21ACD3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F6E3C2-6854-4DEA-3F78-254CA6B8A5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9FBB4F-8465-54DB-5BE4-2D709BC039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09749-B920-75FF-17EA-0B5842A99364}"/>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6" name="Footer Placeholder 5">
            <a:extLst>
              <a:ext uri="{FF2B5EF4-FFF2-40B4-BE49-F238E27FC236}">
                <a16:creationId xmlns:a16="http://schemas.microsoft.com/office/drawing/2014/main" id="{70F4FD18-EF73-77D9-9344-45E45481E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E49BE6-0B22-3B7D-0CB5-EEFFBFFB6DE9}"/>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368612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C0E78-0B77-87FA-F5C6-99726AD17A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906B2A-EDE2-647A-0501-B7D7052E3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0452A4-4E61-9EE9-D1B2-F83589FAC860}"/>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ADF685B3-2CAB-21FD-AB61-B2371083F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55D387-DC80-AC41-3F12-5AADAD3CB8E0}"/>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1201154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709530-096D-0266-AF55-7F778106AC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C32C4E-9ADD-E3E0-275B-F485A3357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1F8BD-8FCB-0A89-4B5A-36336B2B5693}"/>
              </a:ext>
            </a:extLst>
          </p:cNvPr>
          <p:cNvSpPr>
            <a:spLocks noGrp="1"/>
          </p:cNvSpPr>
          <p:nvPr>
            <p:ph type="dt" sz="half" idx="10"/>
          </p:nvPr>
        </p:nvSpPr>
        <p:spPr/>
        <p:txBody>
          <a:body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F72CC43C-AB24-88B2-46F0-08864A7105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05142-9B72-2401-B6CB-0886981484C7}"/>
              </a:ext>
            </a:extLst>
          </p:cNvPr>
          <p:cNvSpPr>
            <a:spLocks noGrp="1"/>
          </p:cNvSpPr>
          <p:nvPr>
            <p:ph type="sldNum" sz="quarter" idx="12"/>
          </p:nvPr>
        </p:nvSpPr>
        <p:spPr/>
        <p:txBody>
          <a:bodyPr/>
          <a:lstStyle/>
          <a:p>
            <a:fld id="{3D8AEB3E-F820-40CD-B19D-E29F74F11DDC}" type="slidenum">
              <a:rPr lang="en-US" smtClean="0"/>
              <a:t>‹#›</a:t>
            </a:fld>
            <a:endParaRPr lang="en-US"/>
          </a:p>
        </p:txBody>
      </p:sp>
    </p:spTree>
    <p:extLst>
      <p:ext uri="{BB962C8B-B14F-4D97-AF65-F5344CB8AC3E}">
        <p14:creationId xmlns:p14="http://schemas.microsoft.com/office/powerpoint/2010/main" val="637094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F819B-09A8-6472-784F-CD84D4F9B3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D13FDB-74F0-67D7-B9F3-3028D0DC6E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9E906-F077-13E1-EFE8-C6C659BA33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DD99AE-4821-4AD3-9D1F-2C1826BB5D0D}" type="datetimeFigureOut">
              <a:rPr lang="en-US" smtClean="0"/>
              <a:t>2026-05-11</a:t>
            </a:fld>
            <a:endParaRPr lang="en-US"/>
          </a:p>
        </p:txBody>
      </p:sp>
      <p:sp>
        <p:nvSpPr>
          <p:cNvPr id="5" name="Footer Placeholder 4">
            <a:extLst>
              <a:ext uri="{FF2B5EF4-FFF2-40B4-BE49-F238E27FC236}">
                <a16:creationId xmlns:a16="http://schemas.microsoft.com/office/drawing/2014/main" id="{F4B24307-04EA-1126-ADBF-DA9602834E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2FBACD-684F-9A81-FA26-A1DC1BD741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8AEB3E-F820-40CD-B19D-E29F74F11DDC}" type="slidenum">
              <a:rPr lang="en-US" smtClean="0"/>
              <a:t>‹#›</a:t>
            </a:fld>
            <a:endParaRPr lang="en-US"/>
          </a:p>
        </p:txBody>
      </p:sp>
    </p:spTree>
    <p:extLst>
      <p:ext uri="{BB962C8B-B14F-4D97-AF65-F5344CB8AC3E}">
        <p14:creationId xmlns:p14="http://schemas.microsoft.com/office/powerpoint/2010/main" val="3920648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31.jpeg"/><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List_of_Nokia_products" TargetMode="External"/><Relationship Id="rId7" Type="http://schemas.openxmlformats.org/officeDocument/2006/relationships/image" Target="../media/image53.png"/><Relationship Id="rId2" Type="http://schemas.openxmlformats.org/officeDocument/2006/relationships/hyperlink" Target="https://www.slideshare.net/slideshow/nokia-stp-and-ma/26614924#15" TargetMode="Externa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www.researchgate.net/publication/235315029_Discovering_behavioral_segments_in_the_mobile_phone_mark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white background with a circle">
            <a:extLst>
              <a:ext uri="{FF2B5EF4-FFF2-40B4-BE49-F238E27FC236}">
                <a16:creationId xmlns:a16="http://schemas.microsoft.com/office/drawing/2014/main" id="{7F9AA395-CBB4-E4F7-2BD3-37705D365C93}"/>
              </a:ext>
            </a:extLst>
          </p:cNvPr>
          <p:cNvPicPr>
            <a:picLocks noChangeAspect="1"/>
          </p:cNvPicPr>
          <p:nvPr/>
        </p:nvPicPr>
        <p:blipFill>
          <a:blip r:embed="rId2">
            <a:extLst>
              <a:ext uri="{28A0092B-C50C-407E-A947-70E740481C1C}">
                <a14:useLocalDpi xmlns:a14="http://schemas.microsoft.com/office/drawing/2010/main" val="0"/>
              </a:ext>
            </a:extLst>
          </a:blip>
          <a:srcRect t="10277" r="-1" b="-1"/>
          <a:stretch>
            <a:fillRect/>
          </a:stretch>
        </p:blipFill>
        <p:spPr>
          <a:xfrm rot="16200000">
            <a:off x="3589020" y="-3589020"/>
            <a:ext cx="5013960" cy="12192000"/>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sp>
        <p:nvSpPr>
          <p:cNvPr id="3" name="Content Placeholder 2">
            <a:extLst>
              <a:ext uri="{FF2B5EF4-FFF2-40B4-BE49-F238E27FC236}">
                <a16:creationId xmlns:a16="http://schemas.microsoft.com/office/drawing/2014/main" id="{31747F7F-BCC7-BE3E-5937-B0704EA712CA}"/>
              </a:ext>
            </a:extLst>
          </p:cNvPr>
          <p:cNvSpPr>
            <a:spLocks noGrp="1"/>
          </p:cNvSpPr>
          <p:nvPr>
            <p:ph idx="1"/>
          </p:nvPr>
        </p:nvSpPr>
        <p:spPr>
          <a:xfrm>
            <a:off x="385721" y="5765527"/>
            <a:ext cx="11417506" cy="696233"/>
          </a:xfrm>
        </p:spPr>
        <p:txBody>
          <a:bodyPr vert="horz" lIns="91440" tIns="45720" rIns="91440" bIns="45720" rtlCol="0">
            <a:normAutofit/>
          </a:bodyPr>
          <a:lstStyle/>
          <a:p>
            <a:pPr marL="0" indent="0">
              <a:spcBef>
                <a:spcPct val="0"/>
              </a:spcBef>
              <a:spcAft>
                <a:spcPts val="600"/>
              </a:spcAft>
              <a:buNone/>
            </a:pPr>
            <a:r>
              <a:rPr lang="en-US" sz="4400" dirty="0">
                <a:latin typeface="Nokia Pure Headline Extra Bold" panose="020B0904040602060303" pitchFamily="34" charset="0"/>
                <a:ea typeface="+mj-ea"/>
                <a:cs typeface="+mj-cs"/>
              </a:rPr>
              <a:t>Positioning of the brand (value proposition)</a:t>
            </a:r>
          </a:p>
        </p:txBody>
      </p:sp>
      <p:pic>
        <p:nvPicPr>
          <p:cNvPr id="34" name="Picture 33" descr="A black background with blue text and icons">
            <a:extLst>
              <a:ext uri="{FF2B5EF4-FFF2-40B4-BE49-F238E27FC236}">
                <a16:creationId xmlns:a16="http://schemas.microsoft.com/office/drawing/2014/main" id="{99487739-21FC-F983-6578-574DD4EFC5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65698" y="122334"/>
            <a:ext cx="10057552" cy="5515974"/>
          </a:xfrm>
          <a:prstGeom prst="rect">
            <a:avLst/>
          </a:prstGeom>
        </p:spPr>
      </p:pic>
      <p:sp>
        <p:nvSpPr>
          <p:cNvPr id="38" name="Title 1">
            <a:extLst>
              <a:ext uri="{FF2B5EF4-FFF2-40B4-BE49-F238E27FC236}">
                <a16:creationId xmlns:a16="http://schemas.microsoft.com/office/drawing/2014/main" id="{EE46EB69-D477-E12B-321D-D4C11C6FA38E}"/>
              </a:ext>
            </a:extLst>
          </p:cNvPr>
          <p:cNvSpPr txBox="1">
            <a:spLocks/>
          </p:cNvSpPr>
          <p:nvPr/>
        </p:nvSpPr>
        <p:spPr>
          <a:xfrm>
            <a:off x="420469" y="5156834"/>
            <a:ext cx="1345849" cy="608693"/>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solidFill>
                <a:latin typeface="Nokia Pure Headline Extra Bold" panose="020B0904040602060303" pitchFamily="34" charset="0"/>
              </a:rPr>
              <a:t>CA3</a:t>
            </a:r>
          </a:p>
        </p:txBody>
      </p:sp>
      <p:pic>
        <p:nvPicPr>
          <p:cNvPr id="42" name="Picture 41">
            <a:extLst>
              <a:ext uri="{FF2B5EF4-FFF2-40B4-BE49-F238E27FC236}">
                <a16:creationId xmlns:a16="http://schemas.microsoft.com/office/drawing/2014/main" id="{92BE6546-DA4E-3D8F-E9F8-54606B4B2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469" y="5658847"/>
            <a:ext cx="3323809" cy="172447"/>
          </a:xfrm>
          <a:prstGeom prst="rect">
            <a:avLst/>
          </a:prstGeom>
        </p:spPr>
      </p:pic>
    </p:spTree>
    <p:extLst>
      <p:ext uri="{BB962C8B-B14F-4D97-AF65-F5344CB8AC3E}">
        <p14:creationId xmlns:p14="http://schemas.microsoft.com/office/powerpoint/2010/main" val="321353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D613C6-BF59-A126-A618-94ABE79B98A3}"/>
              </a:ext>
            </a:extLst>
          </p:cNvPr>
          <p:cNvSpPr>
            <a:spLocks noGrp="1"/>
          </p:cNvSpPr>
          <p:nvPr>
            <p:ph type="title"/>
          </p:nvPr>
        </p:nvSpPr>
        <p:spPr>
          <a:xfrm>
            <a:off x="235712" y="99500"/>
            <a:ext cx="7109968" cy="1006475"/>
          </a:xfrm>
        </p:spPr>
        <p:txBody>
          <a:bodyPr>
            <a:normAutofit/>
          </a:bodyPr>
          <a:lstStyle/>
          <a:p>
            <a:r>
              <a:rPr lang="en-US" sz="4000" dirty="0">
                <a:latin typeface="Nokia Pure Headline Extra Bold" panose="020B0904040602060303" pitchFamily="34" charset="0"/>
              </a:rPr>
              <a:t>Brand Positioning – Nokia</a:t>
            </a:r>
          </a:p>
        </p:txBody>
      </p:sp>
      <p:sp>
        <p:nvSpPr>
          <p:cNvPr id="3" name="Content Placeholder 2">
            <a:extLst>
              <a:ext uri="{FF2B5EF4-FFF2-40B4-BE49-F238E27FC236}">
                <a16:creationId xmlns:a16="http://schemas.microsoft.com/office/drawing/2014/main" id="{AB69849E-91B3-AB71-3C2D-D8D5262529B8}"/>
              </a:ext>
            </a:extLst>
          </p:cNvPr>
          <p:cNvSpPr>
            <a:spLocks noGrp="1"/>
          </p:cNvSpPr>
          <p:nvPr>
            <p:ph idx="1"/>
          </p:nvPr>
        </p:nvSpPr>
        <p:spPr>
          <a:xfrm>
            <a:off x="467928" y="2211951"/>
            <a:ext cx="6413888" cy="1006476"/>
          </a:xfrm>
        </p:spPr>
        <p:txBody>
          <a:bodyPr>
            <a:normAutofit lnSpcReduction="10000"/>
          </a:bodyPr>
          <a:lstStyle/>
          <a:p>
            <a:pPr marL="0" indent="0" algn="ctr">
              <a:buNone/>
            </a:pPr>
            <a:r>
              <a:rPr lang="en-US" sz="2400" b="1" dirty="0"/>
              <a:t>“The act of designing the company’s offer and image so that it occupies a distinct place in the customer’s mind.” [1]</a:t>
            </a:r>
          </a:p>
        </p:txBody>
      </p:sp>
      <p:pic>
        <p:nvPicPr>
          <p:cNvPr id="36" name="Picture 97" descr="Image">
            <a:extLst>
              <a:ext uri="{FF2B5EF4-FFF2-40B4-BE49-F238E27FC236}">
                <a16:creationId xmlns:a16="http://schemas.microsoft.com/office/drawing/2014/main" id="{98ADF3E2-4DC6-DBE4-DAFE-0BA70ED2B7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6898640" y="-15240"/>
            <a:ext cx="5305551" cy="687324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pic>
        <p:nvPicPr>
          <p:cNvPr id="38" name="Picture 37" descr="A blue and black logo&#10;&#10;AI-generated content may be incorrect.">
            <a:extLst>
              <a:ext uri="{FF2B5EF4-FFF2-40B4-BE49-F238E27FC236}">
                <a16:creationId xmlns:a16="http://schemas.microsoft.com/office/drawing/2014/main" id="{1BEDD6D4-5C6F-B520-A795-DC063FE95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468" y="2550030"/>
            <a:ext cx="2235313" cy="378192"/>
          </a:xfrm>
          <a:prstGeom prst="rect">
            <a:avLst/>
          </a:prstGeom>
        </p:spPr>
      </p:pic>
      <p:sp>
        <p:nvSpPr>
          <p:cNvPr id="40" name="Content Placeholder 2">
            <a:extLst>
              <a:ext uri="{FF2B5EF4-FFF2-40B4-BE49-F238E27FC236}">
                <a16:creationId xmlns:a16="http://schemas.microsoft.com/office/drawing/2014/main" id="{88593AE0-CA93-FE07-87D5-A808E004452C}"/>
              </a:ext>
            </a:extLst>
          </p:cNvPr>
          <p:cNvSpPr txBox="1">
            <a:spLocks/>
          </p:cNvSpPr>
          <p:nvPr/>
        </p:nvSpPr>
        <p:spPr>
          <a:xfrm>
            <a:off x="235712" y="1560819"/>
            <a:ext cx="3104269" cy="503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Brand positioning is:</a:t>
            </a:r>
          </a:p>
        </p:txBody>
      </p:sp>
      <p:sp>
        <p:nvSpPr>
          <p:cNvPr id="42" name="Content Placeholder 2">
            <a:extLst>
              <a:ext uri="{FF2B5EF4-FFF2-40B4-BE49-F238E27FC236}">
                <a16:creationId xmlns:a16="http://schemas.microsoft.com/office/drawing/2014/main" id="{D6BA5D12-6789-59E5-68F5-B76FCDB0AEA1}"/>
              </a:ext>
            </a:extLst>
          </p:cNvPr>
          <p:cNvSpPr txBox="1">
            <a:spLocks/>
          </p:cNvSpPr>
          <p:nvPr/>
        </p:nvSpPr>
        <p:spPr>
          <a:xfrm>
            <a:off x="220472" y="3431788"/>
            <a:ext cx="3104269" cy="503238"/>
          </a:xfrm>
          <a:prstGeom prst="rect">
            <a:avLst/>
          </a:prstGeom>
        </p:spPr>
        <p:txBody>
          <a:bodyPr vert="horz" lIns="91440" tIns="45720" rIns="91440" bIns="45720" rtlCol="0">
            <a:normAutofit/>
          </a:bodyPr>
          <a:lstStyle>
            <a:defPPr>
              <a:defRPr lang="en-US"/>
            </a:defPPr>
            <a:lvl1pPr indent="0">
              <a:lnSpc>
                <a:spcPct val="90000"/>
              </a:lnSpc>
              <a:spcBef>
                <a:spcPts val="1000"/>
              </a:spcBef>
              <a:buFont typeface="Arial" panose="020B0604020202020204" pitchFamily="34" charset="0"/>
              <a:buNone/>
              <a:defRPr sz="2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Positioning answers:</a:t>
            </a:r>
          </a:p>
        </p:txBody>
      </p:sp>
      <p:grpSp>
        <p:nvGrpSpPr>
          <p:cNvPr id="4" name="Group 3">
            <a:extLst>
              <a:ext uri="{FF2B5EF4-FFF2-40B4-BE49-F238E27FC236}">
                <a16:creationId xmlns:a16="http://schemas.microsoft.com/office/drawing/2014/main" id="{209F1A53-95B9-D6EF-3A4B-11238603D849}"/>
              </a:ext>
            </a:extLst>
          </p:cNvPr>
          <p:cNvGrpSpPr/>
          <p:nvPr/>
        </p:nvGrpSpPr>
        <p:grpSpPr>
          <a:xfrm rot="20935356">
            <a:off x="4728842" y="4882440"/>
            <a:ext cx="396605" cy="447674"/>
            <a:chOff x="1983533" y="859470"/>
            <a:chExt cx="396605" cy="447674"/>
          </a:xfrm>
        </p:grpSpPr>
        <p:sp>
          <p:nvSpPr>
            <p:cNvPr id="5" name="Arrow: Right 4">
              <a:extLst>
                <a:ext uri="{FF2B5EF4-FFF2-40B4-BE49-F238E27FC236}">
                  <a16:creationId xmlns:a16="http://schemas.microsoft.com/office/drawing/2014/main" id="{8E5654DF-ABDA-C434-70D0-849D12C29479}"/>
                </a:ext>
              </a:extLst>
            </p:cNvPr>
            <p:cNvSpPr/>
            <p:nvPr/>
          </p:nvSpPr>
          <p:spPr>
            <a:xfrm rot="731102">
              <a:off x="1983533" y="859470"/>
              <a:ext cx="396605" cy="44767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6" name="Arrow: Right 4">
              <a:extLst>
                <a:ext uri="{FF2B5EF4-FFF2-40B4-BE49-F238E27FC236}">
                  <a16:creationId xmlns:a16="http://schemas.microsoft.com/office/drawing/2014/main" id="{9AA95C10-84EF-7AE2-F1F2-6AFA22BA29E5}"/>
                </a:ext>
              </a:extLst>
            </p:cNvPr>
            <p:cNvSpPr txBox="1"/>
            <p:nvPr/>
          </p:nvSpPr>
          <p:spPr>
            <a:xfrm rot="731102">
              <a:off x="1984873" y="936448"/>
              <a:ext cx="277624" cy="26860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latin typeface="+mn-lt"/>
              </a:endParaRPr>
            </a:p>
          </p:txBody>
        </p:sp>
      </p:grpSp>
      <p:grpSp>
        <p:nvGrpSpPr>
          <p:cNvPr id="7" name="Group 6">
            <a:extLst>
              <a:ext uri="{FF2B5EF4-FFF2-40B4-BE49-F238E27FC236}">
                <a16:creationId xmlns:a16="http://schemas.microsoft.com/office/drawing/2014/main" id="{940FFB5F-C3D0-AD9E-10D8-ADE8BD286BFD}"/>
              </a:ext>
            </a:extLst>
          </p:cNvPr>
          <p:cNvGrpSpPr/>
          <p:nvPr/>
        </p:nvGrpSpPr>
        <p:grpSpPr>
          <a:xfrm>
            <a:off x="304536" y="4301571"/>
            <a:ext cx="1805137" cy="1466175"/>
            <a:chOff x="0" y="73981"/>
            <a:chExt cx="1805137" cy="1466175"/>
          </a:xfrm>
        </p:grpSpPr>
        <p:sp>
          <p:nvSpPr>
            <p:cNvPr id="8" name="Rectangle: Rounded Corners 7">
              <a:extLst>
                <a:ext uri="{FF2B5EF4-FFF2-40B4-BE49-F238E27FC236}">
                  <a16:creationId xmlns:a16="http://schemas.microsoft.com/office/drawing/2014/main" id="{B8E51039-DCFA-C1E2-1245-EDAAE4D26180}"/>
                </a:ext>
              </a:extLst>
            </p:cNvPr>
            <p:cNvSpPr/>
            <p:nvPr/>
          </p:nvSpPr>
          <p:spPr>
            <a:xfrm>
              <a:off x="0" y="73981"/>
              <a:ext cx="1805137" cy="1466175"/>
            </a:xfrm>
            <a:prstGeom prst="roundRect">
              <a:avLst>
                <a:gd name="adj" fmla="val 10000"/>
              </a:avLst>
            </a:prstGeom>
            <a:solidFill>
              <a:srgbClr val="3A747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9" name="Rectangle: Rounded Corners 4">
              <a:extLst>
                <a:ext uri="{FF2B5EF4-FFF2-40B4-BE49-F238E27FC236}">
                  <a16:creationId xmlns:a16="http://schemas.microsoft.com/office/drawing/2014/main" id="{6DE97E47-57B8-4402-1DD1-3804775AF5C1}"/>
                </a:ext>
              </a:extLst>
            </p:cNvPr>
            <p:cNvSpPr txBox="1"/>
            <p:nvPr/>
          </p:nvSpPr>
          <p:spPr>
            <a:xfrm>
              <a:off x="42943" y="116924"/>
              <a:ext cx="1719251" cy="13802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ts val="0"/>
                </a:spcAft>
                <a:buNone/>
              </a:pPr>
              <a:r>
                <a:rPr lang="en-US" sz="2400" b="1" kern="1200" dirty="0">
                  <a:solidFill>
                    <a:srgbClr val="E14709"/>
                  </a:solidFill>
                  <a:latin typeface="Calibri"/>
                  <a:ea typeface="+mn-ea"/>
                  <a:cs typeface="+mn-cs"/>
                </a:rPr>
                <a:t>Customer</a:t>
              </a:r>
            </a:p>
            <a:p>
              <a:pPr marL="171450" lvl="1" indent="-171450" algn="l" defTabSz="711200">
                <a:lnSpc>
                  <a:spcPct val="100000"/>
                </a:lnSpc>
                <a:spcBef>
                  <a:spcPct val="0"/>
                </a:spcBef>
                <a:spcAft>
                  <a:spcPts val="0"/>
                </a:spcAft>
                <a:buChar char="•"/>
              </a:pPr>
              <a:r>
                <a:rPr lang="en-US" sz="1600" kern="1200" dirty="0">
                  <a:latin typeface="+mn-lt"/>
                </a:rPr>
                <a:t>Who is the target customer</a:t>
              </a:r>
            </a:p>
          </p:txBody>
        </p:sp>
      </p:grpSp>
      <p:grpSp>
        <p:nvGrpSpPr>
          <p:cNvPr id="10" name="Group 9">
            <a:extLst>
              <a:ext uri="{FF2B5EF4-FFF2-40B4-BE49-F238E27FC236}">
                <a16:creationId xmlns:a16="http://schemas.microsoft.com/office/drawing/2014/main" id="{23EE0EFA-E463-3ED2-9DE5-6A5906BE3A85}"/>
              </a:ext>
            </a:extLst>
          </p:cNvPr>
          <p:cNvGrpSpPr/>
          <p:nvPr/>
        </p:nvGrpSpPr>
        <p:grpSpPr>
          <a:xfrm>
            <a:off x="2801799" y="4068178"/>
            <a:ext cx="1805137" cy="2073898"/>
            <a:chOff x="2536591" y="317857"/>
            <a:chExt cx="1805137" cy="2073898"/>
          </a:xfrm>
        </p:grpSpPr>
        <p:sp>
          <p:nvSpPr>
            <p:cNvPr id="11" name="Rectangle: Rounded Corners 10">
              <a:extLst>
                <a:ext uri="{FF2B5EF4-FFF2-40B4-BE49-F238E27FC236}">
                  <a16:creationId xmlns:a16="http://schemas.microsoft.com/office/drawing/2014/main" id="{2FC8096B-7687-B34F-21D8-7193618C28A1}"/>
                </a:ext>
              </a:extLst>
            </p:cNvPr>
            <p:cNvSpPr/>
            <p:nvPr/>
          </p:nvSpPr>
          <p:spPr>
            <a:xfrm>
              <a:off x="2536591" y="317857"/>
              <a:ext cx="1805137" cy="2073898"/>
            </a:xfrm>
            <a:prstGeom prst="roundRect">
              <a:avLst>
                <a:gd name="adj" fmla="val 10000"/>
              </a:avLst>
            </a:prstGeom>
            <a:solidFill>
              <a:srgbClr val="E04707"/>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2" name="Rectangle: Rounded Corners 4">
              <a:extLst>
                <a:ext uri="{FF2B5EF4-FFF2-40B4-BE49-F238E27FC236}">
                  <a16:creationId xmlns:a16="http://schemas.microsoft.com/office/drawing/2014/main" id="{4DD29E8A-9E4C-3988-EB7F-583D0A9140AB}"/>
                </a:ext>
              </a:extLst>
            </p:cNvPr>
            <p:cNvSpPr txBox="1"/>
            <p:nvPr/>
          </p:nvSpPr>
          <p:spPr>
            <a:xfrm>
              <a:off x="2589462" y="370728"/>
              <a:ext cx="1699395" cy="19681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marL="0" lvl="0" indent="0" algn="l" defTabSz="1066800">
                <a:lnSpc>
                  <a:spcPct val="100000"/>
                </a:lnSpc>
                <a:spcBef>
                  <a:spcPct val="0"/>
                </a:spcBef>
                <a:spcAft>
                  <a:spcPts val="0"/>
                </a:spcAft>
                <a:buNone/>
              </a:pPr>
              <a:r>
                <a:rPr lang="en-US" sz="2400" b="1" kern="1200" dirty="0">
                  <a:solidFill>
                    <a:srgbClr val="05469D"/>
                  </a:solidFill>
                  <a:latin typeface="Calibri"/>
                  <a:ea typeface="+mn-ea"/>
                  <a:cs typeface="+mn-cs"/>
                </a:rPr>
                <a:t>Brand</a:t>
              </a:r>
            </a:p>
            <a:p>
              <a:pPr marL="171450" lvl="1" indent="-171450" algn="l" defTabSz="711200">
                <a:lnSpc>
                  <a:spcPct val="100000"/>
                </a:lnSpc>
                <a:spcBef>
                  <a:spcPct val="0"/>
                </a:spcBef>
                <a:spcAft>
                  <a:spcPts val="0"/>
                </a:spcAft>
                <a:buChar char="•"/>
              </a:pPr>
              <a:r>
                <a:rPr lang="en-US" sz="1600" b="1" kern="1200" dirty="0">
                  <a:solidFill>
                    <a:srgbClr val="00439C"/>
                  </a:solidFill>
                  <a:latin typeface="+mn-lt"/>
                </a:rPr>
                <a:t>How the brand is similar (POP)</a:t>
              </a:r>
            </a:p>
            <a:p>
              <a:pPr marL="171450" lvl="1" indent="-171450" algn="l" defTabSz="711200">
                <a:lnSpc>
                  <a:spcPct val="100000"/>
                </a:lnSpc>
                <a:spcBef>
                  <a:spcPct val="0"/>
                </a:spcBef>
                <a:spcAft>
                  <a:spcPts val="0"/>
                </a:spcAft>
                <a:buNone/>
              </a:pPr>
              <a:r>
                <a:rPr lang="en-US" sz="1600" b="1" kern="1200" dirty="0">
                  <a:solidFill>
                    <a:srgbClr val="00439C"/>
                  </a:solidFill>
                  <a:latin typeface="+mn-lt"/>
                </a:rPr>
                <a:t>• How the brand is different (POD)</a:t>
              </a:r>
            </a:p>
          </p:txBody>
        </p:sp>
      </p:grpSp>
      <p:grpSp>
        <p:nvGrpSpPr>
          <p:cNvPr id="13" name="Group 12">
            <a:extLst>
              <a:ext uri="{FF2B5EF4-FFF2-40B4-BE49-F238E27FC236}">
                <a16:creationId xmlns:a16="http://schemas.microsoft.com/office/drawing/2014/main" id="{2A31959D-1E1C-33A8-C24A-416F1B4C605A}"/>
              </a:ext>
            </a:extLst>
          </p:cNvPr>
          <p:cNvGrpSpPr/>
          <p:nvPr/>
        </p:nvGrpSpPr>
        <p:grpSpPr>
          <a:xfrm>
            <a:off x="5227135" y="4368686"/>
            <a:ext cx="1805137" cy="1458273"/>
            <a:chOff x="5054823" y="1251339"/>
            <a:chExt cx="1805137" cy="1458273"/>
          </a:xfrm>
        </p:grpSpPr>
        <p:sp>
          <p:nvSpPr>
            <p:cNvPr id="14" name="Rectangle: Rounded Corners 13">
              <a:extLst>
                <a:ext uri="{FF2B5EF4-FFF2-40B4-BE49-F238E27FC236}">
                  <a16:creationId xmlns:a16="http://schemas.microsoft.com/office/drawing/2014/main" id="{3EDB53B4-1ADD-5B6F-BE71-9E2E1ADD5CBD}"/>
                </a:ext>
              </a:extLst>
            </p:cNvPr>
            <p:cNvSpPr/>
            <p:nvPr/>
          </p:nvSpPr>
          <p:spPr>
            <a:xfrm>
              <a:off x="5054823" y="1251339"/>
              <a:ext cx="1805137" cy="1458273"/>
            </a:xfrm>
            <a:prstGeom prst="roundRect">
              <a:avLst>
                <a:gd name="adj" fmla="val 10000"/>
              </a:avLst>
            </a:prstGeom>
            <a:solidFill>
              <a:srgbClr val="DDD7CB"/>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5" name="Rectangle: Rounded Corners 4">
              <a:extLst>
                <a:ext uri="{FF2B5EF4-FFF2-40B4-BE49-F238E27FC236}">
                  <a16:creationId xmlns:a16="http://schemas.microsoft.com/office/drawing/2014/main" id="{599B4C66-6220-9D47-1247-DDEFE4860F7A}"/>
                </a:ext>
              </a:extLst>
            </p:cNvPr>
            <p:cNvSpPr txBox="1"/>
            <p:nvPr/>
          </p:nvSpPr>
          <p:spPr>
            <a:xfrm>
              <a:off x="5097534" y="1294050"/>
              <a:ext cx="1719715" cy="137285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marL="0" lvl="0" indent="0" algn="l" defTabSz="1066800">
                <a:lnSpc>
                  <a:spcPct val="100000"/>
                </a:lnSpc>
                <a:spcBef>
                  <a:spcPts val="0"/>
                </a:spcBef>
                <a:spcAft>
                  <a:spcPts val="0"/>
                </a:spcAft>
                <a:buNone/>
              </a:pPr>
              <a:r>
                <a:rPr lang="en-US" sz="2400" b="1" kern="1200" dirty="0">
                  <a:solidFill>
                    <a:schemeClr val="tx1"/>
                  </a:solidFill>
                  <a:latin typeface="+mn-lt"/>
                </a:rPr>
                <a:t>Competitor</a:t>
              </a:r>
            </a:p>
            <a:p>
              <a:pPr marL="171450" lvl="1" indent="-171450" algn="l" defTabSz="800100">
                <a:lnSpc>
                  <a:spcPct val="100000"/>
                </a:lnSpc>
                <a:spcBef>
                  <a:spcPts val="0"/>
                </a:spcBef>
                <a:spcAft>
                  <a:spcPts val="0"/>
                </a:spcAft>
                <a:buChar char="•"/>
              </a:pPr>
              <a:r>
                <a:rPr lang="en-US" sz="1800" b="1" kern="1200" dirty="0">
                  <a:solidFill>
                    <a:schemeClr val="tx1"/>
                  </a:solidFill>
                  <a:latin typeface="+mn-lt"/>
                </a:rPr>
                <a:t>Who are the competitors</a:t>
              </a:r>
            </a:p>
          </p:txBody>
        </p:sp>
      </p:grpSp>
      <p:grpSp>
        <p:nvGrpSpPr>
          <p:cNvPr id="16" name="Group 15">
            <a:extLst>
              <a:ext uri="{FF2B5EF4-FFF2-40B4-BE49-F238E27FC236}">
                <a16:creationId xmlns:a16="http://schemas.microsoft.com/office/drawing/2014/main" id="{27A0E6D8-D0EE-855C-D273-2435956C1A47}"/>
              </a:ext>
            </a:extLst>
          </p:cNvPr>
          <p:cNvGrpSpPr/>
          <p:nvPr/>
        </p:nvGrpSpPr>
        <p:grpSpPr>
          <a:xfrm rot="20983338">
            <a:off x="2236054" y="4882440"/>
            <a:ext cx="396605" cy="447674"/>
            <a:chOff x="1983533" y="859470"/>
            <a:chExt cx="396605" cy="447674"/>
          </a:xfrm>
        </p:grpSpPr>
        <p:sp>
          <p:nvSpPr>
            <p:cNvPr id="17" name="Arrow: Right 16">
              <a:extLst>
                <a:ext uri="{FF2B5EF4-FFF2-40B4-BE49-F238E27FC236}">
                  <a16:creationId xmlns:a16="http://schemas.microsoft.com/office/drawing/2014/main" id="{24AD6322-9C05-59A0-E4AF-C38250BDFD28}"/>
                </a:ext>
              </a:extLst>
            </p:cNvPr>
            <p:cNvSpPr/>
            <p:nvPr/>
          </p:nvSpPr>
          <p:spPr>
            <a:xfrm rot="731102">
              <a:off x="1983533" y="859470"/>
              <a:ext cx="396605" cy="44767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8" name="Arrow: Right 4">
              <a:extLst>
                <a:ext uri="{FF2B5EF4-FFF2-40B4-BE49-F238E27FC236}">
                  <a16:creationId xmlns:a16="http://schemas.microsoft.com/office/drawing/2014/main" id="{DE8B7615-3E6B-5BF3-FB2E-412856C29F79}"/>
                </a:ext>
              </a:extLst>
            </p:cNvPr>
            <p:cNvSpPr txBox="1"/>
            <p:nvPr/>
          </p:nvSpPr>
          <p:spPr>
            <a:xfrm rot="731102">
              <a:off x="1984873" y="936448"/>
              <a:ext cx="277624" cy="26860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latin typeface="+mn-lt"/>
              </a:endParaRPr>
            </a:p>
          </p:txBody>
        </p:sp>
      </p:grpSp>
    </p:spTree>
    <p:extLst>
      <p:ext uri="{BB962C8B-B14F-4D97-AF65-F5344CB8AC3E}">
        <p14:creationId xmlns:p14="http://schemas.microsoft.com/office/powerpoint/2010/main" val="24738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1000"/>
                                        <p:tgtEl>
                                          <p:spTgt spid="13"/>
                                        </p:tgtEl>
                                      </p:cBhvr>
                                    </p:animEffect>
                                    <p:anim calcmode="lin" valueType="num">
                                      <p:cBhvr>
                                        <p:cTn id="47" dur="1000" fill="hold"/>
                                        <p:tgtEl>
                                          <p:spTgt spid="13"/>
                                        </p:tgtEl>
                                        <p:attrNameLst>
                                          <p:attrName>ppt_x</p:attrName>
                                        </p:attrNameLst>
                                      </p:cBhvr>
                                      <p:tavLst>
                                        <p:tav tm="0">
                                          <p:val>
                                            <p:strVal val="#ppt_x"/>
                                          </p:val>
                                        </p:tav>
                                        <p:tav tm="100000">
                                          <p:val>
                                            <p:strVal val="#ppt_x"/>
                                          </p:val>
                                        </p:tav>
                                      </p:tavLst>
                                    </p:anim>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0"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230C3D3F-804C-4A71-8E21-2B62A4081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B9E96-B004-93B1-3D25-31F070D581BC}"/>
              </a:ext>
            </a:extLst>
          </p:cNvPr>
          <p:cNvSpPr>
            <a:spLocks noGrp="1"/>
          </p:cNvSpPr>
          <p:nvPr>
            <p:ph type="title"/>
          </p:nvPr>
        </p:nvSpPr>
        <p:spPr>
          <a:xfrm>
            <a:off x="291112" y="135756"/>
            <a:ext cx="10512552" cy="882482"/>
          </a:xfrm>
        </p:spPr>
        <p:txBody>
          <a:bodyPr vert="horz" lIns="91440" tIns="45720" rIns="91440" bIns="45720" rtlCol="0">
            <a:normAutofit/>
          </a:bodyPr>
          <a:lstStyle/>
          <a:p>
            <a:r>
              <a:rPr lang="en-US" sz="4000" dirty="0">
                <a:latin typeface="Nokia Pure Headline Extra Bold" panose="020B0904040602060303" pitchFamily="34" charset="0"/>
              </a:rPr>
              <a:t>STP Strategy – Nokia</a:t>
            </a:r>
          </a:p>
        </p:txBody>
      </p:sp>
      <p:pic>
        <p:nvPicPr>
          <p:cNvPr id="26" name="Picture 25">
            <a:extLst>
              <a:ext uri="{FF2B5EF4-FFF2-40B4-BE49-F238E27FC236}">
                <a16:creationId xmlns:a16="http://schemas.microsoft.com/office/drawing/2014/main" id="{19241C4B-78AF-8557-1B27-1F5B41C80337}"/>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291112" y="1000985"/>
            <a:ext cx="3794760" cy="4819116"/>
          </a:xfrm>
          <a:prstGeom prst="rect">
            <a:avLst/>
          </a:prstGeom>
        </p:spPr>
      </p:pic>
      <p:graphicFrame>
        <p:nvGraphicFramePr>
          <p:cNvPr id="17" name="Content Placeholder 2">
            <a:extLst>
              <a:ext uri="{FF2B5EF4-FFF2-40B4-BE49-F238E27FC236}">
                <a16:creationId xmlns:a16="http://schemas.microsoft.com/office/drawing/2014/main" id="{46DF0B32-42A7-F147-608F-4F4EE44B6272}"/>
              </a:ext>
            </a:extLst>
          </p:cNvPr>
          <p:cNvGraphicFramePr>
            <a:graphicFrameLocks noGrp="1"/>
          </p:cNvGraphicFramePr>
          <p:nvPr>
            <p:ph idx="1"/>
            <p:extLst>
              <p:ext uri="{D42A27DB-BD31-4B8C-83A1-F6EECF244321}">
                <p14:modId xmlns:p14="http://schemas.microsoft.com/office/powerpoint/2010/main" val="2059588916"/>
              </p:ext>
            </p:extLst>
          </p:nvPr>
        </p:nvGraphicFramePr>
        <p:xfrm>
          <a:off x="4255673" y="989946"/>
          <a:ext cx="7553732" cy="481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5">
            <a:extLst>
              <a:ext uri="{FF2B5EF4-FFF2-40B4-BE49-F238E27FC236}">
                <a16:creationId xmlns:a16="http://schemas.microsoft.com/office/drawing/2014/main" id="{1D3FBF0A-8F1E-766A-9F99-C8FFA2DBCEAA}"/>
              </a:ext>
            </a:extLst>
          </p:cNvPr>
          <p:cNvGrpSpPr/>
          <p:nvPr/>
        </p:nvGrpSpPr>
        <p:grpSpPr>
          <a:xfrm>
            <a:off x="4697305" y="1578904"/>
            <a:ext cx="854599" cy="3666722"/>
            <a:chOff x="4789937" y="2082478"/>
            <a:chExt cx="854599" cy="3666722"/>
          </a:xfrm>
        </p:grpSpPr>
        <p:sp>
          <p:nvSpPr>
            <p:cNvPr id="4" name="TextBox 3">
              <a:extLst>
                <a:ext uri="{FF2B5EF4-FFF2-40B4-BE49-F238E27FC236}">
                  <a16:creationId xmlns:a16="http://schemas.microsoft.com/office/drawing/2014/main" id="{D7E14614-F507-1D88-A2C1-829D6AC91370}"/>
                </a:ext>
              </a:extLst>
            </p:cNvPr>
            <p:cNvSpPr txBox="1"/>
            <p:nvPr/>
          </p:nvSpPr>
          <p:spPr>
            <a:xfrm>
              <a:off x="4789937" y="2082478"/>
              <a:ext cx="474810" cy="769441"/>
            </a:xfrm>
            <a:prstGeom prst="rect">
              <a:avLst/>
            </a:prstGeom>
            <a:noFill/>
          </p:spPr>
          <p:txBody>
            <a:bodyPr wrap="none" rtlCol="0">
              <a:spAutoFit/>
            </a:bodyPr>
            <a:lstStyle/>
            <a:p>
              <a:r>
                <a:rPr lang="en-US" sz="4400" dirty="0">
                  <a:latin typeface="Nokia Pure Headline Extra Bold" panose="020B0904040602060303" pitchFamily="34" charset="0"/>
                </a:rPr>
                <a:t>1</a:t>
              </a:r>
            </a:p>
          </p:txBody>
        </p:sp>
        <p:sp>
          <p:nvSpPr>
            <p:cNvPr id="7" name="TextBox 6">
              <a:extLst>
                <a:ext uri="{FF2B5EF4-FFF2-40B4-BE49-F238E27FC236}">
                  <a16:creationId xmlns:a16="http://schemas.microsoft.com/office/drawing/2014/main" id="{498736AB-7870-18DB-099F-5782BDF9D901}"/>
                </a:ext>
              </a:extLst>
            </p:cNvPr>
            <p:cNvSpPr txBox="1"/>
            <p:nvPr/>
          </p:nvSpPr>
          <p:spPr>
            <a:xfrm>
              <a:off x="5140872" y="3499901"/>
              <a:ext cx="503664" cy="769441"/>
            </a:xfrm>
            <a:prstGeom prst="rect">
              <a:avLst/>
            </a:prstGeom>
            <a:noFill/>
          </p:spPr>
          <p:txBody>
            <a:bodyPr wrap="none" rtlCol="0">
              <a:spAutoFit/>
            </a:bodyPr>
            <a:lstStyle>
              <a:defPPr>
                <a:defRPr lang="en-US"/>
              </a:defPPr>
              <a:lvl1pPr>
                <a:defRPr sz="3600">
                  <a:latin typeface="Nokia Pure Headline Extra Bold" panose="020B0904040602060303" pitchFamily="34" charset="0"/>
                </a:defRPr>
              </a:lvl1pPr>
            </a:lstStyle>
            <a:p>
              <a:r>
                <a:rPr lang="en-US" sz="4400" dirty="0"/>
                <a:t>2</a:t>
              </a:r>
            </a:p>
          </p:txBody>
        </p:sp>
        <p:sp>
          <p:nvSpPr>
            <p:cNvPr id="8" name="TextBox 7">
              <a:extLst>
                <a:ext uri="{FF2B5EF4-FFF2-40B4-BE49-F238E27FC236}">
                  <a16:creationId xmlns:a16="http://schemas.microsoft.com/office/drawing/2014/main" id="{F063F726-6087-3128-ECA7-FAD35567678D}"/>
                </a:ext>
              </a:extLst>
            </p:cNvPr>
            <p:cNvSpPr txBox="1"/>
            <p:nvPr/>
          </p:nvSpPr>
          <p:spPr>
            <a:xfrm>
              <a:off x="4796178" y="4979759"/>
              <a:ext cx="487634" cy="769441"/>
            </a:xfrm>
            <a:prstGeom prst="rect">
              <a:avLst/>
            </a:prstGeom>
            <a:noFill/>
          </p:spPr>
          <p:txBody>
            <a:bodyPr wrap="none" rtlCol="0">
              <a:spAutoFit/>
            </a:bodyPr>
            <a:lstStyle>
              <a:defPPr>
                <a:defRPr lang="en-US"/>
              </a:defPPr>
              <a:lvl1pPr>
                <a:defRPr sz="3600">
                  <a:latin typeface="Nokia Pure Headline Extra Bold" panose="020B0904040602060303" pitchFamily="34" charset="0"/>
                </a:defRPr>
              </a:lvl1pPr>
            </a:lstStyle>
            <a:p>
              <a:r>
                <a:rPr lang="en-US" sz="4400" dirty="0"/>
                <a:t>3</a:t>
              </a:r>
            </a:p>
          </p:txBody>
        </p:sp>
      </p:grpSp>
      <p:pic>
        <p:nvPicPr>
          <p:cNvPr id="5" name="Picture 4" descr="A blue and black logo&#10;&#10;AI-generated content may be incorrect.">
            <a:extLst>
              <a:ext uri="{FF2B5EF4-FFF2-40B4-BE49-F238E27FC236}">
                <a16:creationId xmlns:a16="http://schemas.microsoft.com/office/drawing/2014/main" id="{B7C0D8DD-ABD4-9CDB-26CE-DDE44DED8F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06221" y="224852"/>
            <a:ext cx="1880162" cy="318104"/>
          </a:xfrm>
          <a:prstGeom prst="rect">
            <a:avLst/>
          </a:prstGeom>
        </p:spPr>
      </p:pic>
      <p:sp>
        <p:nvSpPr>
          <p:cNvPr id="13" name="TextBox 12">
            <a:extLst>
              <a:ext uri="{FF2B5EF4-FFF2-40B4-BE49-F238E27FC236}">
                <a16:creationId xmlns:a16="http://schemas.microsoft.com/office/drawing/2014/main" id="{66E9FE64-8643-3948-0E6F-E61669047777}"/>
              </a:ext>
            </a:extLst>
          </p:cNvPr>
          <p:cNvSpPr txBox="1"/>
          <p:nvPr/>
        </p:nvSpPr>
        <p:spPr>
          <a:xfrm>
            <a:off x="335328" y="5828214"/>
            <a:ext cx="11518293" cy="923330"/>
          </a:xfrm>
          <a:prstGeom prst="rect">
            <a:avLst/>
          </a:prstGeom>
          <a:noFill/>
        </p:spPr>
        <p:txBody>
          <a:bodyPr wrap="square">
            <a:spAutoFit/>
          </a:bodyPr>
          <a:lstStyle/>
          <a:p>
            <a:pPr algn="just"/>
            <a:r>
              <a:rPr lang="en-US" dirty="0">
                <a:latin typeface="Nokia Pure Headline" panose="020B0504040602060303" pitchFamily="34" charset="0"/>
              </a:rPr>
              <a:t>Research on the mobile phone market shows that consumers do not all evaluate phones in the same way. Some segments focus more on functionality and practicality, while others emphasize price, design, or technological superiority.[3]</a:t>
            </a:r>
          </a:p>
        </p:txBody>
      </p:sp>
    </p:spTree>
    <p:extLst>
      <p:ext uri="{BB962C8B-B14F-4D97-AF65-F5344CB8AC3E}">
        <p14:creationId xmlns:p14="http://schemas.microsoft.com/office/powerpoint/2010/main" val="236175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AsOne/>
      </p:bldGraphic>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Picture 33" descr="A white background with a circle">
            <a:extLst>
              <a:ext uri="{FF2B5EF4-FFF2-40B4-BE49-F238E27FC236}">
                <a16:creationId xmlns:a16="http://schemas.microsoft.com/office/drawing/2014/main" id="{8C3C215B-5429-B44A-B438-7620805AF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6" y="24910"/>
            <a:ext cx="12201086" cy="6884979"/>
          </a:xfrm>
          <a:prstGeom prst="rect">
            <a:avLst/>
          </a:prstGeom>
        </p:spPr>
      </p:pic>
      <p:pic>
        <p:nvPicPr>
          <p:cNvPr id="35" name="Picture 34">
            <a:extLst>
              <a:ext uri="{FF2B5EF4-FFF2-40B4-BE49-F238E27FC236}">
                <a16:creationId xmlns:a16="http://schemas.microsoft.com/office/drawing/2014/main" id="{6FEFEF21-4078-E6BA-07A9-09A213E9CFFC}"/>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rot="19988257">
            <a:off x="-64078" y="3340704"/>
            <a:ext cx="8711491" cy="1473894"/>
          </a:xfrm>
          <a:prstGeom prst="rect">
            <a:avLst/>
          </a:prstGeom>
        </p:spPr>
      </p:pic>
      <p:sp>
        <p:nvSpPr>
          <p:cNvPr id="2" name="Title 1">
            <a:extLst>
              <a:ext uri="{FF2B5EF4-FFF2-40B4-BE49-F238E27FC236}">
                <a16:creationId xmlns:a16="http://schemas.microsoft.com/office/drawing/2014/main" id="{953081F4-98AB-83E9-5FEB-61C2CC0F77FB}"/>
              </a:ext>
            </a:extLst>
          </p:cNvPr>
          <p:cNvSpPr>
            <a:spLocks noGrp="1"/>
          </p:cNvSpPr>
          <p:nvPr>
            <p:ph type="title"/>
          </p:nvPr>
        </p:nvSpPr>
        <p:spPr>
          <a:xfrm>
            <a:off x="189575" y="50883"/>
            <a:ext cx="5797294" cy="830998"/>
          </a:xfrm>
          <a:effectLst>
            <a:outerShdw blurRad="50800" dist="38100" dir="2700000" algn="tl" rotWithShape="0">
              <a:prstClr val="black">
                <a:alpha val="40000"/>
              </a:prstClr>
            </a:outerShdw>
          </a:effectLst>
        </p:spPr>
        <p:txBody>
          <a:bodyPr vert="horz" lIns="91440" tIns="45720" rIns="91440" bIns="45720" rtlCol="0" anchor="b">
            <a:normAutofit fontScale="90000"/>
          </a:bodyPr>
          <a:lstStyle/>
          <a:p>
            <a:pPr algn="ctr"/>
            <a:r>
              <a:rPr lang="en-US" dirty="0">
                <a:latin typeface="Nokia Pure Headline Extra Bold" panose="020B0904040602060303" pitchFamily="34" charset="0"/>
              </a:rPr>
              <a:t>Competitive Landscape</a:t>
            </a:r>
          </a:p>
        </p:txBody>
      </p:sp>
      <p:sp>
        <p:nvSpPr>
          <p:cNvPr id="7" name="TextBox 6">
            <a:extLst>
              <a:ext uri="{FF2B5EF4-FFF2-40B4-BE49-F238E27FC236}">
                <a16:creationId xmlns:a16="http://schemas.microsoft.com/office/drawing/2014/main" id="{45DE6D84-3D13-2CBD-5D12-5D75C34454E9}"/>
              </a:ext>
            </a:extLst>
          </p:cNvPr>
          <p:cNvSpPr txBox="1"/>
          <p:nvPr/>
        </p:nvSpPr>
        <p:spPr>
          <a:xfrm>
            <a:off x="229880" y="5872221"/>
            <a:ext cx="6626944" cy="830997"/>
          </a:xfrm>
          <a:prstGeom prst="rect">
            <a:avLst/>
          </a:prstGeom>
          <a:noFill/>
        </p:spPr>
        <p:txBody>
          <a:bodyPr wrap="square">
            <a:spAutoFit/>
          </a:bodyPr>
          <a:lstStyle/>
          <a:p>
            <a:r>
              <a:rPr lang="en-US" sz="2400" b="1" dirty="0">
                <a:solidFill>
                  <a:srgbClr val="00439C"/>
                </a:solidFill>
              </a:rPr>
              <a:t>Competition</a:t>
            </a:r>
            <a:r>
              <a:rPr lang="en-US" sz="2400" dirty="0">
                <a:solidFill>
                  <a:srgbClr val="00439C"/>
                </a:solidFill>
              </a:rPr>
              <a:t> occurs at the </a:t>
            </a:r>
            <a:r>
              <a:rPr lang="en-US" sz="2400" b="1" dirty="0">
                <a:solidFill>
                  <a:srgbClr val="00439C"/>
                </a:solidFill>
              </a:rPr>
              <a:t>benefit level</a:t>
            </a:r>
            <a:r>
              <a:rPr lang="en-US" sz="2400" dirty="0">
                <a:solidFill>
                  <a:srgbClr val="00439C"/>
                </a:solidFill>
              </a:rPr>
              <a:t>, not only </a:t>
            </a:r>
            <a:r>
              <a:rPr lang="en-US" sz="2400" b="1" dirty="0">
                <a:solidFill>
                  <a:srgbClr val="00439C"/>
                </a:solidFill>
              </a:rPr>
              <a:t>product level</a:t>
            </a:r>
            <a:r>
              <a:rPr lang="en-US" sz="2400" dirty="0">
                <a:solidFill>
                  <a:srgbClr val="00439C"/>
                </a:solidFill>
              </a:rPr>
              <a:t>. [1]</a:t>
            </a:r>
          </a:p>
        </p:txBody>
      </p:sp>
      <p:sp>
        <p:nvSpPr>
          <p:cNvPr id="11" name="TextBox 10">
            <a:extLst>
              <a:ext uri="{FF2B5EF4-FFF2-40B4-BE49-F238E27FC236}">
                <a16:creationId xmlns:a16="http://schemas.microsoft.com/office/drawing/2014/main" id="{335589FB-6D3D-EDCB-F2F3-256B9F03883C}"/>
              </a:ext>
            </a:extLst>
          </p:cNvPr>
          <p:cNvSpPr txBox="1"/>
          <p:nvPr/>
        </p:nvSpPr>
        <p:spPr>
          <a:xfrm>
            <a:off x="469751" y="1312133"/>
            <a:ext cx="2926274" cy="461665"/>
          </a:xfrm>
          <a:prstGeom prst="rect">
            <a:avLst/>
          </a:prstGeom>
          <a:noFill/>
        </p:spPr>
        <p:txBody>
          <a:bodyPr wrap="square">
            <a:spAutoFit/>
          </a:bodyPr>
          <a:lstStyle/>
          <a:p>
            <a:r>
              <a:rPr lang="en-US" sz="2400" b="1" dirty="0"/>
              <a:t>Main competitors:</a:t>
            </a:r>
          </a:p>
        </p:txBody>
      </p:sp>
      <p:pic>
        <p:nvPicPr>
          <p:cNvPr id="17" name="Picture 16" descr="A poster of a market share">
            <a:extLst>
              <a:ext uri="{FF2B5EF4-FFF2-40B4-BE49-F238E27FC236}">
                <a16:creationId xmlns:a16="http://schemas.microsoft.com/office/drawing/2014/main" id="{9F4A016D-99AC-C668-75C0-319D9BC5690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60537" y="550393"/>
            <a:ext cx="4941888" cy="6178868"/>
          </a:xfrm>
          <a:prstGeom prst="rect">
            <a:avLst/>
          </a:prstGeom>
        </p:spPr>
      </p:pic>
      <p:pic>
        <p:nvPicPr>
          <p:cNvPr id="25" name="Picture 24" descr="A blue letter on a black background&#10;&#10;AI-generated content may be incorrect.">
            <a:extLst>
              <a:ext uri="{FF2B5EF4-FFF2-40B4-BE49-F238E27FC236}">
                <a16:creationId xmlns:a16="http://schemas.microsoft.com/office/drawing/2014/main" id="{FEB00F70-B54C-7E95-F8FC-8DAD4B56EF6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504459" y="2570219"/>
            <a:ext cx="3201045" cy="475992"/>
          </a:xfrm>
          <a:prstGeom prst="rect">
            <a:avLst/>
          </a:prstGeom>
        </p:spPr>
      </p:pic>
      <p:pic>
        <p:nvPicPr>
          <p:cNvPr id="27" name="Picture 26" descr="A black background with a black square&#10;&#10;AI-generated content may be incorrect.">
            <a:extLst>
              <a:ext uri="{FF2B5EF4-FFF2-40B4-BE49-F238E27FC236}">
                <a16:creationId xmlns:a16="http://schemas.microsoft.com/office/drawing/2014/main" id="{8F5859D0-08EF-6760-6871-B29ED980C993}"/>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282851" y="3761652"/>
            <a:ext cx="1476266" cy="1476266"/>
          </a:xfrm>
          <a:prstGeom prst="rect">
            <a:avLst/>
          </a:prstGeom>
        </p:spPr>
      </p:pic>
      <p:pic>
        <p:nvPicPr>
          <p:cNvPr id="29" name="Picture 28" descr="A logo of a company&#10;&#10;AI-generated content may be incorrect.">
            <a:extLst>
              <a:ext uri="{FF2B5EF4-FFF2-40B4-BE49-F238E27FC236}">
                <a16:creationId xmlns:a16="http://schemas.microsoft.com/office/drawing/2014/main" id="{E4E2CA57-CBAA-37B6-5AEB-5E6CA5736DDF}"/>
              </a:ext>
            </a:extLst>
          </p:cNvPr>
          <p:cNvPicPr>
            <a:picLocks noChangeAspect="1"/>
          </p:cNvPicPr>
          <p:nvPr/>
        </p:nvPicPr>
        <p:blipFill>
          <a:blip r:embed="rId7" cstate="print">
            <a:extLst>
              <a:ext uri="{28A0092B-C50C-407E-A947-70E740481C1C}">
                <a14:useLocalDpi xmlns:a14="http://schemas.microsoft.com/office/drawing/2010/main"/>
              </a:ext>
            </a:extLst>
          </a:blip>
          <a:srcRect l="6180" r="6948"/>
          <a:stretch>
            <a:fillRect/>
          </a:stretch>
        </p:blipFill>
        <p:spPr>
          <a:xfrm>
            <a:off x="700794" y="4114223"/>
            <a:ext cx="1949888" cy="1262547"/>
          </a:xfrm>
          <a:prstGeom prst="rect">
            <a:avLst/>
          </a:prstGeom>
        </p:spPr>
      </p:pic>
      <p:pic>
        <p:nvPicPr>
          <p:cNvPr id="31" name="Picture 30" descr="A black background with a black square&#10;&#10;AI-generated content may be incorrect.">
            <a:extLst>
              <a:ext uri="{FF2B5EF4-FFF2-40B4-BE49-F238E27FC236}">
                <a16:creationId xmlns:a16="http://schemas.microsoft.com/office/drawing/2014/main" id="{7BAFF193-343D-0C45-63F2-9A7625A2AD40}"/>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796017" y="2083206"/>
            <a:ext cx="1804214" cy="1262548"/>
          </a:xfrm>
          <a:prstGeom prst="rect">
            <a:avLst/>
          </a:prstGeom>
        </p:spPr>
      </p:pic>
      <p:pic>
        <p:nvPicPr>
          <p:cNvPr id="4" name="Picture 3" descr="A blue and black logo&#10;&#10;AI-generated content may be incorrect.">
            <a:extLst>
              <a:ext uri="{FF2B5EF4-FFF2-40B4-BE49-F238E27FC236}">
                <a16:creationId xmlns:a16="http://schemas.microsoft.com/office/drawing/2014/main" id="{C5B8D813-A90A-8681-04F9-2ADC530A5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6221" y="224852"/>
            <a:ext cx="1880162" cy="318104"/>
          </a:xfrm>
          <a:prstGeom prst="rect">
            <a:avLst/>
          </a:prstGeom>
        </p:spPr>
      </p:pic>
    </p:spTree>
    <p:extLst>
      <p:ext uri="{BB962C8B-B14F-4D97-AF65-F5344CB8AC3E}">
        <p14:creationId xmlns:p14="http://schemas.microsoft.com/office/powerpoint/2010/main" val="9991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36FFF-74AB-43DF-B1F6-22A56CE2A81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DBA7CB5-E819-5AE8-E833-5F3522EDAA6F}"/>
              </a:ext>
            </a:extLst>
          </p:cNvPr>
          <p:cNvPicPr>
            <a:picLocks noChangeAspect="1"/>
          </p:cNvPicPr>
          <p:nvPr/>
        </p:nvPicPr>
        <p:blipFill>
          <a:blip r:embed="rId2" cstate="screen">
            <a:alphaModFix amt="15000"/>
            <a:extLst>
              <a:ext uri="{28A0092B-C50C-407E-A947-70E740481C1C}">
                <a14:useLocalDpi xmlns:a14="http://schemas.microsoft.com/office/drawing/2010/main"/>
              </a:ext>
            </a:extLst>
          </a:blip>
          <a:srcRect/>
          <a:stretch>
            <a:fillRect/>
          </a:stretch>
        </p:blipFill>
        <p:spPr>
          <a:xfrm>
            <a:off x="1" y="-1"/>
            <a:ext cx="12191999" cy="6903721"/>
          </a:xfrm>
          <a:prstGeom prst="rect">
            <a:avLst/>
          </a:prstGeom>
        </p:spPr>
      </p:pic>
      <p:sp>
        <p:nvSpPr>
          <p:cNvPr id="2" name="Title 1">
            <a:extLst>
              <a:ext uri="{FF2B5EF4-FFF2-40B4-BE49-F238E27FC236}">
                <a16:creationId xmlns:a16="http://schemas.microsoft.com/office/drawing/2014/main" id="{AE4F92B1-89DF-34EC-FF64-CDF307F41B72}"/>
              </a:ext>
            </a:extLst>
          </p:cNvPr>
          <p:cNvSpPr>
            <a:spLocks noGrp="1"/>
          </p:cNvSpPr>
          <p:nvPr>
            <p:ph type="title"/>
          </p:nvPr>
        </p:nvSpPr>
        <p:spPr>
          <a:xfrm>
            <a:off x="201168" y="159654"/>
            <a:ext cx="7120745" cy="837208"/>
          </a:xfrm>
          <a:effectLst>
            <a:outerShdw blurRad="50800" dist="38100" dir="8100000" algn="tr" rotWithShape="0">
              <a:prstClr val="black">
                <a:alpha val="40000"/>
              </a:prstClr>
            </a:outerShdw>
            <a:reflection blurRad="6350" stA="52000" endA="300" endPos="35000" dir="5400000" sy="-100000" algn="bl" rotWithShape="0"/>
          </a:effectLst>
        </p:spPr>
        <p:txBody>
          <a:bodyPr vert="horz" lIns="91440" tIns="45720" rIns="91440" bIns="45720" rtlCol="0" anchor="b">
            <a:normAutofit/>
          </a:bodyPr>
          <a:lstStyle/>
          <a:p>
            <a:r>
              <a:rPr lang="en-US" sz="4800" b="1" dirty="0">
                <a:latin typeface="Nokia Pure Headline Extra Bold" panose="020B0904040602060303" pitchFamily="34" charset="0"/>
              </a:rPr>
              <a:t>Points of Parity (POP)</a:t>
            </a:r>
            <a:endParaRPr lang="en-US" sz="4800" dirty="0">
              <a:latin typeface="Nokia Pure Headline Extra Bold" panose="020B0904040602060303" pitchFamily="34" charset="0"/>
            </a:endParaRPr>
          </a:p>
        </p:txBody>
      </p:sp>
      <p:sp>
        <p:nvSpPr>
          <p:cNvPr id="17" name="TextBox 16">
            <a:extLst>
              <a:ext uri="{FF2B5EF4-FFF2-40B4-BE49-F238E27FC236}">
                <a16:creationId xmlns:a16="http://schemas.microsoft.com/office/drawing/2014/main" id="{BFB748C4-BDD8-4FF8-5D7E-F3BE2783DD0C}"/>
              </a:ext>
            </a:extLst>
          </p:cNvPr>
          <p:cNvSpPr txBox="1"/>
          <p:nvPr/>
        </p:nvSpPr>
        <p:spPr>
          <a:xfrm>
            <a:off x="345658" y="1426118"/>
            <a:ext cx="7914422" cy="584775"/>
          </a:xfrm>
          <a:prstGeom prst="rect">
            <a:avLst/>
          </a:prstGeom>
          <a:noFill/>
        </p:spPr>
        <p:txBody>
          <a:bodyPr wrap="square">
            <a:spAutoFit/>
          </a:bodyPr>
          <a:lstStyle/>
          <a:p>
            <a:pPr>
              <a:buNone/>
            </a:pPr>
            <a:r>
              <a:rPr lang="en-US" sz="3200" b="1" dirty="0">
                <a:latin typeface="Nokia Pure Headline Light" panose="020B0304040602060303" pitchFamily="34" charset="0"/>
              </a:rPr>
              <a:t>Nokia shared these with competitors:</a:t>
            </a:r>
          </a:p>
        </p:txBody>
      </p:sp>
      <p:graphicFrame>
        <p:nvGraphicFramePr>
          <p:cNvPr id="25" name="TextBox 20">
            <a:extLst>
              <a:ext uri="{FF2B5EF4-FFF2-40B4-BE49-F238E27FC236}">
                <a16:creationId xmlns:a16="http://schemas.microsoft.com/office/drawing/2014/main" id="{581E8780-A837-F280-485D-65F86378E0AC}"/>
              </a:ext>
            </a:extLst>
          </p:cNvPr>
          <p:cNvGraphicFramePr/>
          <p:nvPr>
            <p:extLst>
              <p:ext uri="{D42A27DB-BD31-4B8C-83A1-F6EECF244321}">
                <p14:modId xmlns:p14="http://schemas.microsoft.com/office/powerpoint/2010/main" val="2012425075"/>
              </p:ext>
            </p:extLst>
          </p:nvPr>
        </p:nvGraphicFramePr>
        <p:xfrm>
          <a:off x="649802" y="2050726"/>
          <a:ext cx="10892395" cy="37991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blue and black logo&#10;&#10;AI-generated content may be incorrect.">
            <a:extLst>
              <a:ext uri="{FF2B5EF4-FFF2-40B4-BE49-F238E27FC236}">
                <a16:creationId xmlns:a16="http://schemas.microsoft.com/office/drawing/2014/main" id="{45E86CA6-E4AA-2B99-96DE-CF43D4EDE5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82794" y="257604"/>
            <a:ext cx="1880162" cy="318104"/>
          </a:xfrm>
          <a:prstGeom prst="rect">
            <a:avLst/>
          </a:prstGeom>
        </p:spPr>
      </p:pic>
    </p:spTree>
    <p:extLst>
      <p:ext uri="{BB962C8B-B14F-4D97-AF65-F5344CB8AC3E}">
        <p14:creationId xmlns:p14="http://schemas.microsoft.com/office/powerpoint/2010/main" val="160478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5724D-FD9B-4A4B-3C02-3B3DD4D18491}"/>
              </a:ext>
            </a:extLst>
          </p:cNvPr>
          <p:cNvSpPr>
            <a:spLocks noGrp="1"/>
          </p:cNvSpPr>
          <p:nvPr>
            <p:ph type="title"/>
          </p:nvPr>
        </p:nvSpPr>
        <p:spPr>
          <a:xfrm>
            <a:off x="242298" y="257604"/>
            <a:ext cx="6330319" cy="738969"/>
          </a:xfrm>
        </p:spPr>
        <p:txBody>
          <a:bodyPr anchor="t">
            <a:noAutofit/>
          </a:bodyPr>
          <a:lstStyle/>
          <a:p>
            <a:r>
              <a:rPr lang="en-US" sz="4800" b="1" dirty="0">
                <a:latin typeface="Nokia Pure Headline Extra Bold" panose="020B0904040602060303" pitchFamily="34" charset="0"/>
              </a:rPr>
              <a:t>Points of Parity (POP)</a:t>
            </a:r>
            <a:endParaRPr lang="en-US" sz="4800" dirty="0">
              <a:latin typeface="Nokia Pure Headline Extra Bold" panose="020B0904040602060303" pitchFamily="34" charset="0"/>
            </a:endParaRPr>
          </a:p>
        </p:txBody>
      </p:sp>
      <p:pic>
        <p:nvPicPr>
          <p:cNvPr id="5" name="Picture 4" descr="A colorful dots on a white background&#10;&#10;AI-generated content may be incorrect.">
            <a:extLst>
              <a:ext uri="{FF2B5EF4-FFF2-40B4-BE49-F238E27FC236}">
                <a16:creationId xmlns:a16="http://schemas.microsoft.com/office/drawing/2014/main" id="{DD650B88-A953-0051-FD3D-75ED32DA6E28}"/>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a:extLst>
              <a:ext uri="{FF2B5EF4-FFF2-40B4-BE49-F238E27FC236}">
                <a16:creationId xmlns:a16="http://schemas.microsoft.com/office/drawing/2014/main" id="{9A002C69-9BB1-89CB-EE35-9565A95BF3F8}"/>
              </a:ext>
            </a:extLst>
          </p:cNvPr>
          <p:cNvSpPr>
            <a:spLocks noGrp="1"/>
          </p:cNvSpPr>
          <p:nvPr>
            <p:ph idx="1"/>
          </p:nvPr>
        </p:nvSpPr>
        <p:spPr>
          <a:xfrm>
            <a:off x="6695767" y="2211702"/>
            <a:ext cx="5319227" cy="2434592"/>
          </a:xfrm>
        </p:spPr>
        <p:txBody>
          <a:bodyPr anchor="t">
            <a:noAutofit/>
          </a:bodyPr>
          <a:lstStyle/>
          <a:p>
            <a:pPr marL="0" indent="0">
              <a:buNone/>
            </a:pPr>
            <a:r>
              <a:rPr lang="en-US" sz="2400" b="1" dirty="0">
                <a:latin typeface="Nokia Pure Headline Light" panose="020B0304040602060303" pitchFamily="34" charset="0"/>
              </a:rPr>
              <a:t>For Nokia, key POPs in the mobile phone market included:</a:t>
            </a:r>
          </a:p>
          <a:p>
            <a:pPr marL="0" indent="0" algn="just">
              <a:buNone/>
            </a:pPr>
            <a:r>
              <a:rPr lang="en-US" sz="2000" dirty="0">
                <a:latin typeface="Nokia Pure Headline Light" panose="020B0304040602060303" pitchFamily="34" charset="0"/>
              </a:rPr>
              <a:t>• Basic mobile communication: calling and SMS</a:t>
            </a:r>
          </a:p>
          <a:p>
            <a:pPr marL="0" indent="0" algn="just">
              <a:buNone/>
            </a:pPr>
            <a:r>
              <a:rPr lang="en-US" sz="2000" dirty="0">
                <a:latin typeface="Nokia Pure Headline Light" panose="020B0304040602060303" pitchFamily="34" charset="0"/>
              </a:rPr>
              <a:t>• Standard handset formats: bar, flip, slider</a:t>
            </a:r>
          </a:p>
          <a:p>
            <a:pPr marL="0" indent="0" algn="just">
              <a:buNone/>
            </a:pPr>
            <a:r>
              <a:rPr lang="en-US" sz="2000" dirty="0">
                <a:latin typeface="Nokia Pure Headline Light" panose="020B0304040602060303" pitchFamily="34" charset="0"/>
              </a:rPr>
              <a:t>• Business and consumer phone options</a:t>
            </a:r>
          </a:p>
          <a:p>
            <a:pPr marL="0" indent="0" algn="just">
              <a:buNone/>
            </a:pPr>
            <a:r>
              <a:rPr lang="en-US" sz="2000" dirty="0">
                <a:latin typeface="Nokia Pure Headline Light" panose="020B0304040602060303" pitchFamily="34" charset="0"/>
              </a:rPr>
              <a:t>• Later category features such as camera, messaging, and internet access</a:t>
            </a:r>
          </a:p>
        </p:txBody>
      </p:sp>
      <p:sp>
        <p:nvSpPr>
          <p:cNvPr id="6" name="TextBox 5">
            <a:extLst>
              <a:ext uri="{FF2B5EF4-FFF2-40B4-BE49-F238E27FC236}">
                <a16:creationId xmlns:a16="http://schemas.microsoft.com/office/drawing/2014/main" id="{4A475A0F-5D80-4215-1CC6-8CB17D9117A7}"/>
              </a:ext>
            </a:extLst>
          </p:cNvPr>
          <p:cNvSpPr txBox="1"/>
          <p:nvPr/>
        </p:nvSpPr>
        <p:spPr>
          <a:xfrm>
            <a:off x="6578120" y="833312"/>
            <a:ext cx="5187960" cy="1015663"/>
          </a:xfrm>
          <a:prstGeom prst="rect">
            <a:avLst/>
          </a:prstGeom>
          <a:noFill/>
        </p:spPr>
        <p:txBody>
          <a:bodyPr wrap="square">
            <a:spAutoFit/>
          </a:bodyPr>
          <a:lstStyle/>
          <a:p>
            <a:pPr marL="0" indent="0" algn="just">
              <a:buNone/>
            </a:pPr>
            <a:r>
              <a:rPr lang="en-US" sz="2000" dirty="0">
                <a:latin typeface="Nokia Pure Headline Light" panose="020B0304040602060303" pitchFamily="34" charset="0"/>
              </a:rPr>
              <a:t>Points of parity are the basic features and category requirements that a brand must offer in order to compete. [1]</a:t>
            </a:r>
          </a:p>
        </p:txBody>
      </p:sp>
      <p:sp>
        <p:nvSpPr>
          <p:cNvPr id="8" name="TextBox 7">
            <a:extLst>
              <a:ext uri="{FF2B5EF4-FFF2-40B4-BE49-F238E27FC236}">
                <a16:creationId xmlns:a16="http://schemas.microsoft.com/office/drawing/2014/main" id="{47139C08-6EEE-1D80-346E-58C15E0567F8}"/>
              </a:ext>
            </a:extLst>
          </p:cNvPr>
          <p:cNvSpPr txBox="1"/>
          <p:nvPr/>
        </p:nvSpPr>
        <p:spPr>
          <a:xfrm>
            <a:off x="6794299" y="5463306"/>
            <a:ext cx="5046324" cy="1015663"/>
          </a:xfrm>
          <a:prstGeom prst="rect">
            <a:avLst/>
          </a:prstGeom>
          <a:noFill/>
        </p:spPr>
        <p:txBody>
          <a:bodyPr wrap="square">
            <a:spAutoFit/>
          </a:bodyPr>
          <a:lstStyle/>
          <a:p>
            <a:pPr marL="0" indent="0" algn="just">
              <a:buNone/>
            </a:pPr>
            <a:r>
              <a:rPr lang="en-US" sz="2000" b="1" dirty="0">
                <a:latin typeface="Nokia Pure Headline Light" panose="020B0304040602060303" pitchFamily="34" charset="0"/>
              </a:rPr>
              <a:t>These models show that Nokia met the essential requirements of the mobile phone category.</a:t>
            </a:r>
          </a:p>
        </p:txBody>
      </p:sp>
      <p:pic>
        <p:nvPicPr>
          <p:cNvPr id="9" name="Picture 8" descr="A close-up of a cell phone">
            <a:extLst>
              <a:ext uri="{FF2B5EF4-FFF2-40B4-BE49-F238E27FC236}">
                <a16:creationId xmlns:a16="http://schemas.microsoft.com/office/drawing/2014/main" id="{538DE255-3661-19EC-39DE-4B687E53B5B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20471990">
            <a:off x="168554" y="2751417"/>
            <a:ext cx="1797050" cy="3308523"/>
          </a:xfrm>
          <a:prstGeom prst="rect">
            <a:avLst/>
          </a:prstGeom>
        </p:spPr>
      </p:pic>
      <p:pic>
        <p:nvPicPr>
          <p:cNvPr id="13" name="Picture 12" descr="A close-up of a cell phone&#10;&#10;AI-generated content may be incorrect.">
            <a:extLst>
              <a:ext uri="{FF2B5EF4-FFF2-40B4-BE49-F238E27FC236}">
                <a16:creationId xmlns:a16="http://schemas.microsoft.com/office/drawing/2014/main" id="{6C002452-A6A5-3946-3E6C-04AC2D57B0D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344417" y="3105151"/>
            <a:ext cx="1265443" cy="2942312"/>
          </a:xfrm>
          <a:prstGeom prst="rect">
            <a:avLst/>
          </a:prstGeom>
        </p:spPr>
      </p:pic>
      <p:pic>
        <p:nvPicPr>
          <p:cNvPr id="21" name="Picture 20" descr="A close-up of a cell phone&#10;&#10;AI-generated content may be incorrect.">
            <a:extLst>
              <a:ext uri="{FF2B5EF4-FFF2-40B4-BE49-F238E27FC236}">
                <a16:creationId xmlns:a16="http://schemas.microsoft.com/office/drawing/2014/main" id="{F092D525-FE34-4293-1B71-9D48EDDCA96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064812" y="2959782"/>
            <a:ext cx="1614928" cy="3141883"/>
          </a:xfrm>
          <a:prstGeom prst="rect">
            <a:avLst/>
          </a:prstGeom>
        </p:spPr>
      </p:pic>
      <p:pic>
        <p:nvPicPr>
          <p:cNvPr id="35" name="Picture 34" descr="A close up of a cell phone&#10;&#10;AI-generated content may be incorrect.">
            <a:extLst>
              <a:ext uri="{FF2B5EF4-FFF2-40B4-BE49-F238E27FC236}">
                <a16:creationId xmlns:a16="http://schemas.microsoft.com/office/drawing/2014/main" id="{10DEE063-3D87-4376-54C3-0DDBB45FD24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379115" y="3083905"/>
            <a:ext cx="1348363" cy="3124777"/>
          </a:xfrm>
          <a:prstGeom prst="rect">
            <a:avLst/>
          </a:prstGeom>
        </p:spPr>
      </p:pic>
      <p:pic>
        <p:nvPicPr>
          <p:cNvPr id="37" name="Picture 36" descr="A close-up of a cell phone&#10;&#10;AI-generated content may be incorrect.">
            <a:extLst>
              <a:ext uri="{FF2B5EF4-FFF2-40B4-BE49-F238E27FC236}">
                <a16:creationId xmlns:a16="http://schemas.microsoft.com/office/drawing/2014/main" id="{557BB4BC-5EFC-B78A-5020-954A7A091EDE}"/>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310624" y="2609945"/>
            <a:ext cx="1262443" cy="3563347"/>
          </a:xfrm>
          <a:prstGeom prst="rect">
            <a:avLst/>
          </a:prstGeom>
        </p:spPr>
      </p:pic>
      <p:pic>
        <p:nvPicPr>
          <p:cNvPr id="39" name="Picture 38" descr="A close-up of a phone&#10;&#10;AI-generated content may be incorrect.">
            <a:extLst>
              <a:ext uri="{FF2B5EF4-FFF2-40B4-BE49-F238E27FC236}">
                <a16:creationId xmlns:a16="http://schemas.microsoft.com/office/drawing/2014/main" id="{59011108-1964-F1E9-524A-8498EFF98ECD}"/>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177005" y="2619535"/>
            <a:ext cx="1562334" cy="3591195"/>
          </a:xfrm>
          <a:prstGeom prst="rect">
            <a:avLst/>
          </a:prstGeom>
        </p:spPr>
      </p:pic>
      <p:pic>
        <p:nvPicPr>
          <p:cNvPr id="40" name="Picture 39" descr="A blue and black logo&#10;&#10;AI-generated content may be incorrect.">
            <a:extLst>
              <a:ext uri="{FF2B5EF4-FFF2-40B4-BE49-F238E27FC236}">
                <a16:creationId xmlns:a16="http://schemas.microsoft.com/office/drawing/2014/main" id="{C0DFC2FD-BEA2-901A-951C-F9350671BB24}"/>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982794" y="257604"/>
            <a:ext cx="1880162" cy="318104"/>
          </a:xfrm>
          <a:prstGeom prst="rect">
            <a:avLst/>
          </a:prstGeom>
        </p:spPr>
      </p:pic>
      <p:sp>
        <p:nvSpPr>
          <p:cNvPr id="42" name="TextBox 41">
            <a:extLst>
              <a:ext uri="{FF2B5EF4-FFF2-40B4-BE49-F238E27FC236}">
                <a16:creationId xmlns:a16="http://schemas.microsoft.com/office/drawing/2014/main" id="{C34099D2-CA53-F798-9487-F5A8FCFBA296}"/>
              </a:ext>
            </a:extLst>
          </p:cNvPr>
          <p:cNvSpPr txBox="1"/>
          <p:nvPr/>
        </p:nvSpPr>
        <p:spPr>
          <a:xfrm>
            <a:off x="425920" y="1341143"/>
            <a:ext cx="3761491" cy="369332"/>
          </a:xfrm>
          <a:prstGeom prst="rect">
            <a:avLst/>
          </a:prstGeom>
          <a:noFill/>
        </p:spPr>
        <p:txBody>
          <a:bodyPr wrap="square">
            <a:spAutoFit/>
          </a:bodyPr>
          <a:lstStyle/>
          <a:p>
            <a:pPr marL="0" indent="0" algn="just">
              <a:buNone/>
            </a:pPr>
            <a:r>
              <a:rPr lang="en-US" sz="1800" b="1" dirty="0">
                <a:latin typeface="Nokia Hindi S60" panose="020B0506030404030204" pitchFamily="34" charset="0"/>
                <a:cs typeface="Nokia Hindi S60" panose="020B0506030404030204" pitchFamily="34" charset="0"/>
              </a:rPr>
              <a:t>Examples from Nokia portfolio:</a:t>
            </a:r>
          </a:p>
        </p:txBody>
      </p:sp>
      <p:sp>
        <p:nvSpPr>
          <p:cNvPr id="44" name="TextBox 43">
            <a:extLst>
              <a:ext uri="{FF2B5EF4-FFF2-40B4-BE49-F238E27FC236}">
                <a16:creationId xmlns:a16="http://schemas.microsoft.com/office/drawing/2014/main" id="{38AFA138-C66C-5393-BC61-F687514BEF5D}"/>
              </a:ext>
            </a:extLst>
          </p:cNvPr>
          <p:cNvSpPr txBox="1"/>
          <p:nvPr/>
        </p:nvSpPr>
        <p:spPr>
          <a:xfrm>
            <a:off x="775635" y="2218927"/>
            <a:ext cx="4026877" cy="369332"/>
          </a:xfrm>
          <a:prstGeom prst="rect">
            <a:avLst/>
          </a:prstGeom>
          <a:noFill/>
        </p:spPr>
        <p:txBody>
          <a:bodyPr wrap="square">
            <a:spAutoFit/>
          </a:bodyPr>
          <a:lstStyle/>
          <a:p>
            <a:pPr marL="0" indent="0" algn="just">
              <a:buNone/>
            </a:pPr>
            <a:r>
              <a:rPr lang="en-US" sz="1800" dirty="0">
                <a:latin typeface="Nokia Hindi S60" panose="020B0506030404030204" pitchFamily="34" charset="0"/>
                <a:cs typeface="Nokia Hindi S60" panose="020B0506030404030204" pitchFamily="34" charset="0"/>
              </a:rPr>
              <a:t>• </a:t>
            </a:r>
            <a:r>
              <a:rPr lang="en-US" sz="1800" b="1" dirty="0">
                <a:latin typeface="Nokia Hindi S60" panose="020B0506030404030204" pitchFamily="34" charset="0"/>
                <a:cs typeface="Nokia Hindi S60" panose="020B0506030404030204" pitchFamily="34" charset="0"/>
              </a:rPr>
              <a:t>1xxx series</a:t>
            </a:r>
            <a:r>
              <a:rPr lang="en-US" sz="1800" dirty="0">
                <a:latin typeface="Nokia Hindi S60" panose="020B0506030404030204" pitchFamily="34" charset="0"/>
                <a:cs typeface="Nokia Hindi S60" panose="020B0506030404030204" pitchFamily="34" charset="0"/>
              </a:rPr>
              <a:t> – Nokia 1011, 1100, 1110</a:t>
            </a:r>
          </a:p>
        </p:txBody>
      </p:sp>
      <p:sp>
        <p:nvSpPr>
          <p:cNvPr id="46" name="TextBox 45">
            <a:extLst>
              <a:ext uri="{FF2B5EF4-FFF2-40B4-BE49-F238E27FC236}">
                <a16:creationId xmlns:a16="http://schemas.microsoft.com/office/drawing/2014/main" id="{7102FDB3-8731-D57C-844C-06C325FE51B2}"/>
              </a:ext>
            </a:extLst>
          </p:cNvPr>
          <p:cNvSpPr txBox="1"/>
          <p:nvPr/>
        </p:nvSpPr>
        <p:spPr>
          <a:xfrm>
            <a:off x="775635" y="2235822"/>
            <a:ext cx="4295125" cy="369332"/>
          </a:xfrm>
          <a:prstGeom prst="rect">
            <a:avLst/>
          </a:prstGeom>
          <a:noFill/>
        </p:spPr>
        <p:txBody>
          <a:bodyPr wrap="square">
            <a:spAutoFit/>
          </a:bodyPr>
          <a:lstStyle/>
          <a:p>
            <a:pPr marL="0" indent="0" algn="just">
              <a:buNone/>
            </a:pPr>
            <a:r>
              <a:rPr lang="en-US" sz="1800" dirty="0"/>
              <a:t>• </a:t>
            </a:r>
            <a:r>
              <a:rPr lang="en-US" dirty="0">
                <a:latin typeface="Nokia Hindi S60" panose="020B0506030404030204" pitchFamily="34" charset="0"/>
                <a:cs typeface="Nokia Hindi S60" panose="020B0506030404030204" pitchFamily="34" charset="0"/>
              </a:rPr>
              <a:t>2xxx series – Nokia 2010, 2110, 2600</a:t>
            </a:r>
          </a:p>
        </p:txBody>
      </p:sp>
      <p:sp>
        <p:nvSpPr>
          <p:cNvPr id="48" name="TextBox 47">
            <a:extLst>
              <a:ext uri="{FF2B5EF4-FFF2-40B4-BE49-F238E27FC236}">
                <a16:creationId xmlns:a16="http://schemas.microsoft.com/office/drawing/2014/main" id="{7E29FEB0-7A26-6456-DFF9-5BB1848A9A3F}"/>
              </a:ext>
            </a:extLst>
          </p:cNvPr>
          <p:cNvSpPr txBox="1"/>
          <p:nvPr/>
        </p:nvSpPr>
        <p:spPr>
          <a:xfrm>
            <a:off x="806246" y="2215490"/>
            <a:ext cx="4660490" cy="369332"/>
          </a:xfrm>
          <a:prstGeom prst="rect">
            <a:avLst/>
          </a:prstGeom>
          <a:noFill/>
        </p:spPr>
        <p:txBody>
          <a:bodyPr wrap="square">
            <a:spAutoFit/>
          </a:bodyPr>
          <a:lstStyle/>
          <a:p>
            <a:pPr marL="0" indent="0" algn="just">
              <a:buNone/>
            </a:pPr>
            <a:r>
              <a:rPr lang="en-US" sz="1800" dirty="0">
                <a:latin typeface="Nokia Hindi S60" panose="020B0506030404030204" pitchFamily="34" charset="0"/>
                <a:cs typeface="Nokia Hindi S60" panose="020B0506030404030204" pitchFamily="34" charset="0"/>
              </a:rPr>
              <a:t>• </a:t>
            </a:r>
            <a:r>
              <a:rPr lang="en-US" sz="1800" b="1" dirty="0">
                <a:latin typeface="Nokia Hindi S60" panose="020B0506030404030204" pitchFamily="34" charset="0"/>
                <a:cs typeface="Nokia Hindi S60" panose="020B0506030404030204" pitchFamily="34" charset="0"/>
              </a:rPr>
              <a:t>6xxx series</a:t>
            </a:r>
            <a:r>
              <a:rPr lang="en-US" sz="1800" dirty="0">
                <a:latin typeface="Nokia Hindi S60" panose="020B0506030404030204" pitchFamily="34" charset="0"/>
                <a:cs typeface="Nokia Hindi S60" panose="020B0506030404030204" pitchFamily="34" charset="0"/>
              </a:rPr>
              <a:t> – Nokia 6100, 6210, 6230</a:t>
            </a:r>
          </a:p>
        </p:txBody>
      </p:sp>
      <p:pic>
        <p:nvPicPr>
          <p:cNvPr id="25" name="Picture 24" descr="A close-up of a cell phone&#10;&#10;AI-generated content may be incorrect.">
            <a:extLst>
              <a:ext uri="{FF2B5EF4-FFF2-40B4-BE49-F238E27FC236}">
                <a16:creationId xmlns:a16="http://schemas.microsoft.com/office/drawing/2014/main" id="{591B5A40-5EAC-83C2-9871-6293BE7DA5AE}"/>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169681" y="3337011"/>
            <a:ext cx="1632929" cy="2794497"/>
          </a:xfrm>
          <a:prstGeom prst="rect">
            <a:avLst/>
          </a:prstGeom>
        </p:spPr>
      </p:pic>
      <p:pic>
        <p:nvPicPr>
          <p:cNvPr id="27" name="Picture 26" descr="A close-up of a cell phone&#10;&#10;AI-generated content may be incorrect.">
            <a:extLst>
              <a:ext uri="{FF2B5EF4-FFF2-40B4-BE49-F238E27FC236}">
                <a16:creationId xmlns:a16="http://schemas.microsoft.com/office/drawing/2014/main" id="{16267DAA-0B40-D9C1-3E18-C988F52A792B}"/>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056768" y="3265168"/>
            <a:ext cx="1054222" cy="2762249"/>
          </a:xfrm>
          <a:prstGeom prst="rect">
            <a:avLst/>
          </a:prstGeom>
        </p:spPr>
      </p:pic>
      <p:pic>
        <p:nvPicPr>
          <p:cNvPr id="33" name="Picture 32" descr="A close-up of a cell phone&#10;&#10;AI-generated content may be incorrect.">
            <a:extLst>
              <a:ext uri="{FF2B5EF4-FFF2-40B4-BE49-F238E27FC236}">
                <a16:creationId xmlns:a16="http://schemas.microsoft.com/office/drawing/2014/main" id="{B353F4E5-C20C-5E23-C152-6F18EB79348D}"/>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3438151" y="3014467"/>
            <a:ext cx="3174603" cy="3174603"/>
          </a:xfrm>
          <a:prstGeom prst="rect">
            <a:avLst/>
          </a:prstGeom>
        </p:spPr>
      </p:pic>
    </p:spTree>
    <p:extLst>
      <p:ext uri="{BB962C8B-B14F-4D97-AF65-F5344CB8AC3E}">
        <p14:creationId xmlns:p14="http://schemas.microsoft.com/office/powerpoint/2010/main" val="2252026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1000"/>
                                        <p:tgtEl>
                                          <p:spTgt spid="44"/>
                                        </p:tgtEl>
                                      </p:cBhvr>
                                    </p:animEffect>
                                    <p:anim calcmode="lin" valueType="num">
                                      <p:cBhvr>
                                        <p:cTn id="41" dur="1000" fill="hold"/>
                                        <p:tgtEl>
                                          <p:spTgt spid="44"/>
                                        </p:tgtEl>
                                        <p:attrNameLst>
                                          <p:attrName>ppt_x</p:attrName>
                                        </p:attrNameLst>
                                      </p:cBhvr>
                                      <p:tavLst>
                                        <p:tav tm="0">
                                          <p:val>
                                            <p:strVal val="#ppt_x"/>
                                          </p:val>
                                        </p:tav>
                                        <p:tav tm="100000">
                                          <p:val>
                                            <p:strVal val="#ppt_x"/>
                                          </p:val>
                                        </p:tav>
                                      </p:tavLst>
                                    </p:anim>
                                    <p:anim calcmode="lin" valueType="num">
                                      <p:cBhvr>
                                        <p:cTn id="4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 nodeType="clickEffect">
                                  <p:stCondLst>
                                    <p:cond delay="0"/>
                                  </p:stCondLst>
                                  <p:childTnLst>
                                    <p:set>
                                      <p:cBhvr>
                                        <p:cTn id="57" dur="1" fill="hold">
                                          <p:stCondLst>
                                            <p:cond delay="0"/>
                                          </p:stCondLst>
                                        </p:cTn>
                                        <p:tgtEl>
                                          <p:spTgt spid="44"/>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9"/>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13"/>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21"/>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5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500"/>
                                        <p:tgtEl>
                                          <p:spTgt spid="37"/>
                                        </p:tgtEl>
                                      </p:cBhvr>
                                    </p:animEffect>
                                  </p:childTnLst>
                                </p:cTn>
                              </p:par>
                              <p:par>
                                <p:cTn id="76" presetID="10" presetClass="entr" presetSubtype="0" fill="hold"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2" nodeType="clickEffect">
                                  <p:stCondLst>
                                    <p:cond delay="0"/>
                                  </p:stCondLst>
                                  <p:childTnLst>
                                    <p:set>
                                      <p:cBhvr>
                                        <p:cTn id="82" dur="1" fill="hold">
                                          <p:stCondLst>
                                            <p:cond delay="0"/>
                                          </p:stCondLst>
                                        </p:cTn>
                                        <p:tgtEl>
                                          <p:spTgt spid="46"/>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39"/>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37"/>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35"/>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98" presetID="10" presetClass="entr" presetSubtype="0" fill="hold"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par>
                                <p:cTn id="101" presetID="10" presetClass="entr" presetSubtype="0"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48"/>
                                        </p:tgtEl>
                                        <p:attrNameLst>
                                          <p:attrName>style.visibility</p:attrName>
                                        </p:attrNameLst>
                                      </p:cBhvr>
                                      <p:to>
                                        <p:strVal val="hidden"/>
                                      </p:to>
                                    </p:set>
                                  </p:childTnLst>
                                </p:cTn>
                              </p:par>
                              <p:par>
                                <p:cTn id="108" presetID="1" presetClass="exit" presetSubtype="0" fill="hold" nodeType="withEffect">
                                  <p:stCondLst>
                                    <p:cond delay="0"/>
                                  </p:stCondLst>
                                  <p:childTnLst>
                                    <p:set>
                                      <p:cBhvr>
                                        <p:cTn id="109" dur="1" fill="hold">
                                          <p:stCondLst>
                                            <p:cond delay="0"/>
                                          </p:stCondLst>
                                        </p:cTn>
                                        <p:tgtEl>
                                          <p:spTgt spid="25"/>
                                        </p:tgtEl>
                                        <p:attrNameLst>
                                          <p:attrName>style.visibility</p:attrName>
                                        </p:attrNameLst>
                                      </p:cBhvr>
                                      <p:to>
                                        <p:strVal val="hidden"/>
                                      </p:to>
                                    </p:set>
                                  </p:childTnLst>
                                </p:cTn>
                              </p:par>
                              <p:par>
                                <p:cTn id="110" presetID="1" presetClass="exit" presetSubtype="0" fill="hold" nodeType="withEffect">
                                  <p:stCondLst>
                                    <p:cond delay="0"/>
                                  </p:stCondLst>
                                  <p:childTnLst>
                                    <p:set>
                                      <p:cBhvr>
                                        <p:cTn id="111" dur="1" fill="hold">
                                          <p:stCondLst>
                                            <p:cond delay="0"/>
                                          </p:stCondLst>
                                        </p:cTn>
                                        <p:tgtEl>
                                          <p:spTgt spid="27"/>
                                        </p:tgtEl>
                                        <p:attrNameLst>
                                          <p:attrName>style.visibility</p:attrName>
                                        </p:attrNameLst>
                                      </p:cBhvr>
                                      <p:to>
                                        <p:strVal val="hidden"/>
                                      </p:to>
                                    </p:set>
                                  </p:childTnLst>
                                </p:cTn>
                              </p:par>
                              <p:par>
                                <p:cTn id="112" presetID="1" presetClass="exit" presetSubtype="0" fill="hold" nodeType="withEffect">
                                  <p:stCondLst>
                                    <p:cond delay="0"/>
                                  </p:stCondLst>
                                  <p:childTnLst>
                                    <p:set>
                                      <p:cBhvr>
                                        <p:cTn id="113" dur="1" fill="hold">
                                          <p:stCondLst>
                                            <p:cond delay="0"/>
                                          </p:stCondLst>
                                        </p:cTn>
                                        <p:tgtEl>
                                          <p:spTgt spid="33"/>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42"/>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1000"/>
                                        <p:tgtEl>
                                          <p:spTgt spid="8"/>
                                        </p:tgtEl>
                                      </p:cBhvr>
                                    </p:animEffect>
                                    <p:anim calcmode="lin" valueType="num">
                                      <p:cBhvr>
                                        <p:cTn id="121" dur="1000" fill="hold"/>
                                        <p:tgtEl>
                                          <p:spTgt spid="8"/>
                                        </p:tgtEl>
                                        <p:attrNameLst>
                                          <p:attrName>ppt_x</p:attrName>
                                        </p:attrNameLst>
                                      </p:cBhvr>
                                      <p:tavLst>
                                        <p:tav tm="0">
                                          <p:val>
                                            <p:strVal val="#ppt_x"/>
                                          </p:val>
                                        </p:tav>
                                        <p:tav tm="100000">
                                          <p:val>
                                            <p:strVal val="#ppt_x"/>
                                          </p:val>
                                        </p:tav>
                                      </p:tavLst>
                                    </p:anim>
                                    <p:anim calcmode="lin" valueType="num">
                                      <p:cBhvr>
                                        <p:cTn id="1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P spid="42" grpId="0"/>
      <p:bldP spid="42" grpId="1"/>
      <p:bldP spid="44" grpId="0"/>
      <p:bldP spid="44" grpId="1"/>
      <p:bldP spid="46" grpId="0"/>
      <p:bldP spid="46" grpId="2"/>
      <p:bldP spid="48" grpId="0"/>
      <p:bldP spid="48"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18AD3E53-815A-5B14-5ADE-93CEC7700132}"/>
              </a:ext>
            </a:extLst>
          </p:cNvPr>
          <p:cNvSpPr>
            <a:spLocks noGrp="1"/>
          </p:cNvSpPr>
          <p:nvPr>
            <p:ph type="title"/>
          </p:nvPr>
        </p:nvSpPr>
        <p:spPr>
          <a:xfrm>
            <a:off x="300092" y="243200"/>
            <a:ext cx="7032585" cy="875673"/>
          </a:xfrm>
        </p:spPr>
        <p:txBody>
          <a:bodyPr>
            <a:normAutofit/>
          </a:bodyPr>
          <a:lstStyle/>
          <a:p>
            <a:r>
              <a:rPr lang="en-US" b="1" dirty="0">
                <a:latin typeface="Nokia Pure Headline Extra Bold" panose="020B0904040602060303" pitchFamily="34" charset="0"/>
              </a:rPr>
              <a:t>Points of Difference (POD)</a:t>
            </a:r>
          </a:p>
        </p:txBody>
      </p:sp>
      <p:sp>
        <p:nvSpPr>
          <p:cNvPr id="3" name="Content Placeholder 2">
            <a:extLst>
              <a:ext uri="{FF2B5EF4-FFF2-40B4-BE49-F238E27FC236}">
                <a16:creationId xmlns:a16="http://schemas.microsoft.com/office/drawing/2014/main" id="{5187B1C8-9728-FDEC-08AE-ABAC6820E7E1}"/>
              </a:ext>
            </a:extLst>
          </p:cNvPr>
          <p:cNvSpPr>
            <a:spLocks noGrp="1"/>
          </p:cNvSpPr>
          <p:nvPr>
            <p:ph idx="1"/>
          </p:nvPr>
        </p:nvSpPr>
        <p:spPr>
          <a:xfrm>
            <a:off x="520010" y="1362073"/>
            <a:ext cx="6592747" cy="875673"/>
          </a:xfrm>
        </p:spPr>
        <p:txBody>
          <a:bodyPr>
            <a:normAutofit/>
          </a:bodyPr>
          <a:lstStyle/>
          <a:p>
            <a:pPr marL="0" indent="0">
              <a:buNone/>
            </a:pPr>
            <a:r>
              <a:rPr lang="en-US" sz="2600" dirty="0">
                <a:latin typeface="Nokia Pure Headline Light" panose="020B0304040602060303" pitchFamily="34" charset="0"/>
              </a:rPr>
              <a:t>Points of difference are unique and valued benefits. [1]</a:t>
            </a:r>
          </a:p>
        </p:txBody>
      </p:sp>
      <p:pic>
        <p:nvPicPr>
          <p:cNvPr id="4" name="Picture 3" descr="One big red thumbtack in front of many smaller black thumbtacks">
            <a:extLst>
              <a:ext uri="{FF2B5EF4-FFF2-40B4-BE49-F238E27FC236}">
                <a16:creationId xmlns:a16="http://schemas.microsoft.com/office/drawing/2014/main" id="{BB3A8203-176F-CF20-C12F-B310C7F12B6A}"/>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220C587-A9A7-50E1-E959-A3834EB44E9F}"/>
              </a:ext>
            </a:extLst>
          </p:cNvPr>
          <p:cNvSpPr txBox="1"/>
          <p:nvPr/>
        </p:nvSpPr>
        <p:spPr>
          <a:xfrm>
            <a:off x="619875" y="2375758"/>
            <a:ext cx="5854911" cy="2616101"/>
          </a:xfrm>
          <a:prstGeom prst="rect">
            <a:avLst/>
          </a:prstGeom>
          <a:noFill/>
        </p:spPr>
        <p:txBody>
          <a:bodyPr wrap="square">
            <a:spAutoFit/>
          </a:bodyPr>
          <a:lstStyle/>
          <a:p>
            <a:pPr marL="0" indent="0">
              <a:buNone/>
            </a:pPr>
            <a:r>
              <a:rPr lang="en-US" sz="2500" b="1" dirty="0">
                <a:latin typeface="Nokia Pure Headline Light" panose="020B0304040602060303" pitchFamily="34" charset="0"/>
              </a:rPr>
              <a:t>Nokia differentiation:</a:t>
            </a:r>
          </a:p>
          <a:p>
            <a:pPr marL="0" indent="0">
              <a:buNone/>
            </a:pPr>
            <a:endParaRPr lang="en-US" sz="1400" b="1" dirty="0">
              <a:latin typeface="Nokia Pure Headline Light" panose="020B0304040602060303" pitchFamily="34" charset="0"/>
            </a:endParaRPr>
          </a:p>
          <a:p>
            <a:pPr marL="342900" indent="-342900">
              <a:buFont typeface="Arial" panose="020B0604020202020204" pitchFamily="34" charset="0"/>
              <a:buChar char="•"/>
            </a:pPr>
            <a:r>
              <a:rPr lang="en-US" sz="2500" dirty="0">
                <a:latin typeface="Nokia Pure Headline Light" panose="020B0304040602060303" pitchFamily="34" charset="0"/>
              </a:rPr>
              <a:t>Strong brand consistency</a:t>
            </a:r>
          </a:p>
          <a:p>
            <a:r>
              <a:rPr lang="en-US" sz="2500" dirty="0">
                <a:latin typeface="Nokia Pure Headline Light" panose="020B0304040602060303" pitchFamily="34" charset="0"/>
              </a:rPr>
              <a:t>                        (“Connecting People”)</a:t>
            </a:r>
          </a:p>
          <a:p>
            <a:pPr marL="342900" indent="-342900">
              <a:buFont typeface="Arial" panose="020B0604020202020204" pitchFamily="34" charset="0"/>
              <a:buChar char="•"/>
            </a:pPr>
            <a:r>
              <a:rPr lang="en-US" sz="2500" dirty="0">
                <a:latin typeface="Nokia Pure Headline Light" panose="020B0304040602060303" pitchFamily="34" charset="0"/>
              </a:rPr>
              <a:t>User-friendly interface and design</a:t>
            </a:r>
          </a:p>
          <a:p>
            <a:pPr marL="342900" indent="-342900">
              <a:buFont typeface="Arial" panose="020B0604020202020204" pitchFamily="34" charset="0"/>
              <a:buChar char="•"/>
            </a:pPr>
            <a:r>
              <a:rPr lang="en-US" sz="2500" dirty="0">
                <a:latin typeface="Nokia Pure Headline Light" panose="020B0304040602060303" pitchFamily="34" charset="0"/>
              </a:rPr>
              <a:t>Reliable and durable devices</a:t>
            </a:r>
          </a:p>
          <a:p>
            <a:pPr marL="342900" indent="-342900">
              <a:buFont typeface="Arial" panose="020B0604020202020204" pitchFamily="34" charset="0"/>
              <a:buChar char="•"/>
            </a:pPr>
            <a:r>
              <a:rPr lang="en-US" sz="2500" dirty="0">
                <a:latin typeface="Nokia Pure Headline Light" panose="020B0304040602060303" pitchFamily="34" charset="0"/>
              </a:rPr>
              <a:t>Global accessibility across markets</a:t>
            </a:r>
          </a:p>
        </p:txBody>
      </p:sp>
      <p:sp>
        <p:nvSpPr>
          <p:cNvPr id="8" name="TextBox 7">
            <a:extLst>
              <a:ext uri="{FF2B5EF4-FFF2-40B4-BE49-F238E27FC236}">
                <a16:creationId xmlns:a16="http://schemas.microsoft.com/office/drawing/2014/main" id="{D44AB4EA-802C-177C-66E4-C3221C9A4114}"/>
              </a:ext>
            </a:extLst>
          </p:cNvPr>
          <p:cNvSpPr txBox="1"/>
          <p:nvPr/>
        </p:nvSpPr>
        <p:spPr>
          <a:xfrm>
            <a:off x="520010" y="5251665"/>
            <a:ext cx="6094070" cy="477054"/>
          </a:xfrm>
          <a:prstGeom prst="rect">
            <a:avLst/>
          </a:prstGeom>
          <a:noFill/>
        </p:spPr>
        <p:txBody>
          <a:bodyPr wrap="square">
            <a:spAutoFit/>
          </a:bodyPr>
          <a:lstStyle/>
          <a:p>
            <a:pPr marL="0" indent="0">
              <a:buNone/>
            </a:pPr>
            <a:r>
              <a:rPr lang="en-US" sz="2500" b="1" dirty="0">
                <a:latin typeface="Nokia Pure Headline Light" panose="020B0304040602060303" pitchFamily="34" charset="0"/>
              </a:rPr>
              <a:t>These created a distinctive brand position.</a:t>
            </a:r>
          </a:p>
        </p:txBody>
      </p:sp>
      <p:sp>
        <p:nvSpPr>
          <p:cNvPr id="21" name="TextBox 20">
            <a:extLst>
              <a:ext uri="{FF2B5EF4-FFF2-40B4-BE49-F238E27FC236}">
                <a16:creationId xmlns:a16="http://schemas.microsoft.com/office/drawing/2014/main" id="{9B4B4E51-5C88-6DD4-B1E4-FE06FF1AFCE0}"/>
              </a:ext>
            </a:extLst>
          </p:cNvPr>
          <p:cNvSpPr txBox="1"/>
          <p:nvPr/>
        </p:nvSpPr>
        <p:spPr>
          <a:xfrm>
            <a:off x="2939005" y="6018764"/>
            <a:ext cx="6313990" cy="523220"/>
          </a:xfrm>
          <a:prstGeom prst="rect">
            <a:avLst/>
          </a:prstGeom>
          <a:noFill/>
        </p:spPr>
        <p:txBody>
          <a:bodyPr wrap="square">
            <a:spAutoFit/>
          </a:bodyPr>
          <a:lstStyle/>
          <a:p>
            <a:pPr rtl="0">
              <a:buNone/>
            </a:pPr>
            <a:r>
              <a:rPr lang="en-US" sz="2800" dirty="0">
                <a:latin typeface="Nokia Pure Headline Extra Bold" panose="020B0904040602060303" pitchFamily="34" charset="0"/>
              </a:rPr>
              <a:t>Nokia = Simple + Reliable + Human</a:t>
            </a:r>
          </a:p>
        </p:txBody>
      </p:sp>
      <p:pic>
        <p:nvPicPr>
          <p:cNvPr id="22" name="Picture 21" descr="A blue and black logo&#10;&#10;AI-generated content may be incorrect.">
            <a:extLst>
              <a:ext uri="{FF2B5EF4-FFF2-40B4-BE49-F238E27FC236}">
                <a16:creationId xmlns:a16="http://schemas.microsoft.com/office/drawing/2014/main" id="{B6444F79-4D0B-78B3-A67E-EBBBADF31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2794" y="257604"/>
            <a:ext cx="1880162" cy="318104"/>
          </a:xfrm>
          <a:prstGeom prst="rect">
            <a:avLst/>
          </a:prstGeom>
        </p:spPr>
      </p:pic>
    </p:spTree>
    <p:extLst>
      <p:ext uri="{BB962C8B-B14F-4D97-AF65-F5344CB8AC3E}">
        <p14:creationId xmlns:p14="http://schemas.microsoft.com/office/powerpoint/2010/main" val="823016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434376-2C20-58B4-A064-A86A99AD821D}"/>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D620520-8C9A-EBFA-50BD-D746825F2B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105D002-0C1F-B711-928E-67A7594CC2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6A29A4-3397-CC26-AF3A-EBF4F9C60512}"/>
              </a:ext>
            </a:extLst>
          </p:cNvPr>
          <p:cNvSpPr>
            <a:spLocks noGrp="1"/>
          </p:cNvSpPr>
          <p:nvPr>
            <p:ph type="title"/>
          </p:nvPr>
        </p:nvSpPr>
        <p:spPr>
          <a:xfrm>
            <a:off x="242298" y="257604"/>
            <a:ext cx="7512740" cy="610497"/>
          </a:xfrm>
        </p:spPr>
        <p:txBody>
          <a:bodyPr anchor="t">
            <a:normAutofit fontScale="90000"/>
          </a:bodyPr>
          <a:lstStyle/>
          <a:p>
            <a:r>
              <a:rPr lang="en-US" sz="4900" b="1" dirty="0">
                <a:latin typeface="Nokia Pure Headline Extra Bold" panose="020B0904040602060303" pitchFamily="34" charset="0"/>
              </a:rPr>
              <a:t>Points of Difference (POD)</a:t>
            </a:r>
            <a:br>
              <a:rPr lang="en-US" sz="4000" dirty="0">
                <a:latin typeface="Nokia Pure Headline Extra Bold" panose="020B0904040602060303" pitchFamily="34" charset="0"/>
              </a:rPr>
            </a:br>
            <a:endParaRPr lang="en-US" sz="4000" dirty="0">
              <a:latin typeface="Nokia Pure Headline Extra Bold" panose="020B0904040602060303" pitchFamily="34" charset="0"/>
            </a:endParaRPr>
          </a:p>
        </p:txBody>
      </p:sp>
      <p:pic>
        <p:nvPicPr>
          <p:cNvPr id="5" name="Picture 4">
            <a:extLst>
              <a:ext uri="{FF2B5EF4-FFF2-40B4-BE49-F238E27FC236}">
                <a16:creationId xmlns:a16="http://schemas.microsoft.com/office/drawing/2014/main" id="{A81B378E-7836-FE63-D8A5-7AB7CF8ED98B}"/>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4325177"/>
            <a:ext cx="4352081" cy="2532821"/>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pic>
        <p:nvPicPr>
          <p:cNvPr id="40" name="Picture 39" descr="A blue and black logo&#10;&#10;AI-generated content may be incorrect.">
            <a:extLst>
              <a:ext uri="{FF2B5EF4-FFF2-40B4-BE49-F238E27FC236}">
                <a16:creationId xmlns:a16="http://schemas.microsoft.com/office/drawing/2014/main" id="{6B4AD4A4-71E9-1E63-D91C-96B1DC5501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82794" y="257604"/>
            <a:ext cx="1880162" cy="318104"/>
          </a:xfrm>
          <a:prstGeom prst="rect">
            <a:avLst/>
          </a:prstGeom>
        </p:spPr>
      </p:pic>
      <p:sp>
        <p:nvSpPr>
          <p:cNvPr id="16" name="TextBox 15">
            <a:extLst>
              <a:ext uri="{FF2B5EF4-FFF2-40B4-BE49-F238E27FC236}">
                <a16:creationId xmlns:a16="http://schemas.microsoft.com/office/drawing/2014/main" id="{46029663-F8E8-7480-A8E2-38910F8E2F5A}"/>
              </a:ext>
            </a:extLst>
          </p:cNvPr>
          <p:cNvSpPr txBox="1"/>
          <p:nvPr/>
        </p:nvSpPr>
        <p:spPr>
          <a:xfrm>
            <a:off x="469880" y="1150564"/>
            <a:ext cx="10272533" cy="400110"/>
          </a:xfrm>
          <a:prstGeom prst="rect">
            <a:avLst/>
          </a:prstGeom>
          <a:noFill/>
        </p:spPr>
        <p:txBody>
          <a:bodyPr wrap="square">
            <a:spAutoFit/>
          </a:bodyPr>
          <a:lstStyle/>
          <a:p>
            <a:pPr>
              <a:buNone/>
            </a:pPr>
            <a:r>
              <a:rPr lang="en-US" sz="2000" dirty="0">
                <a:latin typeface="Nokia Hindi S60" panose="020B0506030404030204" pitchFamily="34" charset="0"/>
                <a:cs typeface="Nokia Hindi S60" panose="020B0506030404030204" pitchFamily="34" charset="0"/>
              </a:rPr>
              <a:t>Nokia’s main POD was its ability to position different phone families for different user needs:</a:t>
            </a:r>
          </a:p>
        </p:txBody>
      </p:sp>
      <p:sp>
        <p:nvSpPr>
          <p:cNvPr id="18" name="TextBox 17">
            <a:extLst>
              <a:ext uri="{FF2B5EF4-FFF2-40B4-BE49-F238E27FC236}">
                <a16:creationId xmlns:a16="http://schemas.microsoft.com/office/drawing/2014/main" id="{34EF37CE-343F-C6E0-A8AC-AFF46DFCEDB1}"/>
              </a:ext>
            </a:extLst>
          </p:cNvPr>
          <p:cNvSpPr txBox="1"/>
          <p:nvPr/>
        </p:nvSpPr>
        <p:spPr>
          <a:xfrm>
            <a:off x="1662627" y="1716833"/>
            <a:ext cx="8855739" cy="400110"/>
          </a:xfrm>
          <a:prstGeom prst="rect">
            <a:avLst/>
          </a:prstGeom>
          <a:noFill/>
        </p:spPr>
        <p:txBody>
          <a:bodyPr wrap="square">
            <a:spAutoFit/>
          </a:bodyPr>
          <a:lstStyle/>
          <a:p>
            <a:r>
              <a:rPr lang="en-US" sz="2000" b="1" dirty="0">
                <a:latin typeface="Nokia Hindi S60" panose="020B0506030404030204" pitchFamily="34" charset="0"/>
                <a:cs typeface="Nokia Hindi S60" panose="020B0506030404030204" pitchFamily="34" charset="0"/>
              </a:rPr>
              <a:t>Youth and expressive design</a:t>
            </a:r>
            <a:r>
              <a:rPr lang="en-US" sz="2000" dirty="0">
                <a:latin typeface="Nokia Hindi S60" panose="020B0506030404030204" pitchFamily="34" charset="0"/>
                <a:cs typeface="Nokia Hindi S60" panose="020B0506030404030204" pitchFamily="34" charset="0"/>
              </a:rPr>
              <a:t> – </a:t>
            </a:r>
            <a:r>
              <a:rPr lang="en-US" sz="2000" b="1" dirty="0">
                <a:latin typeface="Nokia Hindi S60" panose="020B0506030404030204" pitchFamily="34" charset="0"/>
                <a:cs typeface="Nokia Hindi S60" panose="020B0506030404030204" pitchFamily="34" charset="0"/>
              </a:rPr>
              <a:t>3xxx series       </a:t>
            </a:r>
            <a:r>
              <a:rPr lang="en-US" sz="2000" dirty="0">
                <a:latin typeface="Nokia Hindi S60" panose="020B0506030404030204" pitchFamily="34" charset="0"/>
                <a:cs typeface="Nokia Hindi S60" panose="020B0506030404030204" pitchFamily="34" charset="0"/>
              </a:rPr>
              <a:t>Examples: Nokia 3210, 3310</a:t>
            </a:r>
          </a:p>
        </p:txBody>
      </p:sp>
      <p:pic>
        <p:nvPicPr>
          <p:cNvPr id="20" name="Picture 19">
            <a:extLst>
              <a:ext uri="{FF2B5EF4-FFF2-40B4-BE49-F238E27FC236}">
                <a16:creationId xmlns:a16="http://schemas.microsoft.com/office/drawing/2014/main" id="{10FDD991-3B73-EA30-E529-75D3399268A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254152" y="2212730"/>
            <a:ext cx="1459268" cy="3331662"/>
          </a:xfrm>
          <a:prstGeom prst="rect">
            <a:avLst/>
          </a:prstGeom>
        </p:spPr>
      </p:pic>
      <p:pic>
        <p:nvPicPr>
          <p:cNvPr id="23" name="Picture 22">
            <a:extLst>
              <a:ext uri="{FF2B5EF4-FFF2-40B4-BE49-F238E27FC236}">
                <a16:creationId xmlns:a16="http://schemas.microsoft.com/office/drawing/2014/main" id="{0A329FFF-4B39-D614-9188-F9887F6D48B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90407" y="2328796"/>
            <a:ext cx="1308602" cy="3217245"/>
          </a:xfrm>
          <a:prstGeom prst="rect">
            <a:avLst/>
          </a:prstGeom>
        </p:spPr>
      </p:pic>
      <p:pic>
        <p:nvPicPr>
          <p:cNvPr id="26" name="Picture 25">
            <a:extLst>
              <a:ext uri="{FF2B5EF4-FFF2-40B4-BE49-F238E27FC236}">
                <a16:creationId xmlns:a16="http://schemas.microsoft.com/office/drawing/2014/main" id="{9654C526-2AA9-421B-35C4-32F8FC98167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459454" y="2212731"/>
            <a:ext cx="1459268" cy="3327130"/>
          </a:xfrm>
          <a:prstGeom prst="rect">
            <a:avLst/>
          </a:prstGeom>
        </p:spPr>
      </p:pic>
      <p:pic>
        <p:nvPicPr>
          <p:cNvPr id="31" name="Picture 30">
            <a:extLst>
              <a:ext uri="{FF2B5EF4-FFF2-40B4-BE49-F238E27FC236}">
                <a16:creationId xmlns:a16="http://schemas.microsoft.com/office/drawing/2014/main" id="{DDCDA118-1C89-9A96-59B5-E0EB8EAA1F16}"/>
              </a:ext>
            </a:extLst>
          </p:cNvPr>
          <p:cNvPicPr>
            <a:picLocks noChangeAspect="1"/>
          </p:cNvPicPr>
          <p:nvPr/>
        </p:nvPicPr>
        <p:blipFill>
          <a:blip r:embed="rId7" cstate="screen">
            <a:extLst>
              <a:ext uri="{28A0092B-C50C-407E-A947-70E740481C1C}">
                <a14:useLocalDpi xmlns:a14="http://schemas.microsoft.com/office/drawing/2010/main"/>
              </a:ext>
            </a:extLst>
          </a:blip>
          <a:srcRect l="17365" r="15422"/>
          <a:stretch>
            <a:fillRect/>
          </a:stretch>
        </p:blipFill>
        <p:spPr>
          <a:xfrm>
            <a:off x="4295712" y="2212731"/>
            <a:ext cx="1439185" cy="3327129"/>
          </a:xfrm>
          <a:prstGeom prst="rect">
            <a:avLst/>
          </a:prstGeom>
        </p:spPr>
      </p:pic>
      <p:sp>
        <p:nvSpPr>
          <p:cNvPr id="34" name="TextBox 33">
            <a:extLst>
              <a:ext uri="{FF2B5EF4-FFF2-40B4-BE49-F238E27FC236}">
                <a16:creationId xmlns:a16="http://schemas.microsoft.com/office/drawing/2014/main" id="{85F90412-A666-263B-2F3D-C645233703DB}"/>
              </a:ext>
            </a:extLst>
          </p:cNvPr>
          <p:cNvSpPr txBox="1"/>
          <p:nvPr/>
        </p:nvSpPr>
        <p:spPr>
          <a:xfrm>
            <a:off x="749283" y="1716833"/>
            <a:ext cx="10185167" cy="707886"/>
          </a:xfrm>
          <a:prstGeom prst="rect">
            <a:avLst/>
          </a:prstGeom>
          <a:noFill/>
        </p:spPr>
        <p:txBody>
          <a:bodyPr wrap="square">
            <a:spAutoFit/>
          </a:bodyPr>
          <a:lstStyle/>
          <a:p>
            <a:pPr algn="ctr"/>
            <a:r>
              <a:rPr lang="en-US" sz="2000" b="1" dirty="0">
                <a:latin typeface="Nokia Hindi S60" panose="020B0506030404030204" pitchFamily="34" charset="0"/>
                <a:cs typeface="Nokia Hindi S60" panose="020B0506030404030204" pitchFamily="34" charset="0"/>
              </a:rPr>
              <a:t>Business and professional communication – 9xxx Communicator / </a:t>
            </a:r>
            <a:r>
              <a:rPr lang="en-US" sz="2000" b="1" dirty="0" err="1">
                <a:latin typeface="Nokia Hindi S60" panose="020B0506030404030204" pitchFamily="34" charset="0"/>
                <a:cs typeface="Nokia Hindi S60" panose="020B0506030404030204" pitchFamily="34" charset="0"/>
              </a:rPr>
              <a:t>Eseries</a:t>
            </a:r>
            <a:br>
              <a:rPr lang="en-US" sz="2000" b="1" dirty="0">
                <a:latin typeface="Nokia Hindi S60" panose="020B0506030404030204" pitchFamily="34" charset="0"/>
                <a:cs typeface="Nokia Hindi S60" panose="020B0506030404030204" pitchFamily="34" charset="0"/>
              </a:rPr>
            </a:br>
            <a:r>
              <a:rPr lang="en-US" sz="2000" b="1" dirty="0">
                <a:latin typeface="Nokia Hindi S60" panose="020B0506030404030204" pitchFamily="34" charset="0"/>
                <a:cs typeface="Nokia Hindi S60" panose="020B0506030404030204" pitchFamily="34" charset="0"/>
              </a:rPr>
              <a:t>Examples: Nokia 9000 Communicator, 9210 Communicator, E71</a:t>
            </a:r>
          </a:p>
        </p:txBody>
      </p:sp>
      <p:pic>
        <p:nvPicPr>
          <p:cNvPr id="38" name="Picture 37">
            <a:extLst>
              <a:ext uri="{FF2B5EF4-FFF2-40B4-BE49-F238E27FC236}">
                <a16:creationId xmlns:a16="http://schemas.microsoft.com/office/drawing/2014/main" id="{69B0812C-CF14-D744-F498-4B9FE78397BA}"/>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15031" y="2537895"/>
            <a:ext cx="3283637" cy="2605494"/>
          </a:xfrm>
          <a:prstGeom prst="rect">
            <a:avLst/>
          </a:prstGeom>
        </p:spPr>
      </p:pic>
      <p:pic>
        <p:nvPicPr>
          <p:cNvPr id="43" name="Picture 42">
            <a:extLst>
              <a:ext uri="{FF2B5EF4-FFF2-40B4-BE49-F238E27FC236}">
                <a16:creationId xmlns:a16="http://schemas.microsoft.com/office/drawing/2014/main" id="{66679D6A-3969-B3EE-57D2-4FE2CBAEC3A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310705" y="2492788"/>
            <a:ext cx="3096398" cy="2978171"/>
          </a:xfrm>
          <a:prstGeom prst="rect">
            <a:avLst/>
          </a:prstGeom>
        </p:spPr>
      </p:pic>
      <p:pic>
        <p:nvPicPr>
          <p:cNvPr id="47" name="Picture 46">
            <a:extLst>
              <a:ext uri="{FF2B5EF4-FFF2-40B4-BE49-F238E27FC236}">
                <a16:creationId xmlns:a16="http://schemas.microsoft.com/office/drawing/2014/main" id="{C46E7247-5A96-5BCD-0CC1-327E95543DCC}"/>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479960" y="3223752"/>
            <a:ext cx="3289268" cy="1961672"/>
          </a:xfrm>
          <a:prstGeom prst="rect">
            <a:avLst/>
          </a:prstGeom>
        </p:spPr>
      </p:pic>
      <p:sp>
        <p:nvSpPr>
          <p:cNvPr id="50" name="TextBox 49">
            <a:extLst>
              <a:ext uri="{FF2B5EF4-FFF2-40B4-BE49-F238E27FC236}">
                <a16:creationId xmlns:a16="http://schemas.microsoft.com/office/drawing/2014/main" id="{80F237CC-58E1-EE38-A77E-AB5441A4F635}"/>
              </a:ext>
            </a:extLst>
          </p:cNvPr>
          <p:cNvSpPr txBox="1"/>
          <p:nvPr/>
        </p:nvSpPr>
        <p:spPr>
          <a:xfrm>
            <a:off x="1257550" y="1753550"/>
            <a:ext cx="9825812" cy="400110"/>
          </a:xfrm>
          <a:prstGeom prst="rect">
            <a:avLst/>
          </a:prstGeom>
          <a:noFill/>
        </p:spPr>
        <p:txBody>
          <a:bodyPr wrap="square">
            <a:spAutoFit/>
          </a:bodyPr>
          <a:lstStyle/>
          <a:p>
            <a:pPr algn="ctr"/>
            <a:r>
              <a:rPr lang="en-US" sz="2000" b="1" dirty="0">
                <a:latin typeface="Nokia Hindi S60" panose="020B0506030404030204" pitchFamily="34" charset="0"/>
                <a:cs typeface="Nokia Hindi S60" panose="020B0506030404030204" pitchFamily="34" charset="0"/>
              </a:rPr>
              <a:t>Premium design and exclusivity – 8xxx series       Examples: Nokia 8110, 8210, 8800</a:t>
            </a:r>
          </a:p>
        </p:txBody>
      </p:sp>
      <p:pic>
        <p:nvPicPr>
          <p:cNvPr id="51" name="Picture 50" descr="A yellow cell phone with a screen&#10;&#10;AI-generated content may be incorrect.">
            <a:extLst>
              <a:ext uri="{FF2B5EF4-FFF2-40B4-BE49-F238E27FC236}">
                <a16:creationId xmlns:a16="http://schemas.microsoft.com/office/drawing/2014/main" id="{C1782040-758D-72DE-B58C-AC5A0E233888}"/>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53755" y="2849586"/>
            <a:ext cx="1981843" cy="2598571"/>
          </a:xfrm>
          <a:prstGeom prst="rect">
            <a:avLst/>
          </a:prstGeom>
        </p:spPr>
      </p:pic>
      <p:pic>
        <p:nvPicPr>
          <p:cNvPr id="52" name="Picture 51">
            <a:extLst>
              <a:ext uri="{FF2B5EF4-FFF2-40B4-BE49-F238E27FC236}">
                <a16:creationId xmlns:a16="http://schemas.microsoft.com/office/drawing/2014/main" id="{5D6ADC8D-1909-E3AE-86D8-159F9AA00735}"/>
              </a:ext>
            </a:extLst>
          </p:cNvPr>
          <p:cNvPicPr>
            <a:picLocks noChangeAspect="1"/>
          </p:cNvPicPr>
          <p:nvPr/>
        </p:nvPicPr>
        <p:blipFill>
          <a:blip r:embed="rId12">
            <a:extLst>
              <a:ext uri="{28A0092B-C50C-407E-A947-70E740481C1C}">
                <a14:useLocalDpi xmlns:a14="http://schemas.microsoft.com/office/drawing/2010/main"/>
              </a:ext>
            </a:extLst>
          </a:blip>
          <a:srcRect/>
          <a:stretch/>
        </p:blipFill>
        <p:spPr>
          <a:xfrm rot="19243947">
            <a:off x="1995949" y="2884699"/>
            <a:ext cx="3040737" cy="2571595"/>
          </a:xfrm>
          <a:prstGeom prst="rect">
            <a:avLst/>
          </a:prstGeom>
        </p:spPr>
      </p:pic>
      <p:pic>
        <p:nvPicPr>
          <p:cNvPr id="54" name="Picture 53" descr="A close-up of a red cell phone&#10;&#10;AI-generated content may be incorrect.">
            <a:extLst>
              <a:ext uri="{FF2B5EF4-FFF2-40B4-BE49-F238E27FC236}">
                <a16:creationId xmlns:a16="http://schemas.microsoft.com/office/drawing/2014/main" id="{D12ADEB4-9327-FEB9-6259-FB1D71FA6177}"/>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4732547" y="2682373"/>
            <a:ext cx="1266791" cy="2805279"/>
          </a:xfrm>
          <a:prstGeom prst="rect">
            <a:avLst/>
          </a:prstGeom>
        </p:spPr>
      </p:pic>
      <p:pic>
        <p:nvPicPr>
          <p:cNvPr id="56" name="Picture 55" descr="A close up of a cell phone&#10;&#10;AI-generated content may be incorrect.">
            <a:extLst>
              <a:ext uri="{FF2B5EF4-FFF2-40B4-BE49-F238E27FC236}">
                <a16:creationId xmlns:a16="http://schemas.microsoft.com/office/drawing/2014/main" id="{323D5044-DE89-5FD7-6251-592D1B3AD120}"/>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a:xfrm>
            <a:off x="6143922" y="2682373"/>
            <a:ext cx="1956913" cy="2775352"/>
          </a:xfrm>
          <a:prstGeom prst="rect">
            <a:avLst/>
          </a:prstGeom>
        </p:spPr>
      </p:pic>
      <p:pic>
        <p:nvPicPr>
          <p:cNvPr id="60" name="Picture 59" descr="A group of cell phones&#10;&#10;AI-generated content may be incorrect.">
            <a:extLst>
              <a:ext uri="{FF2B5EF4-FFF2-40B4-BE49-F238E27FC236}">
                <a16:creationId xmlns:a16="http://schemas.microsoft.com/office/drawing/2014/main" id="{79A1B628-1703-C88A-A4A5-D215FBBA48DA}"/>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8660536" y="2349958"/>
            <a:ext cx="3001385" cy="3074485"/>
          </a:xfrm>
          <a:prstGeom prst="rect">
            <a:avLst/>
          </a:prstGeom>
        </p:spPr>
      </p:pic>
      <p:sp>
        <p:nvSpPr>
          <p:cNvPr id="64" name="TextBox 63">
            <a:extLst>
              <a:ext uri="{FF2B5EF4-FFF2-40B4-BE49-F238E27FC236}">
                <a16:creationId xmlns:a16="http://schemas.microsoft.com/office/drawing/2014/main" id="{D8117338-673E-7554-A307-9E9DFB0EB5D8}"/>
              </a:ext>
            </a:extLst>
          </p:cNvPr>
          <p:cNvSpPr txBox="1"/>
          <p:nvPr/>
        </p:nvSpPr>
        <p:spPr>
          <a:xfrm>
            <a:off x="469880" y="1783349"/>
            <a:ext cx="11168976" cy="400110"/>
          </a:xfrm>
          <a:prstGeom prst="rect">
            <a:avLst/>
          </a:prstGeom>
          <a:noFill/>
        </p:spPr>
        <p:txBody>
          <a:bodyPr wrap="square">
            <a:spAutoFit/>
          </a:bodyPr>
          <a:lstStyle/>
          <a:p>
            <a:pPr algn="ctr"/>
            <a:r>
              <a:rPr lang="en-US" sz="2000" b="1" dirty="0">
                <a:latin typeface="Nokia Hindi S60" panose="020B0506030404030204" pitchFamily="34" charset="0"/>
                <a:cs typeface="Nokia Hindi S60" panose="020B0506030404030204" pitchFamily="34" charset="0"/>
              </a:rPr>
              <a:t>Multimedia and advanced smartphone experience – </a:t>
            </a:r>
            <a:r>
              <a:rPr lang="en-US" sz="2000" b="1" dirty="0" err="1">
                <a:latin typeface="Nokia Hindi S60" panose="020B0506030404030204" pitchFamily="34" charset="0"/>
                <a:cs typeface="Nokia Hindi S60" panose="020B0506030404030204" pitchFamily="34" charset="0"/>
              </a:rPr>
              <a:t>Nseries</a:t>
            </a:r>
            <a:r>
              <a:rPr lang="en-US" sz="2000" b="1" dirty="0">
                <a:latin typeface="Nokia Hindi S60" panose="020B0506030404030204" pitchFamily="34" charset="0"/>
                <a:cs typeface="Nokia Hindi S60" panose="020B0506030404030204" pitchFamily="34" charset="0"/>
              </a:rPr>
              <a:t>     Examples: Nokia N73, N95, N8</a:t>
            </a:r>
          </a:p>
        </p:txBody>
      </p:sp>
      <p:pic>
        <p:nvPicPr>
          <p:cNvPr id="65" name="Picture 64" descr="A close-up of a cell phone&#10;&#10;AI-generated content may be incorrect.">
            <a:extLst>
              <a:ext uri="{FF2B5EF4-FFF2-40B4-BE49-F238E27FC236}">
                <a16:creationId xmlns:a16="http://schemas.microsoft.com/office/drawing/2014/main" id="{DC401AC7-6CDA-F7AD-487B-5A0EC26F5A37}"/>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127732" y="2606145"/>
            <a:ext cx="2869997" cy="3128701"/>
          </a:xfrm>
          <a:prstGeom prst="rect">
            <a:avLst/>
          </a:prstGeom>
        </p:spPr>
      </p:pic>
      <p:pic>
        <p:nvPicPr>
          <p:cNvPr id="66" name="Picture 65" descr="A close-up of a cell phone&#10;&#10;AI-generated content may be incorrect.">
            <a:extLst>
              <a:ext uri="{FF2B5EF4-FFF2-40B4-BE49-F238E27FC236}">
                <a16:creationId xmlns:a16="http://schemas.microsoft.com/office/drawing/2014/main" id="{81B519DA-FB1A-643B-BC31-7E2EC6A4EC85}"/>
              </a:ext>
            </a:extLst>
          </p:cNvPr>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4698378" y="2323219"/>
            <a:ext cx="2832933" cy="3688715"/>
          </a:xfrm>
          <a:prstGeom prst="rect">
            <a:avLst/>
          </a:prstGeom>
        </p:spPr>
      </p:pic>
      <p:pic>
        <p:nvPicPr>
          <p:cNvPr id="67" name="Picture 66" descr="A group of cell phones&#10;&#10;AI-generated content may be incorrect.">
            <a:extLst>
              <a:ext uri="{FF2B5EF4-FFF2-40B4-BE49-F238E27FC236}">
                <a16:creationId xmlns:a16="http://schemas.microsoft.com/office/drawing/2014/main" id="{E4A5F5BB-C5B0-42C9-E9B8-DCC671799F59}"/>
              </a:ext>
            </a:extLst>
          </p:cNvPr>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7803397" y="2718159"/>
            <a:ext cx="3972307" cy="2860061"/>
          </a:xfrm>
          <a:prstGeom prst="rect">
            <a:avLst/>
          </a:prstGeom>
        </p:spPr>
      </p:pic>
      <p:sp>
        <p:nvSpPr>
          <p:cNvPr id="14" name="TextBox 13">
            <a:extLst>
              <a:ext uri="{FF2B5EF4-FFF2-40B4-BE49-F238E27FC236}">
                <a16:creationId xmlns:a16="http://schemas.microsoft.com/office/drawing/2014/main" id="{097720FD-34C8-AE62-D4D0-937BD787EDF0}"/>
              </a:ext>
            </a:extLst>
          </p:cNvPr>
          <p:cNvSpPr txBox="1"/>
          <p:nvPr/>
        </p:nvSpPr>
        <p:spPr>
          <a:xfrm>
            <a:off x="4523488" y="6016062"/>
            <a:ext cx="7674015" cy="830997"/>
          </a:xfrm>
          <a:prstGeom prst="rect">
            <a:avLst/>
          </a:prstGeom>
          <a:noFill/>
        </p:spPr>
        <p:txBody>
          <a:bodyPr wrap="square">
            <a:spAutoFit/>
          </a:bodyPr>
          <a:lstStyle/>
          <a:p>
            <a:r>
              <a:rPr lang="en-US" sz="2400" b="1" dirty="0">
                <a:latin typeface="Nokia Pure Headline Light" panose="020B0304040602060303" pitchFamily="34" charset="0"/>
              </a:rPr>
              <a:t>These model families show that Nokia differentiated itself through a broad and clearly structured portfolio.</a:t>
            </a:r>
          </a:p>
        </p:txBody>
      </p:sp>
    </p:spTree>
    <p:extLst>
      <p:ext uri="{BB962C8B-B14F-4D97-AF65-F5344CB8AC3E}">
        <p14:creationId xmlns:p14="http://schemas.microsoft.com/office/powerpoint/2010/main" val="400632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6"/>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5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34"/>
                                        </p:tgtEl>
                                      </p:cBhvr>
                                    </p:animEffect>
                                    <p:set>
                                      <p:cBhvr>
                                        <p:cTn id="57" dur="1" fill="hold">
                                          <p:stCondLst>
                                            <p:cond delay="499"/>
                                          </p:stCondLst>
                                        </p:cTn>
                                        <p:tgtEl>
                                          <p:spTgt spid="3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38"/>
                                        </p:tgtEl>
                                      </p:cBhvr>
                                    </p:animEffect>
                                    <p:set>
                                      <p:cBhvr>
                                        <p:cTn id="60" dur="1" fill="hold">
                                          <p:stCondLst>
                                            <p:cond delay="499"/>
                                          </p:stCondLst>
                                        </p:cTn>
                                        <p:tgtEl>
                                          <p:spTgt spid="38"/>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47"/>
                                        </p:tgtEl>
                                      </p:cBhvr>
                                    </p:animEffect>
                                    <p:set>
                                      <p:cBhvr>
                                        <p:cTn id="63" dur="1" fill="hold">
                                          <p:stCondLst>
                                            <p:cond delay="499"/>
                                          </p:stCondLst>
                                        </p:cTn>
                                        <p:tgtEl>
                                          <p:spTgt spid="47"/>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43"/>
                                        </p:tgtEl>
                                      </p:cBhvr>
                                    </p:animEffect>
                                    <p:set>
                                      <p:cBhvr>
                                        <p:cTn id="66" dur="1" fill="hold">
                                          <p:stCondLst>
                                            <p:cond delay="499"/>
                                          </p:stCondLst>
                                        </p:cTn>
                                        <p:tgtEl>
                                          <p:spTgt spid="4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fade">
                                      <p:cBhvr>
                                        <p:cTn id="71" dur="500"/>
                                        <p:tgtEl>
                                          <p:spTgt spid="5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fade">
                                      <p:cBhvr>
                                        <p:cTn id="76" dur="500"/>
                                        <p:tgtEl>
                                          <p:spTgt spid="51"/>
                                        </p:tgtEl>
                                      </p:cBhvr>
                                    </p:animEffect>
                                  </p:childTnLst>
                                </p:cTn>
                              </p:par>
                              <p:par>
                                <p:cTn id="77" presetID="10" presetClass="entr" presetSubtype="0" fill="hold" nodeType="with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fade">
                                      <p:cBhvr>
                                        <p:cTn id="79" dur="500"/>
                                        <p:tgtEl>
                                          <p:spTgt spid="52"/>
                                        </p:tgtEl>
                                      </p:cBhvr>
                                    </p:animEffect>
                                  </p:childTnLst>
                                </p:cTn>
                              </p:par>
                              <p:par>
                                <p:cTn id="80" presetID="10" presetClass="entr" presetSubtype="0" fill="hold" nodeType="withEffect">
                                  <p:stCondLst>
                                    <p:cond delay="0"/>
                                  </p:stCondLst>
                                  <p:childTnLst>
                                    <p:set>
                                      <p:cBhvr>
                                        <p:cTn id="81" dur="1" fill="hold">
                                          <p:stCondLst>
                                            <p:cond delay="0"/>
                                          </p:stCondLst>
                                        </p:cTn>
                                        <p:tgtEl>
                                          <p:spTgt spid="54"/>
                                        </p:tgtEl>
                                        <p:attrNameLst>
                                          <p:attrName>style.visibility</p:attrName>
                                        </p:attrNameLst>
                                      </p:cBhvr>
                                      <p:to>
                                        <p:strVal val="visible"/>
                                      </p:to>
                                    </p:set>
                                    <p:animEffect transition="in" filter="fade">
                                      <p:cBhvr>
                                        <p:cTn id="82" dur="500"/>
                                        <p:tgtEl>
                                          <p:spTgt spid="54"/>
                                        </p:tgtEl>
                                      </p:cBhvr>
                                    </p:animEffect>
                                  </p:childTnLst>
                                </p:cTn>
                              </p:par>
                              <p:par>
                                <p:cTn id="83" presetID="10" presetClass="entr" presetSubtype="0" fill="hold" nodeType="withEffect">
                                  <p:stCondLst>
                                    <p:cond delay="0"/>
                                  </p:stCondLst>
                                  <p:childTnLst>
                                    <p:set>
                                      <p:cBhvr>
                                        <p:cTn id="84" dur="1" fill="hold">
                                          <p:stCondLst>
                                            <p:cond delay="0"/>
                                          </p:stCondLst>
                                        </p:cTn>
                                        <p:tgtEl>
                                          <p:spTgt spid="56"/>
                                        </p:tgtEl>
                                        <p:attrNameLst>
                                          <p:attrName>style.visibility</p:attrName>
                                        </p:attrNameLst>
                                      </p:cBhvr>
                                      <p:to>
                                        <p:strVal val="visible"/>
                                      </p:to>
                                    </p:set>
                                    <p:animEffect transition="in" filter="fade">
                                      <p:cBhvr>
                                        <p:cTn id="85" dur="500"/>
                                        <p:tgtEl>
                                          <p:spTgt spid="56"/>
                                        </p:tgtEl>
                                      </p:cBhvr>
                                    </p:animEffect>
                                  </p:childTnLst>
                                </p:cTn>
                              </p:par>
                              <p:par>
                                <p:cTn id="86" presetID="10" presetClass="entr" presetSubtype="0" fill="hold"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500"/>
                                        <p:tgtEl>
                                          <p:spTgt spid="6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grpId="1" nodeType="clickEffect">
                                  <p:stCondLst>
                                    <p:cond delay="0"/>
                                  </p:stCondLst>
                                  <p:childTnLst>
                                    <p:animEffect transition="out" filter="fade">
                                      <p:cBhvr>
                                        <p:cTn id="92" dur="500"/>
                                        <p:tgtEl>
                                          <p:spTgt spid="50"/>
                                        </p:tgtEl>
                                      </p:cBhvr>
                                    </p:animEffect>
                                    <p:set>
                                      <p:cBhvr>
                                        <p:cTn id="93" dur="1" fill="hold">
                                          <p:stCondLst>
                                            <p:cond delay="499"/>
                                          </p:stCondLst>
                                        </p:cTn>
                                        <p:tgtEl>
                                          <p:spTgt spid="50"/>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51"/>
                                        </p:tgtEl>
                                      </p:cBhvr>
                                    </p:animEffect>
                                    <p:set>
                                      <p:cBhvr>
                                        <p:cTn id="96" dur="1" fill="hold">
                                          <p:stCondLst>
                                            <p:cond delay="499"/>
                                          </p:stCondLst>
                                        </p:cTn>
                                        <p:tgtEl>
                                          <p:spTgt spid="51"/>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52"/>
                                        </p:tgtEl>
                                      </p:cBhvr>
                                    </p:animEffect>
                                    <p:set>
                                      <p:cBhvr>
                                        <p:cTn id="99" dur="1" fill="hold">
                                          <p:stCondLst>
                                            <p:cond delay="499"/>
                                          </p:stCondLst>
                                        </p:cTn>
                                        <p:tgtEl>
                                          <p:spTgt spid="52"/>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54"/>
                                        </p:tgtEl>
                                      </p:cBhvr>
                                    </p:animEffect>
                                    <p:set>
                                      <p:cBhvr>
                                        <p:cTn id="102" dur="1" fill="hold">
                                          <p:stCondLst>
                                            <p:cond delay="499"/>
                                          </p:stCondLst>
                                        </p:cTn>
                                        <p:tgtEl>
                                          <p:spTgt spid="54"/>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56"/>
                                        </p:tgtEl>
                                      </p:cBhvr>
                                    </p:animEffect>
                                    <p:set>
                                      <p:cBhvr>
                                        <p:cTn id="105" dur="1" fill="hold">
                                          <p:stCondLst>
                                            <p:cond delay="499"/>
                                          </p:stCondLst>
                                        </p:cTn>
                                        <p:tgtEl>
                                          <p:spTgt spid="56"/>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500"/>
                                        <p:tgtEl>
                                          <p:spTgt spid="60"/>
                                        </p:tgtEl>
                                      </p:cBhvr>
                                    </p:animEffect>
                                    <p:set>
                                      <p:cBhvr>
                                        <p:cTn id="108" dur="1" fill="hold">
                                          <p:stCondLst>
                                            <p:cond delay="499"/>
                                          </p:stCondLst>
                                        </p:cTn>
                                        <p:tgtEl>
                                          <p:spTgt spid="60"/>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fade">
                                      <p:cBhvr>
                                        <p:cTn id="113" dur="500"/>
                                        <p:tgtEl>
                                          <p:spTgt spid="6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65"/>
                                        </p:tgtEl>
                                        <p:attrNameLst>
                                          <p:attrName>style.visibility</p:attrName>
                                        </p:attrNameLst>
                                      </p:cBhvr>
                                      <p:to>
                                        <p:strVal val="visible"/>
                                      </p:to>
                                    </p:set>
                                    <p:animEffect transition="in" filter="fade">
                                      <p:cBhvr>
                                        <p:cTn id="118" dur="500"/>
                                        <p:tgtEl>
                                          <p:spTgt spid="65"/>
                                        </p:tgtEl>
                                      </p:cBhvr>
                                    </p:animEffect>
                                  </p:childTnLst>
                                </p:cTn>
                              </p:par>
                              <p:par>
                                <p:cTn id="119" presetID="10" presetClass="entr" presetSubtype="0" fill="hold" nodeType="withEffect">
                                  <p:stCondLst>
                                    <p:cond delay="0"/>
                                  </p:stCondLst>
                                  <p:childTnLst>
                                    <p:set>
                                      <p:cBhvr>
                                        <p:cTn id="120" dur="1" fill="hold">
                                          <p:stCondLst>
                                            <p:cond delay="0"/>
                                          </p:stCondLst>
                                        </p:cTn>
                                        <p:tgtEl>
                                          <p:spTgt spid="66"/>
                                        </p:tgtEl>
                                        <p:attrNameLst>
                                          <p:attrName>style.visibility</p:attrName>
                                        </p:attrNameLst>
                                      </p:cBhvr>
                                      <p:to>
                                        <p:strVal val="visible"/>
                                      </p:to>
                                    </p:set>
                                    <p:animEffect transition="in" filter="fade">
                                      <p:cBhvr>
                                        <p:cTn id="121" dur="500"/>
                                        <p:tgtEl>
                                          <p:spTgt spid="66"/>
                                        </p:tgtEl>
                                      </p:cBhvr>
                                    </p:animEffect>
                                  </p:childTnLst>
                                </p:cTn>
                              </p:par>
                              <p:par>
                                <p:cTn id="122" presetID="10" presetClass="entr" presetSubtype="0" fill="hold" nodeType="withEffect">
                                  <p:stCondLst>
                                    <p:cond delay="0"/>
                                  </p:stCondLst>
                                  <p:childTnLst>
                                    <p:set>
                                      <p:cBhvr>
                                        <p:cTn id="123" dur="1" fill="hold">
                                          <p:stCondLst>
                                            <p:cond delay="0"/>
                                          </p:stCondLst>
                                        </p:cTn>
                                        <p:tgtEl>
                                          <p:spTgt spid="67"/>
                                        </p:tgtEl>
                                        <p:attrNameLst>
                                          <p:attrName>style.visibility</p:attrName>
                                        </p:attrNameLst>
                                      </p:cBhvr>
                                      <p:to>
                                        <p:strVal val="visible"/>
                                      </p:to>
                                    </p:set>
                                    <p:animEffect transition="in" filter="fade">
                                      <p:cBhvr>
                                        <p:cTn id="124" dur="500"/>
                                        <p:tgtEl>
                                          <p:spTgt spid="67"/>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34" grpId="0"/>
      <p:bldP spid="34" grpId="1"/>
      <p:bldP spid="50" grpId="0"/>
      <p:bldP spid="50" grpId="1"/>
      <p:bldP spid="64"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10958CE-EA15-F81F-0706-6F25FAEC49BF}"/>
              </a:ext>
            </a:extLst>
          </p:cNvPr>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19" y="1"/>
            <a:ext cx="12191981" cy="6857999"/>
          </a:xfrm>
          <a:prstGeom prst="rect">
            <a:avLst/>
          </a:prstGeom>
        </p:spPr>
      </p:pic>
      <p:sp>
        <p:nvSpPr>
          <p:cNvPr id="2" name="Title 1">
            <a:extLst>
              <a:ext uri="{FF2B5EF4-FFF2-40B4-BE49-F238E27FC236}">
                <a16:creationId xmlns:a16="http://schemas.microsoft.com/office/drawing/2014/main" id="{41083BA8-8BA5-4F7B-6D86-8388EEA6ADFF}"/>
              </a:ext>
            </a:extLst>
          </p:cNvPr>
          <p:cNvSpPr>
            <a:spLocks noGrp="1"/>
          </p:cNvSpPr>
          <p:nvPr>
            <p:ph type="title"/>
          </p:nvPr>
        </p:nvSpPr>
        <p:spPr>
          <a:xfrm>
            <a:off x="1524000" y="0"/>
            <a:ext cx="9144000" cy="954560"/>
          </a:xfrm>
        </p:spPr>
        <p:txBody>
          <a:bodyPr vert="horz" lIns="91440" tIns="45720" rIns="91440" bIns="45720" rtlCol="0" anchor="b">
            <a:normAutofit fontScale="90000"/>
          </a:bodyPr>
          <a:lstStyle/>
          <a:p>
            <a:pPr algn="ctr"/>
            <a:r>
              <a:rPr lang="en-US" sz="6000" dirty="0">
                <a:latin typeface="Nokia Pure Headline Extra Bold" panose="020B0904040602060303" pitchFamily="34" charset="0"/>
              </a:rPr>
              <a:t>Value Proposition – Nokia</a:t>
            </a:r>
          </a:p>
        </p:txBody>
      </p:sp>
      <p:sp>
        <p:nvSpPr>
          <p:cNvPr id="11" name="TextBox 10">
            <a:extLst>
              <a:ext uri="{FF2B5EF4-FFF2-40B4-BE49-F238E27FC236}">
                <a16:creationId xmlns:a16="http://schemas.microsoft.com/office/drawing/2014/main" id="{78639F93-6E3C-EA51-279B-CBF12C8940AB}"/>
              </a:ext>
            </a:extLst>
          </p:cNvPr>
          <p:cNvSpPr txBox="1"/>
          <p:nvPr/>
        </p:nvSpPr>
        <p:spPr>
          <a:xfrm>
            <a:off x="1524000" y="1156442"/>
            <a:ext cx="9989576" cy="892552"/>
          </a:xfrm>
          <a:prstGeom prst="rect">
            <a:avLst/>
          </a:prstGeom>
          <a:noFill/>
        </p:spPr>
        <p:txBody>
          <a:bodyPr wrap="square">
            <a:spAutoFit/>
          </a:bodyPr>
          <a:lstStyle/>
          <a:p>
            <a:pPr>
              <a:buNone/>
            </a:pPr>
            <a:r>
              <a:rPr lang="en-US" sz="2600" dirty="0">
                <a:latin typeface="Nokia Pure Headline Light" panose="020B0304040602060303" pitchFamily="34" charset="0"/>
              </a:rPr>
              <a:t>Value proposition:</a:t>
            </a:r>
          </a:p>
          <a:p>
            <a:pPr>
              <a:buNone/>
            </a:pPr>
            <a:r>
              <a:rPr lang="en-US" sz="2600" dirty="0">
                <a:latin typeface="Nokia Pure Headline Light" panose="020B0304040602060303" pitchFamily="34" charset="0"/>
              </a:rPr>
              <a:t>“The full mix of benefits upon which a brand is positioned.” [1]</a:t>
            </a:r>
          </a:p>
        </p:txBody>
      </p:sp>
      <p:sp>
        <p:nvSpPr>
          <p:cNvPr id="28" name="TextBox 27">
            <a:extLst>
              <a:ext uri="{FF2B5EF4-FFF2-40B4-BE49-F238E27FC236}">
                <a16:creationId xmlns:a16="http://schemas.microsoft.com/office/drawing/2014/main" id="{C38D1A8D-2ADE-94ED-D227-1109F2874743}"/>
              </a:ext>
            </a:extLst>
          </p:cNvPr>
          <p:cNvSpPr txBox="1"/>
          <p:nvPr/>
        </p:nvSpPr>
        <p:spPr>
          <a:xfrm>
            <a:off x="271414" y="5037945"/>
            <a:ext cx="12191981" cy="1508105"/>
          </a:xfrm>
          <a:prstGeom prst="rect">
            <a:avLst/>
          </a:prstGeom>
          <a:noFill/>
        </p:spPr>
        <p:txBody>
          <a:bodyPr wrap="square">
            <a:spAutoFit/>
          </a:bodyPr>
          <a:lstStyle/>
          <a:p>
            <a:r>
              <a:rPr lang="en-US" sz="2300" dirty="0">
                <a:latin typeface="Nokia Pure Headline Light" panose="020B0304040602060303" pitchFamily="34" charset="0"/>
              </a:rPr>
              <a:t>Conclusion:</a:t>
            </a:r>
            <a:br>
              <a:rPr lang="en-US" sz="2300" dirty="0">
                <a:latin typeface="Nokia Pure Headline Light" panose="020B0304040602060303" pitchFamily="34" charset="0"/>
              </a:rPr>
            </a:br>
            <a:r>
              <a:rPr lang="en-US" sz="2300" dirty="0">
                <a:latin typeface="Nokia Pure Headline Light" panose="020B0304040602060303" pitchFamily="34" charset="0"/>
              </a:rPr>
              <a:t>Nokia positioned itself as a reliable, simple, and human-centered mobile communication brand.</a:t>
            </a:r>
          </a:p>
          <a:p>
            <a:r>
              <a:rPr lang="en-US" sz="2300" dirty="0">
                <a:latin typeface="Nokia Pure Headline Light" panose="020B0304040602060303" pitchFamily="34" charset="0"/>
              </a:rPr>
              <a:t>This supports Nokia’s use of segmented positioning, because mobile phone buyers differ in the benefits they seek, including functionality, durability, price, and image.[4]</a:t>
            </a:r>
          </a:p>
        </p:txBody>
      </p:sp>
      <p:grpSp>
        <p:nvGrpSpPr>
          <p:cNvPr id="7" name="Group 6">
            <a:extLst>
              <a:ext uri="{FF2B5EF4-FFF2-40B4-BE49-F238E27FC236}">
                <a16:creationId xmlns:a16="http://schemas.microsoft.com/office/drawing/2014/main" id="{26FAEF3B-32E6-BB6B-DF85-6E2BBCA41A7A}"/>
              </a:ext>
            </a:extLst>
          </p:cNvPr>
          <p:cNvGrpSpPr/>
          <p:nvPr/>
        </p:nvGrpSpPr>
        <p:grpSpPr>
          <a:xfrm>
            <a:off x="2221208" y="1889448"/>
            <a:ext cx="7749584" cy="3079102"/>
            <a:chOff x="2102338" y="1835864"/>
            <a:chExt cx="7749584" cy="3079102"/>
          </a:xfrm>
        </p:grpSpPr>
        <p:grpSp>
          <p:nvGrpSpPr>
            <p:cNvPr id="6" name="Group 5">
              <a:extLst>
                <a:ext uri="{FF2B5EF4-FFF2-40B4-BE49-F238E27FC236}">
                  <a16:creationId xmlns:a16="http://schemas.microsoft.com/office/drawing/2014/main" id="{5BC00546-CC72-00A9-3048-9145613D387F}"/>
                </a:ext>
              </a:extLst>
            </p:cNvPr>
            <p:cNvGrpSpPr/>
            <p:nvPr/>
          </p:nvGrpSpPr>
          <p:grpSpPr>
            <a:xfrm>
              <a:off x="5398129" y="1835864"/>
              <a:ext cx="4453793" cy="3079102"/>
              <a:chOff x="5398129" y="1835864"/>
              <a:chExt cx="4453793" cy="3079102"/>
            </a:xfrm>
          </p:grpSpPr>
          <p:grpSp>
            <p:nvGrpSpPr>
              <p:cNvPr id="31" name="Group 30">
                <a:extLst>
                  <a:ext uri="{FF2B5EF4-FFF2-40B4-BE49-F238E27FC236}">
                    <a16:creationId xmlns:a16="http://schemas.microsoft.com/office/drawing/2014/main" id="{6A362AA3-262C-0691-B9B5-BA52C3ECFD89}"/>
                  </a:ext>
                </a:extLst>
              </p:cNvPr>
              <p:cNvGrpSpPr/>
              <p:nvPr/>
            </p:nvGrpSpPr>
            <p:grpSpPr>
              <a:xfrm>
                <a:off x="5407742" y="1835864"/>
                <a:ext cx="4444180" cy="2031821"/>
                <a:chOff x="6882581" y="1533832"/>
                <a:chExt cx="4444180" cy="2031821"/>
              </a:xfrm>
            </p:grpSpPr>
            <p:sp>
              <p:nvSpPr>
                <p:cNvPr id="14" name="Rectangle: Rounded Corners 13">
                  <a:extLst>
                    <a:ext uri="{FF2B5EF4-FFF2-40B4-BE49-F238E27FC236}">
                      <a16:creationId xmlns:a16="http://schemas.microsoft.com/office/drawing/2014/main" id="{8F82ECB6-F9D4-71AB-BC90-59C82657C02A}"/>
                    </a:ext>
                  </a:extLst>
                </p:cNvPr>
                <p:cNvSpPr/>
                <p:nvPr/>
              </p:nvSpPr>
              <p:spPr>
                <a:xfrm>
                  <a:off x="6882581" y="2011920"/>
                  <a:ext cx="4444180" cy="1136374"/>
                </a:xfrm>
                <a:prstGeom prst="roundRect">
                  <a:avLst>
                    <a:gd name="adj" fmla="val 10000"/>
                  </a:avLst>
                </a:prstGeom>
                <a:solidFill>
                  <a:srgbClr val="2D3241"/>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tangle 14">
                  <a:extLst>
                    <a:ext uri="{FF2B5EF4-FFF2-40B4-BE49-F238E27FC236}">
                      <a16:creationId xmlns:a16="http://schemas.microsoft.com/office/drawing/2014/main" id="{AED5C3C3-0B68-1061-8987-BD94F75538C0}"/>
                    </a:ext>
                  </a:extLst>
                </p:cNvPr>
                <p:cNvSpPr/>
                <p:nvPr/>
              </p:nvSpPr>
              <p:spPr>
                <a:xfrm>
                  <a:off x="7334256" y="1533832"/>
                  <a:ext cx="849273" cy="2031821"/>
                </a:xfrm>
                <a:prstGeom prst="rect">
                  <a:avLst/>
                </a:prstGeom>
                <a:blipFill dpi="0" rotWithShape="1">
                  <a:blip r:embed="rId3" cstate="screen">
                    <a:extLst>
                      <a:ext uri="{28A0092B-C50C-407E-A947-70E740481C1C}">
                        <a14:useLocalDpi xmlns:a14="http://schemas.microsoft.com/office/drawing/2010/main"/>
                      </a:ext>
                    </a:extLst>
                  </a:blip>
                  <a:srcRect/>
                  <a:stretch>
                    <a:fillRect l="912" t="7991" r="912" b="7991"/>
                  </a:stretch>
                </a:blipFill>
                <a:ln>
                  <a:noFill/>
                </a:ln>
              </p:spPr>
              <p:style>
                <a:lnRef idx="3">
                  <a:scrgbClr r="0" g="0" b="0"/>
                </a:lnRef>
                <a:fillRef idx="1">
                  <a:scrgbClr r="0" g="0" b="0"/>
                </a:fillRef>
                <a:effectRef idx="1">
                  <a:schemeClr val="accent2">
                    <a:hueOff val="0"/>
                    <a:satOff val="0"/>
                    <a:lumOff val="0"/>
                    <a:alphaOff val="0"/>
                  </a:schemeClr>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6281E991-FB55-F88B-931D-7D0FE881DB0E}"/>
                    </a:ext>
                  </a:extLst>
                </p:cNvPr>
                <p:cNvGrpSpPr/>
                <p:nvPr/>
              </p:nvGrpSpPr>
              <p:grpSpPr>
                <a:xfrm>
                  <a:off x="8518935" y="2011920"/>
                  <a:ext cx="2332119" cy="1136374"/>
                  <a:chOff x="1636354" y="608533"/>
                  <a:chExt cx="2332119" cy="1110071"/>
                </a:xfrm>
              </p:grpSpPr>
              <p:sp>
                <p:nvSpPr>
                  <p:cNvPr id="17" name="Rectangle 16">
                    <a:extLst>
                      <a:ext uri="{FF2B5EF4-FFF2-40B4-BE49-F238E27FC236}">
                        <a16:creationId xmlns:a16="http://schemas.microsoft.com/office/drawing/2014/main" id="{4D5894B1-B347-6D0F-4AED-B4D3CAA40AFA}"/>
                      </a:ext>
                    </a:extLst>
                  </p:cNvPr>
                  <p:cNvSpPr/>
                  <p:nvPr/>
                </p:nvSpPr>
                <p:spPr>
                  <a:xfrm>
                    <a:off x="1636354" y="608533"/>
                    <a:ext cx="2332119" cy="111007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8" name="TextBox 17">
                    <a:extLst>
                      <a:ext uri="{FF2B5EF4-FFF2-40B4-BE49-F238E27FC236}">
                        <a16:creationId xmlns:a16="http://schemas.microsoft.com/office/drawing/2014/main" id="{298B9719-30E3-0543-14A0-0376DAE1DFE0}"/>
                      </a:ext>
                    </a:extLst>
                  </p:cNvPr>
                  <p:cNvSpPr txBox="1"/>
                  <p:nvPr/>
                </p:nvSpPr>
                <p:spPr>
                  <a:xfrm>
                    <a:off x="1636354" y="608533"/>
                    <a:ext cx="2332119" cy="111007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7483" tIns="117483" rIns="117483" bIns="117483" numCol="1" spcCol="1270" anchor="ctr" anchorCtr="0">
                    <a:noAutofit/>
                  </a:bodyPr>
                  <a:lstStyle/>
                  <a:p>
                    <a:pPr marL="0" lvl="0" indent="0" algn="ctr" defTabSz="800100">
                      <a:lnSpc>
                        <a:spcPct val="100000"/>
                      </a:lnSpc>
                      <a:spcBef>
                        <a:spcPct val="0"/>
                      </a:spcBef>
                      <a:spcAft>
                        <a:spcPct val="35000"/>
                      </a:spcAft>
                      <a:buNone/>
                    </a:pPr>
                    <a:r>
                      <a:rPr lang="en-US" sz="1800" b="1" kern="1200" dirty="0"/>
                      <a:t>Functional value</a:t>
                    </a:r>
                  </a:p>
                  <a:p>
                    <a:pPr marL="0" lvl="0" indent="0" algn="l" defTabSz="800100">
                      <a:lnSpc>
                        <a:spcPct val="100000"/>
                      </a:lnSpc>
                      <a:spcBef>
                        <a:spcPct val="0"/>
                      </a:spcBef>
                      <a:spcAft>
                        <a:spcPct val="35000"/>
                      </a:spcAft>
                      <a:buNone/>
                    </a:pPr>
                    <a:r>
                      <a:rPr lang="en-US" sz="1800" kern="1200" dirty="0"/>
                      <a:t>• Reliable and durable phones</a:t>
                    </a:r>
                  </a:p>
                </p:txBody>
              </p:sp>
            </p:grpSp>
          </p:grpSp>
          <p:grpSp>
            <p:nvGrpSpPr>
              <p:cNvPr id="29" name="Group 28">
                <a:extLst>
                  <a:ext uri="{FF2B5EF4-FFF2-40B4-BE49-F238E27FC236}">
                    <a16:creationId xmlns:a16="http://schemas.microsoft.com/office/drawing/2014/main" id="{1766B549-A1A4-28D3-3FB9-CDBFD6FEEAEC}"/>
                  </a:ext>
                </a:extLst>
              </p:cNvPr>
              <p:cNvGrpSpPr/>
              <p:nvPr/>
            </p:nvGrpSpPr>
            <p:grpSpPr>
              <a:xfrm>
                <a:off x="5398129" y="3750933"/>
                <a:ext cx="4444180" cy="1164033"/>
                <a:chOff x="6872968" y="3448901"/>
                <a:chExt cx="4444180" cy="1164033"/>
              </a:xfrm>
            </p:grpSpPr>
            <p:sp>
              <p:nvSpPr>
                <p:cNvPr id="19" name="Rectangle: Rounded Corners 18">
                  <a:extLst>
                    <a:ext uri="{FF2B5EF4-FFF2-40B4-BE49-F238E27FC236}">
                      <a16:creationId xmlns:a16="http://schemas.microsoft.com/office/drawing/2014/main" id="{75E118D3-D4B6-B0FB-969A-2FC44C322747}"/>
                    </a:ext>
                  </a:extLst>
                </p:cNvPr>
                <p:cNvSpPr/>
                <p:nvPr/>
              </p:nvSpPr>
              <p:spPr>
                <a:xfrm>
                  <a:off x="6872968" y="3476560"/>
                  <a:ext cx="4444180" cy="1136374"/>
                </a:xfrm>
                <a:prstGeom prst="roundRect">
                  <a:avLst>
                    <a:gd name="adj" fmla="val 10000"/>
                  </a:avLst>
                </a:prstGeom>
                <a:solidFill>
                  <a:srgbClr val="E04707"/>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grpSp>
              <p:nvGrpSpPr>
                <p:cNvPr id="20" name="Group 19">
                  <a:extLst>
                    <a:ext uri="{FF2B5EF4-FFF2-40B4-BE49-F238E27FC236}">
                      <a16:creationId xmlns:a16="http://schemas.microsoft.com/office/drawing/2014/main" id="{7FE94508-FCFB-93AD-9234-FBC8122C9DFF}"/>
                    </a:ext>
                  </a:extLst>
                </p:cNvPr>
                <p:cNvGrpSpPr/>
                <p:nvPr/>
              </p:nvGrpSpPr>
              <p:grpSpPr>
                <a:xfrm>
                  <a:off x="8649076" y="3448901"/>
                  <a:ext cx="2513287" cy="1136374"/>
                  <a:chOff x="1664746" y="2302124"/>
                  <a:chExt cx="2513287" cy="1110071"/>
                </a:xfrm>
              </p:grpSpPr>
              <p:sp>
                <p:nvSpPr>
                  <p:cNvPr id="21" name="Rectangle 20">
                    <a:extLst>
                      <a:ext uri="{FF2B5EF4-FFF2-40B4-BE49-F238E27FC236}">
                        <a16:creationId xmlns:a16="http://schemas.microsoft.com/office/drawing/2014/main" id="{F5016189-4460-6C73-F481-4316E2D5EFF4}"/>
                      </a:ext>
                    </a:extLst>
                  </p:cNvPr>
                  <p:cNvSpPr/>
                  <p:nvPr/>
                </p:nvSpPr>
                <p:spPr>
                  <a:xfrm>
                    <a:off x="1664746" y="2302124"/>
                    <a:ext cx="2513287" cy="111007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2" name="TextBox 21">
                    <a:extLst>
                      <a:ext uri="{FF2B5EF4-FFF2-40B4-BE49-F238E27FC236}">
                        <a16:creationId xmlns:a16="http://schemas.microsoft.com/office/drawing/2014/main" id="{81FA56D0-B281-7C56-EC37-56707CB2CD5E}"/>
                      </a:ext>
                    </a:extLst>
                  </p:cNvPr>
                  <p:cNvSpPr txBox="1"/>
                  <p:nvPr/>
                </p:nvSpPr>
                <p:spPr>
                  <a:xfrm>
                    <a:off x="1664746" y="2302124"/>
                    <a:ext cx="2513287" cy="111007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17483" tIns="117483" rIns="117483" bIns="117483" numCol="1" spcCol="1270" anchor="ctr" anchorCtr="0">
                    <a:noAutofit/>
                  </a:bodyPr>
                  <a:lstStyle/>
                  <a:p>
                    <a:pPr marL="0" lvl="0" indent="0" algn="ctr" defTabSz="800100">
                      <a:lnSpc>
                        <a:spcPct val="100000"/>
                      </a:lnSpc>
                      <a:spcBef>
                        <a:spcPct val="0"/>
                      </a:spcBef>
                      <a:spcAft>
                        <a:spcPct val="35000"/>
                      </a:spcAft>
                      <a:buNone/>
                    </a:pPr>
                    <a:r>
                      <a:rPr lang="en-US" sz="1800" b="1" kern="1200" dirty="0"/>
                      <a:t>Emotional value</a:t>
                    </a:r>
                  </a:p>
                  <a:p>
                    <a:pPr marL="0" lvl="0" indent="0" algn="l" defTabSz="800100">
                      <a:lnSpc>
                        <a:spcPct val="100000"/>
                      </a:lnSpc>
                      <a:spcBef>
                        <a:spcPct val="0"/>
                      </a:spcBef>
                      <a:spcAft>
                        <a:spcPct val="35000"/>
                      </a:spcAft>
                      <a:buNone/>
                    </a:pPr>
                    <a:r>
                      <a:rPr lang="en-US" sz="1800" kern="1200" dirty="0"/>
                      <a:t>• Human connection (“Connecting People”)</a:t>
                    </a:r>
                  </a:p>
                </p:txBody>
              </p:sp>
            </p:grpSp>
            <p:sp>
              <p:nvSpPr>
                <p:cNvPr id="24" name="Rectangle 23">
                  <a:extLst>
                    <a:ext uri="{FF2B5EF4-FFF2-40B4-BE49-F238E27FC236}">
                      <a16:creationId xmlns:a16="http://schemas.microsoft.com/office/drawing/2014/main" id="{971A8FE9-406F-B752-E5AA-C7A9C18E5E1B}"/>
                    </a:ext>
                  </a:extLst>
                </p:cNvPr>
                <p:cNvSpPr/>
                <p:nvPr/>
              </p:nvSpPr>
              <p:spPr>
                <a:xfrm>
                  <a:off x="6998852" y="3591530"/>
                  <a:ext cx="1520083" cy="911633"/>
                </a:xfrm>
                <a:prstGeom prst="rect">
                  <a:avLst/>
                </a:prstGeom>
                <a:blipFill dpi="0" rotWithShape="1">
                  <a:blip r:embed="rId4" cstate="screen">
                    <a:extLst>
                      <a:ext uri="{28A0092B-C50C-407E-A947-70E740481C1C}">
                        <a14:useLocalDpi xmlns:a14="http://schemas.microsoft.com/office/drawing/2010/main"/>
                      </a:ext>
                    </a:extLst>
                  </a:blip>
                  <a:srcRect/>
                  <a:stretch>
                    <a:fillRect t="3741" b="3741"/>
                  </a:stretch>
                </a:blipFill>
                <a:ln>
                  <a:noFill/>
                </a:ln>
              </p:spPr>
              <p:style>
                <a:lnRef idx="3">
                  <a:scrgbClr r="0" g="0" b="0"/>
                </a:lnRef>
                <a:fillRef idx="1">
                  <a:scrgbClr r="0" g="0" b="0"/>
                </a:fillRef>
                <a:effectRef idx="1">
                  <a:schemeClr val="accent2">
                    <a:hueOff val="6443614"/>
                    <a:satOff val="-18493"/>
                    <a:lumOff val="-29609"/>
                    <a:alphaOff val="0"/>
                  </a:schemeClr>
                </a:effectRef>
                <a:fontRef idx="minor">
                  <a:schemeClr val="lt1"/>
                </a:fontRef>
              </p:style>
              <p:txBody>
                <a:bodyPr/>
                <a:lstStyle/>
                <a:p>
                  <a:endParaRPr lang="en-US"/>
                </a:p>
              </p:txBody>
            </p:sp>
          </p:grpSp>
        </p:grpSp>
        <p:sp>
          <p:nvSpPr>
            <p:cNvPr id="33" name="TextBox 32">
              <a:extLst>
                <a:ext uri="{FF2B5EF4-FFF2-40B4-BE49-F238E27FC236}">
                  <a16:creationId xmlns:a16="http://schemas.microsoft.com/office/drawing/2014/main" id="{A60D9AB9-470A-36E9-D690-7B78188D5728}"/>
                </a:ext>
              </a:extLst>
            </p:cNvPr>
            <p:cNvSpPr txBox="1"/>
            <p:nvPr/>
          </p:nvSpPr>
          <p:spPr>
            <a:xfrm>
              <a:off x="2102338" y="3014295"/>
              <a:ext cx="3524306" cy="1200329"/>
            </a:xfrm>
            <a:prstGeom prst="rect">
              <a:avLst/>
            </a:prstGeom>
            <a:noFill/>
          </p:spPr>
          <p:txBody>
            <a:bodyPr wrap="square">
              <a:spAutoFit/>
            </a:bodyPr>
            <a:lstStyle/>
            <a:p>
              <a:pPr>
                <a:buNone/>
              </a:pPr>
              <a:r>
                <a:rPr lang="en-US" sz="3600" b="1" dirty="0">
                  <a:latin typeface="Nokia Pure Headline Extra Bold" panose="020B0904040602060303" pitchFamily="34" charset="0"/>
                  <a:ea typeface="+mj-ea"/>
                  <a:cs typeface="+mj-cs"/>
                </a:rPr>
                <a:t>Nokia mainly offered:</a:t>
              </a:r>
            </a:p>
          </p:txBody>
        </p:sp>
      </p:grpSp>
    </p:spTree>
    <p:extLst>
      <p:ext uri="{BB962C8B-B14F-4D97-AF65-F5344CB8AC3E}">
        <p14:creationId xmlns:p14="http://schemas.microsoft.com/office/powerpoint/2010/main" val="19097877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380535-38F4-08CB-9296-618FCC4D375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CE1840-A187-75C3-DBCF-44393D4AC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472098D0-D364-CF98-DA7F-5AEDB4FAE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3B92C1-FD1D-8DC2-D38E-7A347383FFC7}"/>
              </a:ext>
            </a:extLst>
          </p:cNvPr>
          <p:cNvSpPr>
            <a:spLocks noGrp="1"/>
          </p:cNvSpPr>
          <p:nvPr>
            <p:ph idx="1"/>
          </p:nvPr>
        </p:nvSpPr>
        <p:spPr>
          <a:xfrm>
            <a:off x="866875" y="1853526"/>
            <a:ext cx="10489383" cy="4251960"/>
          </a:xfrm>
        </p:spPr>
        <p:txBody>
          <a:bodyPr>
            <a:normAutofit fontScale="92500" lnSpcReduction="20000"/>
          </a:bodyPr>
          <a:lstStyle/>
          <a:p>
            <a:pPr marL="0" indent="0">
              <a:lnSpc>
                <a:spcPct val="110000"/>
              </a:lnSpc>
              <a:spcBef>
                <a:spcPts val="0"/>
              </a:spcBef>
              <a:buNone/>
            </a:pPr>
            <a:r>
              <a:rPr lang="en-US" sz="2200" dirty="0"/>
              <a:t>[1] Keller, K.L. (2013) Strategic Brand Management: Building, Measuring, and Managing Brand Equity. 4th </a:t>
            </a:r>
            <a:r>
              <a:rPr lang="en-US" sz="2200" dirty="0" err="1"/>
              <a:t>edn</a:t>
            </a:r>
            <a:r>
              <a:rPr lang="en-US" sz="2200" dirty="0"/>
              <a:t>. Pearson.</a:t>
            </a:r>
          </a:p>
          <a:p>
            <a:pPr marL="0" indent="0">
              <a:lnSpc>
                <a:spcPct val="110000"/>
              </a:lnSpc>
              <a:spcBef>
                <a:spcPts val="0"/>
              </a:spcBef>
              <a:buNone/>
            </a:pPr>
            <a:br>
              <a:rPr lang="en-US" sz="2200" dirty="0"/>
            </a:br>
            <a:r>
              <a:rPr lang="en-US" sz="2200" dirty="0"/>
              <a:t>[2] </a:t>
            </a:r>
            <a:r>
              <a:rPr lang="en-US" sz="2200" dirty="0" err="1"/>
              <a:t>Slideshare</a:t>
            </a:r>
            <a:r>
              <a:rPr lang="en-US" sz="2200" dirty="0"/>
              <a:t> (2013) STP and Marketing Mix on Nokia. Available at: </a:t>
            </a:r>
            <a:r>
              <a:rPr lang="en-US" sz="2200" dirty="0">
                <a:hlinkClick r:id="rId2">
                  <a:extLst>
                    <a:ext uri="{A12FA001-AC4F-418D-AE19-62706E023703}">
                      <ahyp:hlinkClr xmlns:ahyp="http://schemas.microsoft.com/office/drawing/2018/hyperlinkcolor" val="tx"/>
                    </a:ext>
                  </a:extLst>
                </a:hlinkClick>
              </a:rPr>
              <a:t>https://www.slideshare.net/slideshow/nokia-stp-and-ma/26614924#15</a:t>
            </a:r>
            <a:r>
              <a:rPr lang="en-US" sz="2200" dirty="0"/>
              <a:t> (Accessed: 7 April 2026)</a:t>
            </a:r>
          </a:p>
          <a:p>
            <a:pPr marL="0" indent="0">
              <a:lnSpc>
                <a:spcPct val="110000"/>
              </a:lnSpc>
              <a:spcBef>
                <a:spcPts val="0"/>
              </a:spcBef>
              <a:buNone/>
            </a:pPr>
            <a:br>
              <a:rPr lang="en-US" sz="2200" dirty="0"/>
            </a:br>
            <a:r>
              <a:rPr lang="en-US" sz="2200" dirty="0"/>
              <a:t>[3] Wikipedia contributors (n.d.) List of Nokia products. Available at: </a:t>
            </a:r>
            <a:r>
              <a:rPr lang="en-US" sz="2200" dirty="0">
                <a:hlinkClick r:id="rId3">
                  <a:extLst>
                    <a:ext uri="{A12FA001-AC4F-418D-AE19-62706E023703}">
                      <ahyp:hlinkClr xmlns:ahyp="http://schemas.microsoft.com/office/drawing/2018/hyperlinkcolor" val="tx"/>
                    </a:ext>
                  </a:extLst>
                </a:hlinkClick>
              </a:rPr>
              <a:t>https://en.wikipedia.org/wiki/List_of_Nokia_products</a:t>
            </a:r>
            <a:endParaRPr lang="en-US" sz="2200" dirty="0"/>
          </a:p>
          <a:p>
            <a:pPr marL="0" indent="0">
              <a:lnSpc>
                <a:spcPct val="110000"/>
              </a:lnSpc>
              <a:spcBef>
                <a:spcPts val="0"/>
              </a:spcBef>
              <a:buNone/>
            </a:pPr>
            <a:endParaRPr lang="en-US" sz="2200" dirty="0"/>
          </a:p>
          <a:p>
            <a:pPr marL="0" indent="0">
              <a:lnSpc>
                <a:spcPct val="110000"/>
              </a:lnSpc>
              <a:spcBef>
                <a:spcPts val="0"/>
              </a:spcBef>
              <a:buNone/>
            </a:pPr>
            <a:r>
              <a:rPr lang="en-US" sz="2200" dirty="0"/>
              <a:t>[4] </a:t>
            </a:r>
            <a:r>
              <a:rPr lang="en-US" sz="2200" dirty="0" err="1"/>
              <a:t>Karjaluoto</a:t>
            </a:r>
            <a:r>
              <a:rPr lang="en-US" sz="2200" dirty="0"/>
              <a:t>, H., Karvonen, J., Kesti, M., Koivumäki, T., Manninen, M., </a:t>
            </a:r>
            <a:r>
              <a:rPr lang="en-US" sz="2200" dirty="0" err="1"/>
              <a:t>Pakola</a:t>
            </a:r>
            <a:r>
              <a:rPr lang="en-US" sz="2200" dirty="0"/>
              <a:t>, J., Ristola, A. and Salo, J. (2005) Discovering behavioral segments in the mobile phone market.</a:t>
            </a:r>
            <a:br>
              <a:rPr lang="en-US" sz="2200" dirty="0"/>
            </a:br>
            <a:r>
              <a:rPr lang="en-US" sz="2200" dirty="0"/>
              <a:t>Available at: </a:t>
            </a:r>
            <a:r>
              <a:rPr lang="en-US" sz="2200" dirty="0">
                <a:hlinkClick r:id="rId4">
                  <a:extLst>
                    <a:ext uri="{A12FA001-AC4F-418D-AE19-62706E023703}">
                      <ahyp:hlinkClr xmlns:ahyp="http://schemas.microsoft.com/office/drawing/2018/hyperlinkcolor" val="tx"/>
                    </a:ext>
                  </a:extLst>
                </a:hlinkClick>
              </a:rPr>
              <a:t>https://www.researchgate.net/publication/235315029_Discovering_behavioral_segments_in_the_mobile_phone_market</a:t>
            </a:r>
            <a:r>
              <a:rPr lang="en-US" sz="2200" dirty="0"/>
              <a:t> (Accessed: 7 April 2026)</a:t>
            </a:r>
          </a:p>
        </p:txBody>
      </p:sp>
      <p:pic>
        <p:nvPicPr>
          <p:cNvPr id="4" name="Picture 3" descr="A black and orange square&#10;&#10;AI-generated content may be incorrect.">
            <a:extLst>
              <a:ext uri="{FF2B5EF4-FFF2-40B4-BE49-F238E27FC236}">
                <a16:creationId xmlns:a16="http://schemas.microsoft.com/office/drawing/2014/main" id="{330CDB4D-52A7-177E-A4ED-428EC9B7716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1077099" y="5694867"/>
            <a:ext cx="1111853" cy="1163133"/>
          </a:xfrm>
          <a:prstGeom prst="rect">
            <a:avLst/>
          </a:prstGeom>
        </p:spPr>
      </p:pic>
      <p:pic>
        <p:nvPicPr>
          <p:cNvPr id="5" name="Picture 4" descr="A purple circle with black background&#10;&#10;AI-generated content may be incorrect.">
            <a:extLst>
              <a:ext uri="{FF2B5EF4-FFF2-40B4-BE49-F238E27FC236}">
                <a16:creationId xmlns:a16="http://schemas.microsoft.com/office/drawing/2014/main" id="{CAC7520B-9F0C-4ADC-CA9C-AF3BF9B5EF84}"/>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675" y="5982914"/>
            <a:ext cx="809525" cy="815950"/>
          </a:xfrm>
          <a:prstGeom prst="rect">
            <a:avLst/>
          </a:prstGeom>
        </p:spPr>
      </p:pic>
      <p:pic>
        <p:nvPicPr>
          <p:cNvPr id="6" name="Picture 5">
            <a:extLst>
              <a:ext uri="{FF2B5EF4-FFF2-40B4-BE49-F238E27FC236}">
                <a16:creationId xmlns:a16="http://schemas.microsoft.com/office/drawing/2014/main" id="{070DA09D-E3CA-4C3C-9F7A-5D887605A16E}"/>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rot="5400000">
            <a:off x="11030910" y="-595309"/>
            <a:ext cx="545986" cy="1718845"/>
          </a:xfrm>
          <a:prstGeom prst="rect">
            <a:avLst/>
          </a:prstGeom>
        </p:spPr>
      </p:pic>
      <p:sp>
        <p:nvSpPr>
          <p:cNvPr id="2" name="Title 1">
            <a:extLst>
              <a:ext uri="{FF2B5EF4-FFF2-40B4-BE49-F238E27FC236}">
                <a16:creationId xmlns:a16="http://schemas.microsoft.com/office/drawing/2014/main" id="{6A7EF03A-7ABD-7A6D-D440-D6B628618D9E}"/>
              </a:ext>
            </a:extLst>
          </p:cNvPr>
          <p:cNvSpPr>
            <a:spLocks noGrp="1"/>
          </p:cNvSpPr>
          <p:nvPr>
            <p:ph type="title"/>
          </p:nvPr>
        </p:nvSpPr>
        <p:spPr>
          <a:xfrm>
            <a:off x="669036" y="360954"/>
            <a:ext cx="10515600" cy="1325563"/>
          </a:xfrm>
        </p:spPr>
        <p:txBody>
          <a:bodyPr>
            <a:normAutofit/>
          </a:bodyPr>
          <a:lstStyle/>
          <a:p>
            <a:r>
              <a:rPr lang="en-US" sz="5400" dirty="0"/>
              <a:t>Reference </a:t>
            </a:r>
          </a:p>
        </p:txBody>
      </p:sp>
    </p:spTree>
    <p:extLst>
      <p:ext uri="{BB962C8B-B14F-4D97-AF65-F5344CB8AC3E}">
        <p14:creationId xmlns:p14="http://schemas.microsoft.com/office/powerpoint/2010/main" val="3605161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2261</TotalTime>
  <Words>773</Words>
  <Application>Microsoft Office PowerPoint</Application>
  <PresentationFormat>Widescreen</PresentationFormat>
  <Paragraphs>76</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Nokia Hindi S60</vt:lpstr>
      <vt:lpstr>Nokia Pure Headline</vt:lpstr>
      <vt:lpstr>Nokia Pure Headline Extra Bold</vt:lpstr>
      <vt:lpstr>Nokia Pure Headline Light</vt:lpstr>
      <vt:lpstr>Office Theme</vt:lpstr>
      <vt:lpstr>PowerPoint Presentation</vt:lpstr>
      <vt:lpstr>Brand Positioning – Nokia</vt:lpstr>
      <vt:lpstr>STP Strategy – Nokia</vt:lpstr>
      <vt:lpstr>Competitive Landscape</vt:lpstr>
      <vt:lpstr>Points of Parity (POP)</vt:lpstr>
      <vt:lpstr>Points of Parity (POP)</vt:lpstr>
      <vt:lpstr>Points of Difference (POD)</vt:lpstr>
      <vt:lpstr>Points of Difference (POD) </vt:lpstr>
      <vt:lpstr>Value Proposition – Nokia</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GHADERI, Mohammadali</dc:creator>
  <cp:lastModifiedBy>GHADERI, Mohammadali</cp:lastModifiedBy>
  <cp:revision>121</cp:revision>
  <dcterms:created xsi:type="dcterms:W3CDTF">2026-02-25T12:21:20Z</dcterms:created>
  <dcterms:modified xsi:type="dcterms:W3CDTF">2026-05-11T19:07:50Z</dcterms:modified>
</cp:coreProperties>
</file>